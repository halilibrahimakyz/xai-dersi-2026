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9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92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34"/>
    <p:restoredTop sz="94675"/>
  </p:normalViewPr>
  <p:slideViewPr>
    <p:cSldViewPr snapToGrid="0">
      <p:cViewPr varScale="1">
        <p:scale>
          <a:sx n="119" d="100"/>
          <a:sy n="119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Başlık slaydı.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Bölüm 1: LIME (Local Interpretable Model-Agnostic Explanations).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Tanım ve sıcak kahve örneği.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diyagramı, karşı-olgusal açıklamanın tanımı ve yorumlama sınırı.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Peter: kredi başvurusu (sınıflandırma). Anna: kira tahmini (regresyon).</a:t>
            </a:r>
          </a:p>
          <a:p>
            <a:r>
              <a:t>Anna örneğinde 15 m² büyütme tahmini değiştirir ama uygulanabilir değildir; uygulanabilir karşı-olgusal evcil hayvana izin ve daha iyi yalıtımlı pencerelerdir.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QMD'deki nedensellik uyarısı ayrı slayt olarak eklendi.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Rashomon etkisi ve çözüm seçenekleri.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Dört temel amaç ile uygulanabilirlik ve çeşitlilik gereksinimleri birlikte sunuldu.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Deneme yanılmadan optimizasyona geçiş.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Wachter, Mittelstadt ve Russell (2018) kayıp fonksiyonu.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MAD tanımı, lambda etkisi ve epsilon toleransı.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QMD'deki beş algoritma adımı özetlendi. Nelder-Mead ve ADAM seçenekleri belirtildi.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Dandl ve diğerleri (2020). Çok amaçlı yapının ağırlıklı toplam olmadığı vurgulandı.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NSGA-II: seçim, yeniden birleştirme, mutasyon, baskın olmayan sıralama ve çeşitlilik temelli yeni nesil seçimi.</a:t>
            </a:r>
          </a:p>
          <a:p>
            <a:r>
              <a:t>NSGA-II Pareto kümesine yaklaşır; tam optimum garanti edilmez.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Wachter ve Dandl yöntemlerinin ölçüt bazında karşılaştırması.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Dandl örneğindeki veri kümesi, müşteri profili, başlangıç olasılığı ve hedef.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 tablodaki on sonuçtan temsilî yedi satır, slayt okunabilirliği için seçildi; değerler aynen korunmuştur.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Örnek sonuçların yorumu, cinsiyet yanlılığı ve uygulanabilirlik kısıtları.</a:t>
            </a:r>
          </a:p>
          <a:p>
            <a:r>
              <a:t>Ek anlatım noktaları: cinsiyet değişikliğine her zaman 1–30 yıllık yaş azaltılması eşlik eder. Dört özellik değiştiren çözümler eğitim verisine en yakın olanlardır (o₄ en düşük): seyreklik (o₃) ile olasılık (o₄) arasındaki ödünleşim.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Kaynakta belirtilen güçlü yönler.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Sınırlılıklar ve QMD'de listelenen alternatif yazılım/yöntemler.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5781E28-FB0F-4E76-BFF5-38F16718C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7A1142F-0D16-4A3C-A4A9-E0D1052C2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BE11E6E-0585-4412-AF17-E542ED1C6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1FBDD24-24A2-4CD8-B8FE-CABF5B6D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3576891-26AC-4990-A8CB-FFD458D78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705B791-A49E-4395-A5F3-3F46DD9D6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133B3EB-66B3-4CC8-8B21-BBE4F14C6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ABC7FA-98CD-41B2-904B-A90D4BFCEF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891E040-BA7E-41E1-924E-09F36899E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24AC5D-1558-4290-B8D5-74D42ACF8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Elbow Connector 10"/>
          <p:cNvCxnSpPr/>
          <p:nvPr/>
        </p:nvCxnSpPr>
        <p:spPr>
          <a:xfrm>
            <a:off x="590550" y="3048000"/>
            <a:ext cx="110109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cxnSp>
        <p:nvCxnSpPr>
          <p:cNvPr id="12" name="Elbow Connector 11"/>
          <p:cNvCxnSpPr/>
          <p:nvPr/>
        </p:nvCxnSpPr>
        <p:spPr>
          <a:xfrm>
            <a:off x="6305550" y="3048000"/>
            <a:ext cx="5295900" cy="0"/>
          </a:xfrm>
          <a:prstGeom prst="bentConnector4">
            <a:avLst/>
          </a:prstGeom>
          <a:ln w="19050">
            <a:solidFill>
              <a:srgbClr val="E65E3F"/>
            </a:solidFill>
            <a:prstDash val="dash"/>
          </a:ln>
        </p:spPr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B3B69E5-68B4-4FDE-8000-3349977F6D6D}"/>
              </a:ext>
            </a:extLst>
          </p:cNvPr>
          <p:cNvSpPr>
            <a:spLocks noGrp="1"/>
          </p:cNvSpPr>
          <p:nvPr/>
        </p:nvSpPr>
        <p:spPr>
          <a:xfrm>
            <a:off x="5962650" y="2962275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317C15-C3B3-4F99-932F-F8C2573CBDED}"/>
              </a:ext>
            </a:extLst>
          </p:cNvPr>
          <p:cNvSpPr>
            <a:spLocks noGrp="1"/>
          </p:cNvSpPr>
          <p:nvPr/>
        </p:nvSpPr>
        <p:spPr>
          <a:xfrm>
            <a:off x="590550" y="3476625"/>
            <a:ext cx="8096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 fontScale="98959"/>
          </a:bodyPr>
          <a:lstStyle>
            <a:lvl1pPr algn="l">
              <a:buNone/>
              <a:defRPr sz="2850" b="1">
                <a:solidFill>
                  <a:srgbClr val="24343C"/>
                </a:solidFill>
              </a:defRPr>
            </a:lvl1pPr>
            <a:lvl2pPr algn="l">
              <a:buNone/>
              <a:defRPr sz="2850" b="1">
                <a:solidFill>
                  <a:srgbClr val="24343C"/>
                </a:solidFill>
              </a:defRPr>
            </a:lvl2pPr>
            <a:lvl3pPr algn="l">
              <a:buNone/>
              <a:defRPr sz="2850" b="1">
                <a:solidFill>
                  <a:srgbClr val="24343C"/>
                </a:solidFill>
              </a:defRPr>
            </a:lvl3pPr>
            <a:lvl4pPr algn="l">
              <a:buNone/>
              <a:defRPr sz="2850" b="1">
                <a:solidFill>
                  <a:srgbClr val="24343C"/>
                </a:solidFill>
              </a:defRPr>
            </a:lvl4pPr>
            <a:lvl5pPr algn="l">
              <a:buNone/>
              <a:defRPr sz="2850" b="1">
                <a:solidFill>
                  <a:srgbClr val="24343C"/>
                </a:solidFill>
              </a:defRPr>
            </a:lvl5pPr>
            <a:lvl6pPr algn="l">
              <a:buNone/>
              <a:defRPr sz="2850" b="1">
                <a:solidFill>
                  <a:srgbClr val="24343C"/>
                </a:solidFill>
              </a:defRPr>
            </a:lvl6pPr>
            <a:lvl7pPr algn="l">
              <a:buNone/>
              <a:defRPr sz="2850" b="1">
                <a:solidFill>
                  <a:srgbClr val="24343C"/>
                </a:solidFill>
              </a:defRPr>
            </a:lvl7pPr>
            <a:lvl8pPr algn="l">
              <a:buNone/>
              <a:defRPr sz="2850" b="1">
                <a:solidFill>
                  <a:srgbClr val="24343C"/>
                </a:solidFill>
              </a:defRPr>
            </a:lvl8pPr>
            <a:lvl9pPr algn="l">
              <a:buNone/>
              <a:defRPr sz="28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850" b="1">
                <a:solidFill>
                  <a:srgbClr val="24343C"/>
                </a:solidFill>
              </a:defRPr>
            </a:pPr>
            <a:r>
              <a:rPr sz="2850" b="1" dirty="0">
                <a:solidFill>
                  <a:srgbClr val="24343C"/>
                </a:solidFill>
              </a:rPr>
              <a:t>Yerel Açıklamalar </a:t>
            </a:r>
            <a:r>
              <a:rPr sz="2850" b="1" dirty="0" err="1">
                <a:solidFill>
                  <a:srgbClr val="24343C"/>
                </a:solidFill>
              </a:rPr>
              <a:t>ve</a:t>
            </a:r>
            <a:r>
              <a:rPr sz="2850" b="1" dirty="0">
                <a:solidFill>
                  <a:srgbClr val="24343C"/>
                </a:solidFill>
              </a:rPr>
              <a:t> </a:t>
            </a:r>
            <a:r>
              <a:rPr sz="2850" b="1" dirty="0" err="1">
                <a:solidFill>
                  <a:srgbClr val="24343C"/>
                </a:solidFill>
              </a:rPr>
              <a:t>Karşı-Olgusal</a:t>
            </a:r>
            <a:r>
              <a:rPr sz="2850" b="1" dirty="0">
                <a:solidFill>
                  <a:srgbClr val="24343C"/>
                </a:solidFill>
              </a:rPr>
              <a:t> </a:t>
            </a:r>
            <a:r>
              <a:rPr sz="2850" b="1" dirty="0" err="1">
                <a:solidFill>
                  <a:srgbClr val="24343C"/>
                </a:solidFill>
              </a:rPr>
              <a:t>Açıklamalar</a:t>
            </a:r>
            <a:endParaRPr sz="2850" b="1" dirty="0">
              <a:solidFill>
                <a:srgbClr val="24343C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5FCB2E-04B3-4B75-9B75-53CA9E669A23}"/>
              </a:ext>
            </a:extLst>
          </p:cNvPr>
          <p:cNvSpPr>
            <a:spLocks noGrp="1"/>
          </p:cNvSpPr>
          <p:nvPr/>
        </p:nvSpPr>
        <p:spPr>
          <a:xfrm>
            <a:off x="590550" y="4133850"/>
            <a:ext cx="885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500" b="0">
                <a:solidFill>
                  <a:srgbClr val="6F7B7F"/>
                </a:solidFill>
              </a:defRPr>
            </a:lvl1pPr>
            <a:lvl2pPr algn="l">
              <a:buNone/>
              <a:defRPr sz="1500" b="0">
                <a:solidFill>
                  <a:srgbClr val="6F7B7F"/>
                </a:solidFill>
              </a:defRPr>
            </a:lvl2pPr>
            <a:lvl3pPr algn="l">
              <a:buNone/>
              <a:defRPr sz="1500" b="0">
                <a:solidFill>
                  <a:srgbClr val="6F7B7F"/>
                </a:solidFill>
              </a:defRPr>
            </a:lvl3pPr>
            <a:lvl4pPr algn="l">
              <a:buNone/>
              <a:defRPr sz="1500" b="0">
                <a:solidFill>
                  <a:srgbClr val="6F7B7F"/>
                </a:solidFill>
              </a:defRPr>
            </a:lvl4pPr>
            <a:lvl5pPr algn="l">
              <a:buNone/>
              <a:defRPr sz="1500" b="0">
                <a:solidFill>
                  <a:srgbClr val="6F7B7F"/>
                </a:solidFill>
              </a:defRPr>
            </a:lvl5pPr>
            <a:lvl6pPr algn="l">
              <a:buNone/>
              <a:defRPr sz="1500" b="0">
                <a:solidFill>
                  <a:srgbClr val="6F7B7F"/>
                </a:solidFill>
              </a:defRPr>
            </a:lvl6pPr>
            <a:lvl7pPr algn="l">
              <a:buNone/>
              <a:defRPr sz="1500" b="0">
                <a:solidFill>
                  <a:srgbClr val="6F7B7F"/>
                </a:solidFill>
              </a:defRPr>
            </a:lvl7pPr>
            <a:lvl8pPr algn="l">
              <a:buNone/>
              <a:defRPr sz="1500" b="0">
                <a:solidFill>
                  <a:srgbClr val="6F7B7F"/>
                </a:solidFill>
              </a:defRPr>
            </a:lvl8pPr>
            <a:lvl9pPr algn="l">
              <a:buNone/>
              <a:defRPr sz="150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 dirty="0">
                <a:solidFill>
                  <a:srgbClr val="6F7B7F"/>
                </a:solidFill>
              </a:rPr>
              <a:t>Yorumlanabilir Yapay </a:t>
            </a:r>
            <a:r>
              <a:rPr sz="1500" b="0" dirty="0" err="1">
                <a:solidFill>
                  <a:srgbClr val="6F7B7F"/>
                </a:solidFill>
              </a:rPr>
              <a:t>Zekâ’da</a:t>
            </a:r>
            <a:r>
              <a:rPr sz="1500" b="0" dirty="0">
                <a:solidFill>
                  <a:srgbClr val="6F7B7F"/>
                </a:solidFill>
              </a:rPr>
              <a:t> </a:t>
            </a:r>
            <a:r>
              <a:rPr sz="1500" b="0" dirty="0" err="1">
                <a:solidFill>
                  <a:srgbClr val="6F7B7F"/>
                </a:solidFill>
              </a:rPr>
              <a:t>tekil</a:t>
            </a:r>
            <a:r>
              <a:rPr sz="1500" b="0" dirty="0">
                <a:solidFill>
                  <a:srgbClr val="6F7B7F"/>
                </a:solidFill>
              </a:rPr>
              <a:t> </a:t>
            </a:r>
            <a:r>
              <a:rPr sz="1500" b="0" dirty="0" err="1">
                <a:solidFill>
                  <a:srgbClr val="6F7B7F"/>
                </a:solidFill>
              </a:rPr>
              <a:t>tahminleri</a:t>
            </a:r>
            <a:r>
              <a:rPr sz="1500" b="0" dirty="0">
                <a:solidFill>
                  <a:srgbClr val="6F7B7F"/>
                </a:solidFill>
              </a:rPr>
              <a:t> </a:t>
            </a:r>
            <a:r>
              <a:rPr sz="1500" b="0" dirty="0" err="1">
                <a:solidFill>
                  <a:srgbClr val="6F7B7F"/>
                </a:solidFill>
              </a:rPr>
              <a:t>açıklayan</a:t>
            </a:r>
            <a:r>
              <a:rPr sz="1500" b="0" dirty="0">
                <a:solidFill>
                  <a:srgbClr val="6F7B7F"/>
                </a:solidFill>
              </a:rPr>
              <a:t> </a:t>
            </a:r>
            <a:r>
              <a:rPr sz="1500" b="0" dirty="0" err="1">
                <a:solidFill>
                  <a:srgbClr val="6F7B7F"/>
                </a:solidFill>
              </a:rPr>
              <a:t>iki</a:t>
            </a:r>
            <a:r>
              <a:rPr sz="1500" b="0" dirty="0">
                <a:solidFill>
                  <a:srgbClr val="6F7B7F"/>
                </a:solidFill>
              </a:rPr>
              <a:t> </a:t>
            </a:r>
            <a:r>
              <a:rPr sz="1500" b="0" dirty="0" err="1">
                <a:solidFill>
                  <a:srgbClr val="6F7B7F"/>
                </a:solidFill>
              </a:rPr>
              <a:t>yerel</a:t>
            </a:r>
            <a:r>
              <a:rPr sz="1500" b="0" dirty="0">
                <a:solidFill>
                  <a:srgbClr val="6F7B7F"/>
                </a:solidFill>
              </a:rPr>
              <a:t> </a:t>
            </a:r>
            <a:r>
              <a:rPr sz="1500" b="0" dirty="0" err="1">
                <a:solidFill>
                  <a:srgbClr val="6F7B7F"/>
                </a:solidFill>
              </a:rPr>
              <a:t>yaklaşım</a:t>
            </a:r>
            <a:endParaRPr sz="1500" b="0" dirty="0">
              <a:solidFill>
                <a:srgbClr val="6F7B7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AB4E99-8796-4283-8140-2D795761D33B}"/>
              </a:ext>
            </a:extLst>
          </p:cNvPr>
          <p:cNvSpPr>
            <a:spLocks noGrp="1"/>
          </p:cNvSpPr>
          <p:nvPr/>
        </p:nvSpPr>
        <p:spPr>
          <a:xfrm>
            <a:off x="590550" y="49530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125" b="1">
                <a:solidFill>
                  <a:srgbClr val="E65E3F"/>
                </a:solidFill>
              </a:defRPr>
            </a:lvl1pPr>
            <a:lvl2pPr algn="l">
              <a:buNone/>
              <a:defRPr sz="1125" b="1">
                <a:solidFill>
                  <a:srgbClr val="E65E3F"/>
                </a:solidFill>
              </a:defRPr>
            </a:lvl2pPr>
            <a:lvl3pPr algn="l">
              <a:buNone/>
              <a:defRPr sz="1125" b="1">
                <a:solidFill>
                  <a:srgbClr val="E65E3F"/>
                </a:solidFill>
              </a:defRPr>
            </a:lvl3pPr>
            <a:lvl4pPr algn="l">
              <a:buNone/>
              <a:defRPr sz="1125" b="1">
                <a:solidFill>
                  <a:srgbClr val="E65E3F"/>
                </a:solidFill>
              </a:defRPr>
            </a:lvl4pPr>
            <a:lvl5pPr algn="l">
              <a:buNone/>
              <a:defRPr sz="1125" b="1">
                <a:solidFill>
                  <a:srgbClr val="E65E3F"/>
                </a:solidFill>
              </a:defRPr>
            </a:lvl5pPr>
            <a:lvl6pPr algn="l">
              <a:buNone/>
              <a:defRPr sz="1125" b="1">
                <a:solidFill>
                  <a:srgbClr val="E65E3F"/>
                </a:solidFill>
              </a:defRPr>
            </a:lvl6pPr>
            <a:lvl7pPr algn="l">
              <a:buNone/>
              <a:defRPr sz="1125" b="1">
                <a:solidFill>
                  <a:srgbClr val="E65E3F"/>
                </a:solidFill>
              </a:defRPr>
            </a:lvl7pPr>
            <a:lvl8pPr algn="l">
              <a:buNone/>
              <a:defRPr sz="1125" b="1">
                <a:solidFill>
                  <a:srgbClr val="E65E3F"/>
                </a:solidFill>
              </a:defRPr>
            </a:lvl8pPr>
            <a:lvl9pPr algn="l">
              <a:buNone/>
              <a:defRPr sz="11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1125" b="1">
                <a:solidFill>
                  <a:srgbClr val="E65E3F"/>
                </a:solidFill>
              </a:defRPr>
            </a:pPr>
            <a:r>
              <a:rPr sz="1125" b="1">
                <a:solidFill>
                  <a:srgbClr val="E65E3F"/>
                </a:solidFill>
              </a:rPr>
              <a:t>LIME, Wachter ve Dandl yöntemleri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FAF248-AC87-414D-973E-EDB9CD8B7C65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sz="750" b="0">
                <a:solidFill>
                  <a:srgbClr val="6F7B7F"/>
                </a:solidFill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FD6A8-3051-00C8-25A7-1DE9864E19DA}"/>
              </a:ext>
            </a:extLst>
          </p:cNvPr>
          <p:cNvSpPr txBox="1"/>
          <p:nvPr/>
        </p:nvSpPr>
        <p:spPr>
          <a:xfrm>
            <a:off x="7125148" y="5791199"/>
            <a:ext cx="4647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TR" sz="1400" b="1" dirty="0">
                <a:solidFill>
                  <a:srgbClr val="24343C"/>
                </a:solidFill>
              </a:rPr>
              <a:t>İlker Uğur Kaya ~ 20269257005</a:t>
            </a:r>
          </a:p>
        </p:txBody>
      </p:sp>
    </p:spTree>
    <p:extLst>
      <p:ext uri="{BB962C8B-B14F-4D97-AF65-F5344CB8AC3E}">
        <p14:creationId xmlns:p14="http://schemas.microsoft.com/office/powerpoint/2010/main" val="547402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F269E0-6611-4431-9DBA-EFD665C8B2C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1">
                <a:solidFill>
                  <a:srgbClr val="FF654A"/>
                </a:solidFill>
              </a:defRPr>
            </a:lvl1pPr>
            <a:lvl2pPr algn="l">
              <a:buNone/>
              <a:defRPr sz="975" b="1">
                <a:solidFill>
                  <a:srgbClr val="FF654A"/>
                </a:solidFill>
              </a:defRPr>
            </a:lvl2pPr>
            <a:lvl3pPr algn="l">
              <a:buNone/>
              <a:defRPr sz="975" b="1">
                <a:solidFill>
                  <a:srgbClr val="FF654A"/>
                </a:solidFill>
              </a:defRPr>
            </a:lvl3pPr>
            <a:lvl4pPr algn="l">
              <a:buNone/>
              <a:defRPr sz="975" b="1">
                <a:solidFill>
                  <a:srgbClr val="FF654A"/>
                </a:solidFill>
              </a:defRPr>
            </a:lvl4pPr>
            <a:lvl5pPr algn="l">
              <a:buNone/>
              <a:defRPr sz="975" b="1">
                <a:solidFill>
                  <a:srgbClr val="FF654A"/>
                </a:solidFill>
              </a:defRPr>
            </a:lvl5pPr>
            <a:lvl6pPr algn="l">
              <a:buNone/>
              <a:defRPr sz="975" b="1">
                <a:solidFill>
                  <a:srgbClr val="FF654A"/>
                </a:solidFill>
              </a:defRPr>
            </a:lvl6pPr>
            <a:lvl7pPr algn="l">
              <a:buNone/>
              <a:defRPr sz="975" b="1">
                <a:solidFill>
                  <a:srgbClr val="FF654A"/>
                </a:solidFill>
              </a:defRPr>
            </a:lvl7pPr>
            <a:lvl8pPr algn="l">
              <a:buNone/>
              <a:defRPr sz="975" b="1">
                <a:solidFill>
                  <a:srgbClr val="FF654A"/>
                </a:solidFill>
              </a:defRPr>
            </a:lvl8pPr>
            <a:lvl9pPr algn="l">
              <a:buNone/>
              <a:defRPr sz="97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975" b="1">
                <a:solidFill>
                  <a:srgbClr val="FF654A"/>
                </a:solidFill>
              </a:defRPr>
            </a:pPr>
            <a:r>
              <a:rPr sz="975" b="1">
                <a:solidFill>
                  <a:srgbClr val="FF654A"/>
                </a:solidFill>
              </a:rPr>
              <a:t>BÖLÜM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2A5AAF-D341-4597-9EFC-57AA95332B1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381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4350" b="1">
                <a:solidFill>
                  <a:srgbClr val="FFFFFF"/>
                </a:solidFill>
              </a:defRPr>
            </a:lvl1pPr>
            <a:lvl2pPr algn="l">
              <a:buNone/>
              <a:defRPr sz="4350" b="1">
                <a:solidFill>
                  <a:srgbClr val="FFFFFF"/>
                </a:solidFill>
              </a:defRPr>
            </a:lvl2pPr>
            <a:lvl3pPr algn="l">
              <a:buNone/>
              <a:defRPr sz="4350" b="1">
                <a:solidFill>
                  <a:srgbClr val="FFFFFF"/>
                </a:solidFill>
              </a:defRPr>
            </a:lvl3pPr>
            <a:lvl4pPr algn="l">
              <a:buNone/>
              <a:defRPr sz="4350" b="1">
                <a:solidFill>
                  <a:srgbClr val="FFFFFF"/>
                </a:solidFill>
              </a:defRPr>
            </a:lvl4pPr>
            <a:lvl5pPr algn="l">
              <a:buNone/>
              <a:defRPr sz="4350" b="1">
                <a:solidFill>
                  <a:srgbClr val="FFFFFF"/>
                </a:solidFill>
              </a:defRPr>
            </a:lvl5pPr>
            <a:lvl6pPr algn="l">
              <a:buNone/>
              <a:defRPr sz="4350" b="1">
                <a:solidFill>
                  <a:srgbClr val="FFFFFF"/>
                </a:solidFill>
              </a:defRPr>
            </a:lvl6pPr>
            <a:lvl7pPr algn="l">
              <a:buNone/>
              <a:defRPr sz="4350" b="1">
                <a:solidFill>
                  <a:srgbClr val="FFFFFF"/>
                </a:solidFill>
              </a:defRPr>
            </a:lvl7pPr>
            <a:lvl8pPr algn="l">
              <a:buNone/>
              <a:defRPr sz="4350" b="1">
                <a:solidFill>
                  <a:srgbClr val="FFFFFF"/>
                </a:solidFill>
              </a:defRPr>
            </a:lvl8pPr>
            <a:lvl9pPr algn="l">
              <a:buNone/>
              <a:defRPr sz="4350" b="1">
                <a:solidFill>
                  <a:srgbClr val="FFFFFF"/>
                </a:solidFill>
              </a:defRPr>
            </a:lvl9pPr>
          </a:lstStyle>
          <a:p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LIME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F35E6B-2173-4F8C-A9DC-3A151A37C5E3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619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875" b="0">
                <a:solidFill>
                  <a:srgbClr val="D8E0E1"/>
                </a:solidFill>
              </a:defRPr>
            </a:lvl1pPr>
            <a:lvl2pPr algn="l">
              <a:buNone/>
              <a:defRPr sz="1875" b="0">
                <a:solidFill>
                  <a:srgbClr val="D8E0E1"/>
                </a:solidFill>
              </a:defRPr>
            </a:lvl2pPr>
            <a:lvl3pPr algn="l">
              <a:buNone/>
              <a:defRPr sz="1875" b="0">
                <a:solidFill>
                  <a:srgbClr val="D8E0E1"/>
                </a:solidFill>
              </a:defRPr>
            </a:lvl3pPr>
            <a:lvl4pPr algn="l">
              <a:buNone/>
              <a:defRPr sz="1875" b="0">
                <a:solidFill>
                  <a:srgbClr val="D8E0E1"/>
                </a:solidFill>
              </a:defRPr>
            </a:lvl4pPr>
            <a:lvl5pPr algn="l">
              <a:buNone/>
              <a:defRPr sz="1875" b="0">
                <a:solidFill>
                  <a:srgbClr val="D8E0E1"/>
                </a:solidFill>
              </a:defRPr>
            </a:lvl5pPr>
            <a:lvl6pPr algn="l">
              <a:buNone/>
              <a:defRPr sz="1875" b="0">
                <a:solidFill>
                  <a:srgbClr val="D8E0E1"/>
                </a:solidFill>
              </a:defRPr>
            </a:lvl6pPr>
            <a:lvl7pPr algn="l">
              <a:buNone/>
              <a:defRPr sz="1875" b="0">
                <a:solidFill>
                  <a:srgbClr val="D8E0E1"/>
                </a:solidFill>
              </a:defRPr>
            </a:lvl7pPr>
            <a:lvl8pPr algn="l">
              <a:buNone/>
              <a:defRPr sz="1875" b="0">
                <a:solidFill>
                  <a:srgbClr val="D8E0E1"/>
                </a:solidFill>
              </a:defRPr>
            </a:lvl8pPr>
            <a:lvl9pPr algn="l">
              <a:buNone/>
              <a:defRPr sz="1875" b="0">
                <a:solidFill>
                  <a:srgbClr val="D8E0E1"/>
                </a:solidFill>
              </a:defRPr>
            </a:lvl9pPr>
          </a:lstStyle>
          <a:p>
            <a:pPr algn="l">
              <a:buNone/>
              <a:defRPr sz="1875" b="0">
                <a:solidFill>
                  <a:srgbClr val="D8E0E1"/>
                </a:solidFill>
              </a:defRPr>
            </a:pPr>
            <a:r>
              <a:rPr sz="1875" b="0">
                <a:solidFill>
                  <a:srgbClr val="D8E0E1"/>
                </a:solidFill>
              </a:rPr>
              <a:t>Tekil bir tahmini, çevresinde eğitilen</a:t>
            </a:r>
          </a:p>
          <a:p>
            <a:pPr algn="l">
              <a:buNone/>
              <a:defRPr sz="1875" b="0">
                <a:solidFill>
                  <a:srgbClr val="D8E0E1"/>
                </a:solidFill>
              </a:defRPr>
            </a:pPr>
            <a:r>
              <a:rPr sz="1875" b="0">
                <a:solidFill>
                  <a:srgbClr val="D8E0E1"/>
                </a:solidFill>
              </a:rPr>
              <a:t>basit ve yorumlanabilir bir vekil modelle açıklamak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62D027-F427-4484-8853-12360928F48C}"/>
              </a:ext>
            </a:extLst>
          </p:cNvPr>
          <p:cNvSpPr>
            <a:spLocks noGrp="1"/>
          </p:cNvSpPr>
          <p:nvPr/>
        </p:nvSpPr>
        <p:spPr>
          <a:xfrm>
            <a:off x="7810500" y="1381125"/>
            <a:ext cx="2381250" cy="2381250"/>
          </a:xfrm>
          <a:prstGeom prst="ellipse">
            <a:avLst/>
          </a:prstGeom>
          <a:noFill/>
          <a:ln w="38100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BF01A8-FB91-421E-B070-2C9DCC351F73}"/>
              </a:ext>
            </a:extLst>
          </p:cNvPr>
          <p:cNvSpPr>
            <a:spLocks noGrp="1"/>
          </p:cNvSpPr>
          <p:nvPr/>
        </p:nvSpPr>
        <p:spPr>
          <a:xfrm>
            <a:off x="8524875" y="2095500"/>
            <a:ext cx="952500" cy="952500"/>
          </a:xfrm>
          <a:prstGeom prst="ellipse">
            <a:avLst/>
          </a:prstGeom>
          <a:solidFill>
            <a:srgbClr val="FFE1D8"/>
          </a:solidFill>
          <a:ln w="19050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59BEDD-A5FF-48CC-9E2C-1DCE03281A95}"/>
              </a:ext>
            </a:extLst>
          </p:cNvPr>
          <p:cNvSpPr>
            <a:spLocks noGrp="1"/>
          </p:cNvSpPr>
          <p:nvPr/>
        </p:nvSpPr>
        <p:spPr>
          <a:xfrm>
            <a:off x="8315325" y="2286000"/>
            <a:ext cx="1371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500" b="1">
                <a:solidFill>
                  <a:srgbClr val="1F3038"/>
                </a:solidFill>
              </a:defRPr>
            </a:lvl1pPr>
            <a:lvl2pPr algn="ctr">
              <a:buNone/>
              <a:defRPr sz="1500" b="1">
                <a:solidFill>
                  <a:srgbClr val="1F3038"/>
                </a:solidFill>
              </a:defRPr>
            </a:lvl2pPr>
            <a:lvl3pPr algn="ctr">
              <a:buNone/>
              <a:defRPr sz="1500" b="1">
                <a:solidFill>
                  <a:srgbClr val="1F3038"/>
                </a:solidFill>
              </a:defRPr>
            </a:lvl3pPr>
            <a:lvl4pPr algn="ctr">
              <a:buNone/>
              <a:defRPr sz="1500" b="1">
                <a:solidFill>
                  <a:srgbClr val="1F3038"/>
                </a:solidFill>
              </a:defRPr>
            </a:lvl4pPr>
            <a:lvl5pPr algn="ctr">
              <a:buNone/>
              <a:defRPr sz="1500" b="1">
                <a:solidFill>
                  <a:srgbClr val="1F3038"/>
                </a:solidFill>
              </a:defRPr>
            </a:lvl5pPr>
            <a:lvl6pPr algn="ctr">
              <a:buNone/>
              <a:defRPr sz="1500" b="1">
                <a:solidFill>
                  <a:srgbClr val="1F3038"/>
                </a:solidFill>
              </a:defRPr>
            </a:lvl6pPr>
            <a:lvl7pPr algn="ctr">
              <a:buNone/>
              <a:defRPr sz="1500" b="1">
                <a:solidFill>
                  <a:srgbClr val="1F3038"/>
                </a:solidFill>
              </a:defRPr>
            </a:lvl7pPr>
            <a:lvl8pPr algn="ctr">
              <a:buNone/>
              <a:defRPr sz="1500" b="1">
                <a:solidFill>
                  <a:srgbClr val="1F3038"/>
                </a:solidFill>
              </a:defRPr>
            </a:lvl8pPr>
            <a:lvl9pPr algn="ctr">
              <a:buNone/>
              <a:defRPr sz="1500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15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yerel</a:t>
            </a:r>
          </a:p>
          <a:p>
            <a:pPr algn="ctr">
              <a:buNone/>
              <a:defRPr sz="15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vekil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054379-B272-4835-87D5-74FC69F0A1CC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750" b="0">
                <a:solidFill>
                  <a:srgbClr val="AEB9BA"/>
                </a:solidFill>
              </a:defRPr>
            </a:lvl1pPr>
            <a:lvl2pPr algn="r">
              <a:buNone/>
              <a:defRPr sz="750" b="0">
                <a:solidFill>
                  <a:srgbClr val="AEB9BA"/>
                </a:solidFill>
              </a:defRPr>
            </a:lvl2pPr>
            <a:lvl3pPr algn="r">
              <a:buNone/>
              <a:defRPr sz="750" b="0">
                <a:solidFill>
                  <a:srgbClr val="AEB9BA"/>
                </a:solidFill>
              </a:defRPr>
            </a:lvl3pPr>
            <a:lvl4pPr algn="r">
              <a:buNone/>
              <a:defRPr sz="750" b="0">
                <a:solidFill>
                  <a:srgbClr val="AEB9BA"/>
                </a:solidFill>
              </a:defRPr>
            </a:lvl4pPr>
            <a:lvl5pPr algn="r">
              <a:buNone/>
              <a:defRPr sz="750" b="0">
                <a:solidFill>
                  <a:srgbClr val="AEB9BA"/>
                </a:solidFill>
              </a:defRPr>
            </a:lvl5pPr>
            <a:lvl6pPr algn="r">
              <a:buNone/>
              <a:defRPr sz="750" b="0">
                <a:solidFill>
                  <a:srgbClr val="AEB9BA"/>
                </a:solidFill>
              </a:defRPr>
            </a:lvl6pPr>
            <a:lvl7pPr algn="r">
              <a:buNone/>
              <a:defRPr sz="750" b="0">
                <a:solidFill>
                  <a:srgbClr val="AEB9BA"/>
                </a:solidFill>
              </a:defRPr>
            </a:lvl7pPr>
            <a:lvl8pPr algn="r">
              <a:buNone/>
              <a:defRPr sz="750" b="0">
                <a:solidFill>
                  <a:srgbClr val="AEB9BA"/>
                </a:solidFill>
              </a:defRPr>
            </a:lvl8pPr>
            <a:lvl9pPr algn="r">
              <a:buNone/>
              <a:defRPr sz="750" b="0">
                <a:solidFill>
                  <a:srgbClr val="AEB9BA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AEB9BA"/>
                </a:solidFill>
              </a:defRPr>
            </a:pPr>
            <a:r>
              <a:rPr lang="tr-TR" sz="750" b="0" dirty="0">
                <a:solidFill>
                  <a:srgbClr val="AEB9BA"/>
                </a:solidFill>
              </a:rPr>
              <a:t>2</a:t>
            </a:r>
            <a:endParaRPr sz="750" b="0" dirty="0">
              <a:solidFill>
                <a:srgbClr val="AEB9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3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48DD09A-6048-4082-8C00-92B95DEA2BE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1610E4-579E-4B1E-96EE-DA372BD6DA14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Güven problemi: kara kutu modelleri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BA373B-1BE6-4755-95FF-5B9976BCB53B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33AD7A-D5B4-4BA1-9E54-53C3B9AB8DB6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sz="750" b="0" dirty="0">
                <a:solidFill>
                  <a:srgbClr val="96A0A2"/>
                </a:solidFill>
              </a:rPr>
              <a:t>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657927-8583-4882-BF51-F63A832EF76A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49530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0835F6-8DDA-4484-B184-2ACAF843CC19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47625" cy="21907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37BFF0-F301-41FA-B5E1-162CC3F83B44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462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Karmaşık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840019-F200-4A83-BF71-BBE8E5230512}"/>
              </a:ext>
            </a:extLst>
          </p:cNvPr>
          <p:cNvSpPr>
            <a:spLocks noGrp="1"/>
          </p:cNvSpPr>
          <p:nvPr/>
        </p:nvSpPr>
        <p:spPr>
          <a:xfrm>
            <a:off x="857250" y="2390775"/>
            <a:ext cx="46291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Yüksek tahmin başarısı sağlayabilir, ancak tekil kararın nasıl oluştuğunu açıklamak güçtür.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5BD1FE-E7E1-4113-B177-CA47BD8B7913}"/>
              </a:ext>
            </a:extLst>
          </p:cNvPr>
          <p:cNvSpPr>
            <a:spLocks noGrp="1"/>
          </p:cNvSpPr>
          <p:nvPr/>
        </p:nvSpPr>
        <p:spPr>
          <a:xfrm>
            <a:off x="5867400" y="1962150"/>
            <a:ext cx="56388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05657E-C16D-49F0-B8C1-CDA843F2C86F}"/>
              </a:ext>
            </a:extLst>
          </p:cNvPr>
          <p:cNvSpPr>
            <a:spLocks noGrp="1"/>
          </p:cNvSpPr>
          <p:nvPr/>
        </p:nvSpPr>
        <p:spPr>
          <a:xfrm>
            <a:off x="5867400" y="1962150"/>
            <a:ext cx="47625" cy="219075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52CD14-7FD7-44E2-8237-0601F1CA98AC}"/>
              </a:ext>
            </a:extLst>
          </p:cNvPr>
          <p:cNvSpPr>
            <a:spLocks noGrp="1"/>
          </p:cNvSpPr>
          <p:nvPr/>
        </p:nvSpPr>
        <p:spPr>
          <a:xfrm>
            <a:off x="6038850" y="2095500"/>
            <a:ext cx="5314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İnsan kararı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B952A1-3AAD-467B-9E43-15F957DC659F}"/>
              </a:ext>
            </a:extLst>
          </p:cNvPr>
          <p:cNvSpPr>
            <a:spLocks noGrp="1"/>
          </p:cNvSpPr>
          <p:nvPr/>
        </p:nvSpPr>
        <p:spPr>
          <a:xfrm>
            <a:off x="6038850" y="2390775"/>
            <a:ext cx="53149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Kullanıcı “Neden bu tahmin?” sorusuna, ilgili örnek çevresinde anlaşılır bir yanıt bekler.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0E496E-4748-4FCD-9526-49CCC2EF4BFF}"/>
              </a:ext>
            </a:extLst>
          </p:cNvPr>
          <p:cNvSpPr>
            <a:spLocks noGrp="1"/>
          </p:cNvSpPr>
          <p:nvPr/>
        </p:nvSpPr>
        <p:spPr>
          <a:xfrm>
            <a:off x="1485900" y="5238750"/>
            <a:ext cx="9220200" cy="342900"/>
          </a:xfrm>
          <a:prstGeom prst="rect">
            <a:avLst/>
          </a:prstGeom>
          <a:solidFill>
            <a:srgbClr val="E8EEEE"/>
          </a:solidFill>
          <a:ln w="9525">
            <a:solidFill>
              <a:srgbClr val="E8EEE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080D8D-7473-4DE9-B324-2B59428BCF9D}"/>
              </a:ext>
            </a:extLst>
          </p:cNvPr>
          <p:cNvSpPr>
            <a:spLocks noGrp="1"/>
          </p:cNvSpPr>
          <p:nvPr/>
        </p:nvSpPr>
        <p:spPr>
          <a:xfrm>
            <a:off x="1638300" y="5276850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1">
                <a:solidFill>
                  <a:srgbClr val="1F3038"/>
                </a:solidFill>
              </a:defRPr>
            </a:lvl1pPr>
            <a:lvl2pPr algn="ctr">
              <a:buNone/>
              <a:defRPr sz="975" b="1">
                <a:solidFill>
                  <a:srgbClr val="1F3038"/>
                </a:solidFill>
              </a:defRPr>
            </a:lvl2pPr>
            <a:lvl3pPr algn="ctr">
              <a:buNone/>
              <a:defRPr sz="975" b="1">
                <a:solidFill>
                  <a:srgbClr val="1F3038"/>
                </a:solidFill>
              </a:defRPr>
            </a:lvl3pPr>
            <a:lvl4pPr algn="ctr">
              <a:buNone/>
              <a:defRPr sz="975" b="1">
                <a:solidFill>
                  <a:srgbClr val="1F3038"/>
                </a:solidFill>
              </a:defRPr>
            </a:lvl4pPr>
            <a:lvl5pPr algn="ctr">
              <a:buNone/>
              <a:defRPr sz="975" b="1">
                <a:solidFill>
                  <a:srgbClr val="1F3038"/>
                </a:solidFill>
              </a:defRPr>
            </a:lvl5pPr>
            <a:lvl6pPr algn="ctr">
              <a:buNone/>
              <a:defRPr sz="975" b="1">
                <a:solidFill>
                  <a:srgbClr val="1F3038"/>
                </a:solidFill>
              </a:defRPr>
            </a:lvl6pPr>
            <a:lvl7pPr algn="ctr">
              <a:buNone/>
              <a:defRPr sz="975" b="1">
                <a:solidFill>
                  <a:srgbClr val="1F3038"/>
                </a:solidFill>
              </a:defRPr>
            </a:lvl7pPr>
            <a:lvl8pPr algn="ctr">
              <a:buNone/>
              <a:defRPr sz="975" b="1">
                <a:solidFill>
                  <a:srgbClr val="1F3038"/>
                </a:solidFill>
              </a:defRPr>
            </a:lvl8pPr>
            <a:lvl9pPr algn="ctr">
              <a:buNone/>
              <a:defRPr sz="97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97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LIME, kara kutuyu küresel olarak kopyalamaz; ilgilenilen tahminin çevresini yaklaşıklar.</a:t>
            </a:r>
          </a:p>
        </p:txBody>
      </p:sp>
    </p:spTree>
    <p:extLst>
      <p:ext uri="{BB962C8B-B14F-4D97-AF65-F5344CB8AC3E}">
        <p14:creationId xmlns:p14="http://schemas.microsoft.com/office/powerpoint/2010/main" val="202164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0227CAD-8240-4BB6-A34F-C805353478E8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0A088E-1C8F-43DC-A2C5-69AEA4C9080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LIME’in temel fikri: küresel karmaşa, yerel basitlik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2BBF42-402F-4DD0-AEE9-0BCBD9EB55C2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7B19F2-669F-4EA7-ABC2-97133882BEE6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4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B5CB62-0C46-41BE-862C-BB8010D43E00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5219700"/>
          </a:xfrm>
          <a:prstGeom prst="rect">
            <a:avLst/>
          </a:prstGeom>
          <a:solidFill>
            <a:srgbClr val="F7F7F4"/>
          </a:solidFill>
          <a:ln w="0">
            <a:solidFill>
              <a:srgbClr val="F7F7F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314450"/>
            <a:ext cx="4953000" cy="4953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CE1D8AC-9D9C-4170-9BF3-C979EFA8752D}"/>
              </a:ext>
            </a:extLst>
          </p:cNvPr>
          <p:cNvSpPr>
            <a:spLocks noGrp="1"/>
          </p:cNvSpPr>
          <p:nvPr/>
        </p:nvSpPr>
        <p:spPr>
          <a:xfrm>
            <a:off x="6096000" y="1428750"/>
            <a:ext cx="54102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4DA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748C65-B54D-4642-8E3A-B5E79051BCBA}"/>
              </a:ext>
            </a:extLst>
          </p:cNvPr>
          <p:cNvSpPr>
            <a:spLocks noGrp="1"/>
          </p:cNvSpPr>
          <p:nvPr/>
        </p:nvSpPr>
        <p:spPr>
          <a:xfrm>
            <a:off x="6096000" y="1428750"/>
            <a:ext cx="47625" cy="1000125"/>
          </a:xfrm>
          <a:prstGeom prst="rect">
            <a:avLst/>
          </a:prstGeom>
          <a:solidFill>
            <a:srgbClr val="FF654A"/>
          </a:solidFill>
          <a:ln w="0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4CDD88-7AA7-4CBB-9978-758984BE4047}"/>
              </a:ext>
            </a:extLst>
          </p:cNvPr>
          <p:cNvSpPr>
            <a:spLocks noGrp="1"/>
          </p:cNvSpPr>
          <p:nvPr/>
        </p:nvSpPr>
        <p:spPr>
          <a:xfrm>
            <a:off x="6267450" y="1543050"/>
            <a:ext cx="508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A  Kara kutu karar yüzeyi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EA410E-EBBA-45CE-B102-07B534F8C2A0}"/>
              </a:ext>
            </a:extLst>
          </p:cNvPr>
          <p:cNvSpPr>
            <a:spLocks noGrp="1"/>
          </p:cNvSpPr>
          <p:nvPr/>
        </p:nvSpPr>
        <p:spPr>
          <a:xfrm>
            <a:off x="6267450" y="1866900"/>
            <a:ext cx="50863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Açık ve koyu bölgeler modelin karmaşık karar yapısını gösterir.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CF42289-DF76-4113-9689-A17DDE039C6B}"/>
              </a:ext>
            </a:extLst>
          </p:cNvPr>
          <p:cNvSpPr>
            <a:spLocks noGrp="1"/>
          </p:cNvSpPr>
          <p:nvPr/>
        </p:nvSpPr>
        <p:spPr>
          <a:xfrm>
            <a:off x="6096000" y="2609850"/>
            <a:ext cx="54102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4DA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042057-6DD2-4923-A228-BF2F7618CCD3}"/>
              </a:ext>
            </a:extLst>
          </p:cNvPr>
          <p:cNvSpPr>
            <a:spLocks noGrp="1"/>
          </p:cNvSpPr>
          <p:nvPr/>
        </p:nvSpPr>
        <p:spPr>
          <a:xfrm>
            <a:off x="6096000" y="2609850"/>
            <a:ext cx="47625" cy="1352550"/>
          </a:xfrm>
          <a:prstGeom prst="rect">
            <a:avLst/>
          </a:prstGeom>
          <a:solidFill>
            <a:srgbClr val="F5C84B"/>
          </a:solidFill>
          <a:ln w="0">
            <a:solidFill>
              <a:srgbClr val="F5C84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0A875B-9C59-4EA6-B4B3-601704E6B1C4}"/>
              </a:ext>
            </a:extLst>
          </p:cNvPr>
          <p:cNvSpPr>
            <a:spLocks noGrp="1"/>
          </p:cNvSpPr>
          <p:nvPr/>
        </p:nvSpPr>
        <p:spPr>
          <a:xfrm>
            <a:off x="6267450" y="2724150"/>
            <a:ext cx="508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B-C  Örnekleme ve ağırlıklandırma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772EF3-1471-471D-9981-942A53C6C3BC}"/>
              </a:ext>
            </a:extLst>
          </p:cNvPr>
          <p:cNvSpPr>
            <a:spLocks noGrp="1"/>
          </p:cNvSpPr>
          <p:nvPr/>
        </p:nvSpPr>
        <p:spPr>
          <a:xfrm>
            <a:off x="6267450" y="3048000"/>
            <a:ext cx="5086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Örnekler açıklanan noktanın çevresinden değil, verinin merkezinden çekilir. Yerellik, sarı noktaya yakın örneklere daha yüksek ağırlık verilerek sağlanır.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96FE29-363C-4466-8244-25D8634BF43B}"/>
              </a:ext>
            </a:extLst>
          </p:cNvPr>
          <p:cNvSpPr>
            <a:spLocks noGrp="1"/>
          </p:cNvSpPr>
          <p:nvPr/>
        </p:nvSpPr>
        <p:spPr>
          <a:xfrm>
            <a:off x="6096000" y="4143375"/>
            <a:ext cx="54102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4DA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2733AD-C9CA-42D5-A678-F0653427E143}"/>
              </a:ext>
            </a:extLst>
          </p:cNvPr>
          <p:cNvSpPr>
            <a:spLocks noGrp="1"/>
          </p:cNvSpPr>
          <p:nvPr/>
        </p:nvSpPr>
        <p:spPr>
          <a:xfrm>
            <a:off x="6096000" y="4143375"/>
            <a:ext cx="47625" cy="1352550"/>
          </a:xfrm>
          <a:prstGeom prst="rect">
            <a:avLst/>
          </a:prstGeom>
          <a:solidFill>
            <a:srgbClr val="FF654A"/>
          </a:solidFill>
          <a:ln w="0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FCBD18-11D1-4897-A116-3D6A18E3CEAA}"/>
              </a:ext>
            </a:extLst>
          </p:cNvPr>
          <p:cNvSpPr>
            <a:spLocks noGrp="1"/>
          </p:cNvSpPr>
          <p:nvPr/>
        </p:nvSpPr>
        <p:spPr>
          <a:xfrm>
            <a:off x="6267450" y="4257675"/>
            <a:ext cx="508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D  Basit yerel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99F0C7-6052-4E4A-8CA4-532FBC4DAFE7}"/>
              </a:ext>
            </a:extLst>
          </p:cNvPr>
          <p:cNvSpPr>
            <a:spLocks noGrp="1"/>
          </p:cNvSpPr>
          <p:nvPr/>
        </p:nvSpPr>
        <p:spPr>
          <a:xfrm>
            <a:off x="6267450" y="4581525"/>
            <a:ext cx="5086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Ağırlıklı komşulukta doğrusal bir vekil model eğitilir. Beyaz çizgi, açıklanan nokta çevresindeki yerel sınırı yaklaşıklar.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352227-6097-4BA7-9540-58A25B35D868}"/>
              </a:ext>
            </a:extLst>
          </p:cNvPr>
          <p:cNvSpPr>
            <a:spLocks noGrp="1"/>
          </p:cNvSpPr>
          <p:nvPr/>
        </p:nvSpPr>
        <p:spPr>
          <a:xfrm>
            <a:off x="6096000" y="5695950"/>
            <a:ext cx="541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0">
                <a:solidFill>
                  <a:srgbClr val="8A9496"/>
                </a:solidFill>
              </a:defRPr>
            </a:lvl1pPr>
            <a:lvl2pPr algn="l">
              <a:buNone/>
              <a:defRPr sz="825" b="0">
                <a:solidFill>
                  <a:srgbClr val="8A9496"/>
                </a:solidFill>
              </a:defRPr>
            </a:lvl2pPr>
            <a:lvl3pPr algn="l">
              <a:buNone/>
              <a:defRPr sz="825" b="0">
                <a:solidFill>
                  <a:srgbClr val="8A9496"/>
                </a:solidFill>
              </a:defRPr>
            </a:lvl3pPr>
            <a:lvl4pPr algn="l">
              <a:buNone/>
              <a:defRPr sz="825" b="0">
                <a:solidFill>
                  <a:srgbClr val="8A9496"/>
                </a:solidFill>
              </a:defRPr>
            </a:lvl4pPr>
            <a:lvl5pPr algn="l">
              <a:buNone/>
              <a:defRPr sz="825" b="0">
                <a:solidFill>
                  <a:srgbClr val="8A9496"/>
                </a:solidFill>
              </a:defRPr>
            </a:lvl5pPr>
            <a:lvl6pPr algn="l">
              <a:buNone/>
              <a:defRPr sz="825" b="0">
                <a:solidFill>
                  <a:srgbClr val="8A9496"/>
                </a:solidFill>
              </a:defRPr>
            </a:lvl6pPr>
            <a:lvl7pPr algn="l">
              <a:buNone/>
              <a:defRPr sz="825" b="0">
                <a:solidFill>
                  <a:srgbClr val="8A9496"/>
                </a:solidFill>
              </a:defRPr>
            </a:lvl7pPr>
            <a:lvl8pPr algn="l">
              <a:buNone/>
              <a:defRPr sz="825" b="0">
                <a:solidFill>
                  <a:srgbClr val="8A9496"/>
                </a:solidFill>
              </a:defRPr>
            </a:lvl8pPr>
            <a:lvl9pPr algn="l">
              <a:buNone/>
              <a:defRPr sz="825" b="0">
                <a:solidFill>
                  <a:srgbClr val="8A9496"/>
                </a:solidFill>
              </a:defRPr>
            </a:lvl9pPr>
          </a:lstStyle>
          <a:p>
            <a:pPr algn="l">
              <a:buNone/>
              <a:defRPr sz="825" b="0">
                <a:solidFill>
                  <a:srgbClr val="8A9496"/>
                </a:solidFill>
              </a:defRPr>
            </a:pPr>
            <a:r>
              <a:rPr sz="825" b="0">
                <a:solidFill>
                  <a:srgbClr val="8A9496"/>
                </a:solidFill>
              </a:rPr>
              <a:t>Kaynak görsel: lime.qmd, Şekil 14.1</a:t>
            </a:r>
          </a:p>
        </p:txBody>
      </p:sp>
    </p:spTree>
    <p:extLst>
      <p:ext uri="{BB962C8B-B14F-4D97-AF65-F5344CB8AC3E}">
        <p14:creationId xmlns:p14="http://schemas.microsoft.com/office/powerpoint/2010/main" val="1594593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17FD70B-DAB9-4046-8DEE-597000D986DE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98E4D-9C92-49B3-B34C-BDD42483ACB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Optimizasyon denklemi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851418-22C2-41EC-B4E5-5C53B5981A1B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E87D03-25A3-47A7-9CE9-45A2C4983A94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5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541C14-41CD-4523-BB2A-9822EACD3D12}"/>
              </a:ext>
            </a:extLst>
          </p:cNvPr>
          <p:cNvSpPr>
            <a:spLocks noGrp="1"/>
          </p:cNvSpPr>
          <p:nvPr/>
        </p:nvSpPr>
        <p:spPr>
          <a:xfrm>
            <a:off x="1123950" y="1866900"/>
            <a:ext cx="9944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2175" b="1">
                <a:solidFill>
                  <a:srgbClr val="1F3038"/>
                </a:solidFill>
              </a:defRPr>
            </a:lvl1pPr>
            <a:lvl2pPr algn="ctr">
              <a:buNone/>
              <a:defRPr sz="2175" b="1">
                <a:solidFill>
                  <a:srgbClr val="1F3038"/>
                </a:solidFill>
              </a:defRPr>
            </a:lvl2pPr>
            <a:lvl3pPr algn="ctr">
              <a:buNone/>
              <a:defRPr sz="2175" b="1">
                <a:solidFill>
                  <a:srgbClr val="1F3038"/>
                </a:solidFill>
              </a:defRPr>
            </a:lvl3pPr>
            <a:lvl4pPr algn="ctr">
              <a:buNone/>
              <a:defRPr sz="2175" b="1">
                <a:solidFill>
                  <a:srgbClr val="1F3038"/>
                </a:solidFill>
              </a:defRPr>
            </a:lvl4pPr>
            <a:lvl5pPr algn="ctr">
              <a:buNone/>
              <a:defRPr sz="2175" b="1">
                <a:solidFill>
                  <a:srgbClr val="1F3038"/>
                </a:solidFill>
              </a:defRPr>
            </a:lvl5pPr>
            <a:lvl6pPr algn="ctr">
              <a:buNone/>
              <a:defRPr sz="2175" b="1">
                <a:solidFill>
                  <a:srgbClr val="1F3038"/>
                </a:solidFill>
              </a:defRPr>
            </a:lvl6pPr>
            <a:lvl7pPr algn="ctr">
              <a:buNone/>
              <a:defRPr sz="2175" b="1">
                <a:solidFill>
                  <a:srgbClr val="1F3038"/>
                </a:solidFill>
              </a:defRPr>
            </a:lvl7pPr>
            <a:lvl8pPr algn="ctr">
              <a:buNone/>
              <a:defRPr sz="2175" b="1">
                <a:solidFill>
                  <a:srgbClr val="1F3038"/>
                </a:solidFill>
              </a:defRPr>
            </a:lvl8pPr>
            <a:lvl9pPr algn="ctr">
              <a:buNone/>
              <a:defRPr sz="217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2175" b="1">
                <a:solidFill>
                  <a:srgbClr val="1F3038"/>
                </a:solidFill>
              </a:defRPr>
            </a:pPr>
            <a:r>
              <a:rPr sz="2175" b="1">
                <a:solidFill>
                  <a:srgbClr val="1F3038"/>
                </a:solidFill>
              </a:rPr>
              <a:t>explanation(x) = argmin   [ L(f̂, g, πₓ) + Ω(g) 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EDA2A-9825-4CA7-B70D-4625DBA458A2}"/>
              </a:ext>
            </a:extLst>
          </p:cNvPr>
          <p:cNvSpPr>
            <a:spLocks noGrp="1"/>
          </p:cNvSpPr>
          <p:nvPr/>
        </p:nvSpPr>
        <p:spPr>
          <a:xfrm>
            <a:off x="5524500" y="242887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654A"/>
                </a:solidFill>
              </a:defRPr>
            </a:lvl1pPr>
            <a:lvl2pPr algn="ctr">
              <a:buNone/>
              <a:defRPr sz="1200" b="1">
                <a:solidFill>
                  <a:srgbClr val="FF654A"/>
                </a:solidFill>
              </a:defRPr>
            </a:lvl2pPr>
            <a:lvl3pPr algn="ctr">
              <a:buNone/>
              <a:defRPr sz="1200" b="1">
                <a:solidFill>
                  <a:srgbClr val="FF654A"/>
                </a:solidFill>
              </a:defRPr>
            </a:lvl3pPr>
            <a:lvl4pPr algn="ctr">
              <a:buNone/>
              <a:defRPr sz="1200" b="1">
                <a:solidFill>
                  <a:srgbClr val="FF654A"/>
                </a:solidFill>
              </a:defRPr>
            </a:lvl4pPr>
            <a:lvl5pPr algn="ctr">
              <a:buNone/>
              <a:defRPr sz="1200" b="1">
                <a:solidFill>
                  <a:srgbClr val="FF654A"/>
                </a:solidFill>
              </a:defRPr>
            </a:lvl5pPr>
            <a:lvl6pPr algn="ctr">
              <a:buNone/>
              <a:defRPr sz="1200" b="1">
                <a:solidFill>
                  <a:srgbClr val="FF654A"/>
                </a:solidFill>
              </a:defRPr>
            </a:lvl6pPr>
            <a:lvl7pPr algn="ctr">
              <a:buNone/>
              <a:defRPr sz="1200" b="1">
                <a:solidFill>
                  <a:srgbClr val="FF654A"/>
                </a:solidFill>
              </a:defRPr>
            </a:lvl7pPr>
            <a:lvl8pPr algn="ctr">
              <a:buNone/>
              <a:defRPr sz="1200" b="1">
                <a:solidFill>
                  <a:srgbClr val="FF654A"/>
                </a:solidFill>
              </a:defRPr>
            </a:lvl8pPr>
            <a:lvl9pPr algn="ctr">
              <a:buNone/>
              <a:defRPr sz="1200" b="1">
                <a:solidFill>
                  <a:srgbClr val="FF654A"/>
                </a:solidFill>
              </a:defRPr>
            </a:lvl9pPr>
          </a:lstStyle>
          <a:p>
            <a:pPr algn="ctr">
              <a:buNone/>
              <a:defRPr sz="1200" b="1">
                <a:solidFill>
                  <a:srgbClr val="FF654A"/>
                </a:solidFill>
              </a:defRPr>
            </a:pPr>
            <a:r>
              <a:rPr sz="1500" b="1">
                <a:solidFill>
                  <a:srgbClr val="FF654A"/>
                </a:solidFill>
              </a:rPr>
              <a:t>g ∈ 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C8BF8F3-C767-4389-B111-F00E1446FFCE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24574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56FA3A-5E40-47F2-9D94-A35C91809F4E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7625" cy="14287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C43500-5E01-4829-9C0F-1AAADCFD4A4F}"/>
              </a:ext>
            </a:extLst>
          </p:cNvPr>
          <p:cNvSpPr>
            <a:spLocks noGrp="1"/>
          </p:cNvSpPr>
          <p:nvPr/>
        </p:nvSpPr>
        <p:spPr>
          <a:xfrm>
            <a:off x="857250" y="3276600"/>
            <a:ext cx="2133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f̂  Kara kutu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EBF46A-07B3-464F-85B9-148E20AD2A37}"/>
              </a:ext>
            </a:extLst>
          </p:cNvPr>
          <p:cNvSpPr>
            <a:spLocks noGrp="1"/>
          </p:cNvSpPr>
          <p:nvPr/>
        </p:nvSpPr>
        <p:spPr>
          <a:xfrm>
            <a:off x="857250" y="3571875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Açıklanmak istenen model. Parametreleri bilinmek zorunda değildir.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2FCF790-214D-4306-AEA6-609B7D0726E5}"/>
              </a:ext>
            </a:extLst>
          </p:cNvPr>
          <p:cNvSpPr>
            <a:spLocks noGrp="1"/>
          </p:cNvSpPr>
          <p:nvPr/>
        </p:nvSpPr>
        <p:spPr>
          <a:xfrm>
            <a:off x="3371850" y="3143250"/>
            <a:ext cx="24574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4F0CBA-1DBA-413E-A647-DACCEA53E0BB}"/>
              </a:ext>
            </a:extLst>
          </p:cNvPr>
          <p:cNvSpPr>
            <a:spLocks noGrp="1"/>
          </p:cNvSpPr>
          <p:nvPr/>
        </p:nvSpPr>
        <p:spPr>
          <a:xfrm>
            <a:off x="3371850" y="3143250"/>
            <a:ext cx="47625" cy="142875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175482-001C-48E2-91D5-04D8B45A645E}"/>
              </a:ext>
            </a:extLst>
          </p:cNvPr>
          <p:cNvSpPr>
            <a:spLocks noGrp="1"/>
          </p:cNvSpPr>
          <p:nvPr/>
        </p:nvSpPr>
        <p:spPr>
          <a:xfrm>
            <a:off x="3543300" y="3276600"/>
            <a:ext cx="2133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g  Yerel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AAC18A-9667-4F33-B12A-C6B20CECF84A}"/>
              </a:ext>
            </a:extLst>
          </p:cNvPr>
          <p:cNvSpPr>
            <a:spLocks noGrp="1"/>
          </p:cNvSpPr>
          <p:nvPr/>
        </p:nvSpPr>
        <p:spPr>
          <a:xfrm>
            <a:off x="3543300" y="3571875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Açıklama olarak kullanılan basit model.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D8C236B-A786-49F7-9B06-567A538D99B6}"/>
              </a:ext>
            </a:extLst>
          </p:cNvPr>
          <p:cNvSpPr>
            <a:spLocks noGrp="1"/>
          </p:cNvSpPr>
          <p:nvPr/>
        </p:nvSpPr>
        <p:spPr>
          <a:xfrm>
            <a:off x="6057900" y="3143250"/>
            <a:ext cx="24574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CC13F7-1A08-474B-9577-201F62FACC6E}"/>
              </a:ext>
            </a:extLst>
          </p:cNvPr>
          <p:cNvSpPr>
            <a:spLocks noGrp="1"/>
          </p:cNvSpPr>
          <p:nvPr/>
        </p:nvSpPr>
        <p:spPr>
          <a:xfrm>
            <a:off x="6057900" y="3143250"/>
            <a:ext cx="47625" cy="1428750"/>
          </a:xfrm>
          <a:prstGeom prst="rect">
            <a:avLst/>
          </a:prstGeom>
          <a:solidFill>
            <a:srgbClr val="F5C84B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317322-A64F-423D-BCF9-3C9A58B7146E}"/>
              </a:ext>
            </a:extLst>
          </p:cNvPr>
          <p:cNvSpPr>
            <a:spLocks noGrp="1"/>
          </p:cNvSpPr>
          <p:nvPr/>
        </p:nvSpPr>
        <p:spPr>
          <a:xfrm>
            <a:off x="6229350" y="3276600"/>
            <a:ext cx="2133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πₓ  Yakınlık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126D3D-2FC9-4C2E-AA0A-A33451FD5284}"/>
              </a:ext>
            </a:extLst>
          </p:cNvPr>
          <p:cNvSpPr>
            <a:spLocks noGrp="1"/>
          </p:cNvSpPr>
          <p:nvPr/>
        </p:nvSpPr>
        <p:spPr>
          <a:xfrm>
            <a:off x="6229350" y="3571875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Sentetik örneklerin x’e göre ağırlığı.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832605D-BE06-4A6E-8EB3-7F4BBA08E646}"/>
              </a:ext>
            </a:extLst>
          </p:cNvPr>
          <p:cNvSpPr>
            <a:spLocks noGrp="1"/>
          </p:cNvSpPr>
          <p:nvPr/>
        </p:nvSpPr>
        <p:spPr>
          <a:xfrm>
            <a:off x="8743950" y="3143250"/>
            <a:ext cx="2762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53F91C-DF7F-4AB7-B6DD-EE57DDC8D044}"/>
              </a:ext>
            </a:extLst>
          </p:cNvPr>
          <p:cNvSpPr>
            <a:spLocks noGrp="1"/>
          </p:cNvSpPr>
          <p:nvPr/>
        </p:nvSpPr>
        <p:spPr>
          <a:xfrm>
            <a:off x="8743950" y="3143250"/>
            <a:ext cx="47625" cy="142875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0F03B6-73DA-4E52-AD25-C89708B32F43}"/>
              </a:ext>
            </a:extLst>
          </p:cNvPr>
          <p:cNvSpPr>
            <a:spLocks noGrp="1"/>
          </p:cNvSpPr>
          <p:nvPr/>
        </p:nvSpPr>
        <p:spPr>
          <a:xfrm>
            <a:off x="8915400" y="3276600"/>
            <a:ext cx="2438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L ve Ω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5E31FA-2F8E-45C9-9482-4A083DD67758}"/>
              </a:ext>
            </a:extLst>
          </p:cNvPr>
          <p:cNvSpPr>
            <a:spLocks noGrp="1"/>
          </p:cNvSpPr>
          <p:nvPr/>
        </p:nvSpPr>
        <p:spPr>
          <a:xfrm>
            <a:off x="8915400" y="3571875"/>
            <a:ext cx="24384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Yerel uyumsuzluk ile açıklama karmaşıklığı.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D67B89-7F1A-489A-BD8F-25736D7E05F3}"/>
              </a:ext>
            </a:extLst>
          </p:cNvPr>
          <p:cNvSpPr>
            <a:spLocks noGrp="1"/>
          </p:cNvSpPr>
          <p:nvPr/>
        </p:nvSpPr>
        <p:spPr>
          <a:xfrm>
            <a:off x="1485900" y="5334000"/>
            <a:ext cx="9220200" cy="342900"/>
          </a:xfrm>
          <a:prstGeom prst="rect">
            <a:avLst/>
          </a:prstGeom>
          <a:solidFill>
            <a:srgbClr val="E8EEEE"/>
          </a:solidFill>
          <a:ln w="9525">
            <a:solidFill>
              <a:srgbClr val="E8EEE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F9DA16-2BD8-4DC4-A8E4-80CE84768BD4}"/>
              </a:ext>
            </a:extLst>
          </p:cNvPr>
          <p:cNvSpPr>
            <a:spLocks noGrp="1"/>
          </p:cNvSpPr>
          <p:nvPr/>
        </p:nvSpPr>
        <p:spPr>
          <a:xfrm>
            <a:off x="1638300" y="5372100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1">
                <a:solidFill>
                  <a:srgbClr val="1F3038"/>
                </a:solidFill>
              </a:defRPr>
            </a:lvl1pPr>
            <a:lvl2pPr algn="ctr">
              <a:buNone/>
              <a:defRPr sz="975" b="1">
                <a:solidFill>
                  <a:srgbClr val="1F3038"/>
                </a:solidFill>
              </a:defRPr>
            </a:lvl2pPr>
            <a:lvl3pPr algn="ctr">
              <a:buNone/>
              <a:defRPr sz="975" b="1">
                <a:solidFill>
                  <a:srgbClr val="1F3038"/>
                </a:solidFill>
              </a:defRPr>
            </a:lvl3pPr>
            <a:lvl4pPr algn="ctr">
              <a:buNone/>
              <a:defRPr sz="975" b="1">
                <a:solidFill>
                  <a:srgbClr val="1F3038"/>
                </a:solidFill>
              </a:defRPr>
            </a:lvl4pPr>
            <a:lvl5pPr algn="ctr">
              <a:buNone/>
              <a:defRPr sz="975" b="1">
                <a:solidFill>
                  <a:srgbClr val="1F3038"/>
                </a:solidFill>
              </a:defRPr>
            </a:lvl5pPr>
            <a:lvl6pPr algn="ctr">
              <a:buNone/>
              <a:defRPr sz="975" b="1">
                <a:solidFill>
                  <a:srgbClr val="1F3038"/>
                </a:solidFill>
              </a:defRPr>
            </a:lvl6pPr>
            <a:lvl7pPr algn="ctr">
              <a:buNone/>
              <a:defRPr sz="975" b="1">
                <a:solidFill>
                  <a:srgbClr val="1F3038"/>
                </a:solidFill>
              </a:defRPr>
            </a:lvl7pPr>
            <a:lvl8pPr algn="ctr">
              <a:buNone/>
              <a:defRPr sz="975" b="1">
                <a:solidFill>
                  <a:srgbClr val="1F3038"/>
                </a:solidFill>
              </a:defRPr>
            </a:lvl8pPr>
            <a:lvl9pPr algn="ctr">
              <a:buNone/>
              <a:defRPr sz="97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97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Pratikte kullanıcı, azami özellik sayısı gibi bir karmaşıklık düzeyi seçer.</a:t>
            </a:r>
          </a:p>
        </p:txBody>
      </p:sp>
    </p:spTree>
    <p:extLst>
      <p:ext uri="{BB962C8B-B14F-4D97-AF65-F5344CB8AC3E}">
        <p14:creationId xmlns:p14="http://schemas.microsoft.com/office/powerpoint/2010/main" val="56156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1567787-EC71-4AA8-B697-D1D3D08CEE8E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3665A3-69B1-45A9-8DC1-A10D8DEB6A7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LIME algoritmasının altı adımı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779809-956C-4FC1-AF94-D9D1732F3D14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279482-F919-4973-89C5-7D94B0E06DD8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6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12DE367-140A-426D-B7D0-3B40FF07D491}"/>
              </a:ext>
            </a:extLst>
          </p:cNvPr>
          <p:cNvSpPr>
            <a:spLocks noGrp="1"/>
          </p:cNvSpPr>
          <p:nvPr/>
        </p:nvSpPr>
        <p:spPr>
          <a:xfrm>
            <a:off x="819150" y="2314575"/>
            <a:ext cx="1524000" cy="1619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3271CD-5F44-4E76-A517-22A03DF9A0F9}"/>
              </a:ext>
            </a:extLst>
          </p:cNvPr>
          <p:cNvSpPr>
            <a:spLocks noGrp="1"/>
          </p:cNvSpPr>
          <p:nvPr/>
        </p:nvSpPr>
        <p:spPr>
          <a:xfrm>
            <a:off x="1314450" y="2466975"/>
            <a:ext cx="533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2100" b="1">
                <a:solidFill>
                  <a:srgbClr val="1F3038"/>
                </a:solidFill>
              </a:defRPr>
            </a:lvl1pPr>
            <a:lvl2pPr algn="ctr">
              <a:buNone/>
              <a:defRPr sz="2100" b="1">
                <a:solidFill>
                  <a:srgbClr val="1F3038"/>
                </a:solidFill>
              </a:defRPr>
            </a:lvl2pPr>
            <a:lvl3pPr algn="ctr">
              <a:buNone/>
              <a:defRPr sz="2100" b="1">
                <a:solidFill>
                  <a:srgbClr val="1F3038"/>
                </a:solidFill>
              </a:defRPr>
            </a:lvl3pPr>
            <a:lvl4pPr algn="ctr">
              <a:buNone/>
              <a:defRPr sz="2100" b="1">
                <a:solidFill>
                  <a:srgbClr val="1F3038"/>
                </a:solidFill>
              </a:defRPr>
            </a:lvl4pPr>
            <a:lvl5pPr algn="ctr">
              <a:buNone/>
              <a:defRPr sz="2100" b="1">
                <a:solidFill>
                  <a:srgbClr val="1F3038"/>
                </a:solidFill>
              </a:defRPr>
            </a:lvl5pPr>
            <a:lvl6pPr algn="ctr">
              <a:buNone/>
              <a:defRPr sz="2100" b="1">
                <a:solidFill>
                  <a:srgbClr val="1F3038"/>
                </a:solidFill>
              </a:defRPr>
            </a:lvl6pPr>
            <a:lvl7pPr algn="ctr">
              <a:buNone/>
              <a:defRPr sz="2100" b="1">
                <a:solidFill>
                  <a:srgbClr val="1F3038"/>
                </a:solidFill>
              </a:defRPr>
            </a:lvl7pPr>
            <a:lvl8pPr algn="ctr">
              <a:buNone/>
              <a:defRPr sz="2100" b="1">
                <a:solidFill>
                  <a:srgbClr val="1F3038"/>
                </a:solidFill>
              </a:defRPr>
            </a:lvl8pPr>
            <a:lvl9pPr algn="ctr">
              <a:buNone/>
              <a:defRPr sz="2100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2100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BD5ADF-0532-4B1B-B4A4-0C73D118B704}"/>
              </a:ext>
            </a:extLst>
          </p:cNvPr>
          <p:cNvSpPr>
            <a:spLocks noGrp="1"/>
          </p:cNvSpPr>
          <p:nvPr/>
        </p:nvSpPr>
        <p:spPr>
          <a:xfrm>
            <a:off x="952500" y="3038475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125" b="1">
                <a:solidFill>
                  <a:srgbClr val="1F3038"/>
                </a:solidFill>
              </a:defRPr>
            </a:lvl1pPr>
            <a:lvl2pPr algn="ctr">
              <a:buNone/>
              <a:defRPr sz="1125" b="1">
                <a:solidFill>
                  <a:srgbClr val="1F3038"/>
                </a:solidFill>
              </a:defRPr>
            </a:lvl2pPr>
            <a:lvl3pPr algn="ctr">
              <a:buNone/>
              <a:defRPr sz="1125" b="1">
                <a:solidFill>
                  <a:srgbClr val="1F3038"/>
                </a:solidFill>
              </a:defRPr>
            </a:lvl3pPr>
            <a:lvl4pPr algn="ctr">
              <a:buNone/>
              <a:defRPr sz="1125" b="1">
                <a:solidFill>
                  <a:srgbClr val="1F3038"/>
                </a:solidFill>
              </a:defRPr>
            </a:lvl4pPr>
            <a:lvl5pPr algn="ctr">
              <a:buNone/>
              <a:defRPr sz="1125" b="1">
                <a:solidFill>
                  <a:srgbClr val="1F3038"/>
                </a:solidFill>
              </a:defRPr>
            </a:lvl5pPr>
            <a:lvl6pPr algn="ctr">
              <a:buNone/>
              <a:defRPr sz="1125" b="1">
                <a:solidFill>
                  <a:srgbClr val="1F3038"/>
                </a:solidFill>
              </a:defRPr>
            </a:lvl6pPr>
            <a:lvl7pPr algn="ctr">
              <a:buNone/>
              <a:defRPr sz="1125" b="1">
                <a:solidFill>
                  <a:srgbClr val="1F3038"/>
                </a:solidFill>
              </a:defRPr>
            </a:lvl7pPr>
            <a:lvl8pPr algn="ctr">
              <a:buNone/>
              <a:defRPr sz="1125" b="1">
                <a:solidFill>
                  <a:srgbClr val="1F3038"/>
                </a:solidFill>
              </a:defRPr>
            </a:lvl8pPr>
            <a:lvl9pPr algn="ctr">
              <a:buNone/>
              <a:defRPr sz="112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112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Örneği seç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B8D00-CF81-4F2E-93D1-205DB6633609}"/>
              </a:ext>
            </a:extLst>
          </p:cNvPr>
          <p:cNvSpPr>
            <a:spLocks noGrp="1"/>
          </p:cNvSpPr>
          <p:nvPr/>
        </p:nvSpPr>
        <p:spPr>
          <a:xfrm>
            <a:off x="2381250" y="2847975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2100" b="1">
                <a:solidFill>
                  <a:srgbClr val="FF654A"/>
                </a:solidFill>
              </a:defRPr>
            </a:lvl1pPr>
            <a:lvl2pPr algn="ctr">
              <a:buNone/>
              <a:defRPr sz="2100" b="1">
                <a:solidFill>
                  <a:srgbClr val="FF654A"/>
                </a:solidFill>
              </a:defRPr>
            </a:lvl2pPr>
            <a:lvl3pPr algn="ctr">
              <a:buNone/>
              <a:defRPr sz="2100" b="1">
                <a:solidFill>
                  <a:srgbClr val="FF654A"/>
                </a:solidFill>
              </a:defRPr>
            </a:lvl3pPr>
            <a:lvl4pPr algn="ctr">
              <a:buNone/>
              <a:defRPr sz="2100" b="1">
                <a:solidFill>
                  <a:srgbClr val="FF654A"/>
                </a:solidFill>
              </a:defRPr>
            </a:lvl4pPr>
            <a:lvl5pPr algn="ctr">
              <a:buNone/>
              <a:defRPr sz="2100" b="1">
                <a:solidFill>
                  <a:srgbClr val="FF654A"/>
                </a:solidFill>
              </a:defRPr>
            </a:lvl5pPr>
            <a:lvl6pPr algn="ctr">
              <a:buNone/>
              <a:defRPr sz="2100" b="1">
                <a:solidFill>
                  <a:srgbClr val="FF654A"/>
                </a:solidFill>
              </a:defRPr>
            </a:lvl6pPr>
            <a:lvl7pPr algn="ctr">
              <a:buNone/>
              <a:defRPr sz="2100" b="1">
                <a:solidFill>
                  <a:srgbClr val="FF654A"/>
                </a:solidFill>
              </a:defRPr>
            </a:lvl7pPr>
            <a:lvl8pPr algn="ctr">
              <a:buNone/>
              <a:defRPr sz="2100" b="1">
                <a:solidFill>
                  <a:srgbClr val="FF654A"/>
                </a:solidFill>
              </a:defRPr>
            </a:lvl8pPr>
            <a:lvl9pPr algn="ctr">
              <a:buNone/>
              <a:defRPr sz="2100" b="1">
                <a:solidFill>
                  <a:srgbClr val="FF654A"/>
                </a:solidFill>
              </a:defRPr>
            </a:lvl9pPr>
          </a:lstStyle>
          <a:p>
            <a:pPr algn="ctr">
              <a:buNone/>
              <a:defRPr sz="2100" b="1">
                <a:solidFill>
                  <a:srgbClr val="FF654A"/>
                </a:solidFill>
              </a:defRPr>
            </a:pPr>
            <a:r>
              <a:rPr sz="2100" b="1">
                <a:solidFill>
                  <a:srgbClr val="FF654A"/>
                </a:solidFill>
              </a:rPr>
              <a:t>›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905EAB9-4D3C-4527-9EF3-28C08883A814}"/>
              </a:ext>
            </a:extLst>
          </p:cNvPr>
          <p:cNvSpPr>
            <a:spLocks noGrp="1"/>
          </p:cNvSpPr>
          <p:nvPr/>
        </p:nvSpPr>
        <p:spPr>
          <a:xfrm>
            <a:off x="2609850" y="2314575"/>
            <a:ext cx="1524000" cy="1619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E14909-016C-48C7-B5D7-BF155585B2B4}"/>
              </a:ext>
            </a:extLst>
          </p:cNvPr>
          <p:cNvSpPr>
            <a:spLocks noGrp="1"/>
          </p:cNvSpPr>
          <p:nvPr/>
        </p:nvSpPr>
        <p:spPr>
          <a:xfrm>
            <a:off x="3105150" y="2466975"/>
            <a:ext cx="533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2100" b="1">
                <a:solidFill>
                  <a:srgbClr val="1F3038"/>
                </a:solidFill>
              </a:defRPr>
            </a:lvl1pPr>
            <a:lvl2pPr algn="ctr">
              <a:buNone/>
              <a:defRPr sz="2100" b="1">
                <a:solidFill>
                  <a:srgbClr val="1F3038"/>
                </a:solidFill>
              </a:defRPr>
            </a:lvl2pPr>
            <a:lvl3pPr algn="ctr">
              <a:buNone/>
              <a:defRPr sz="2100" b="1">
                <a:solidFill>
                  <a:srgbClr val="1F3038"/>
                </a:solidFill>
              </a:defRPr>
            </a:lvl3pPr>
            <a:lvl4pPr algn="ctr">
              <a:buNone/>
              <a:defRPr sz="2100" b="1">
                <a:solidFill>
                  <a:srgbClr val="1F3038"/>
                </a:solidFill>
              </a:defRPr>
            </a:lvl4pPr>
            <a:lvl5pPr algn="ctr">
              <a:buNone/>
              <a:defRPr sz="2100" b="1">
                <a:solidFill>
                  <a:srgbClr val="1F3038"/>
                </a:solidFill>
              </a:defRPr>
            </a:lvl5pPr>
            <a:lvl6pPr algn="ctr">
              <a:buNone/>
              <a:defRPr sz="2100" b="1">
                <a:solidFill>
                  <a:srgbClr val="1F3038"/>
                </a:solidFill>
              </a:defRPr>
            </a:lvl6pPr>
            <a:lvl7pPr algn="ctr">
              <a:buNone/>
              <a:defRPr sz="2100" b="1">
                <a:solidFill>
                  <a:srgbClr val="1F3038"/>
                </a:solidFill>
              </a:defRPr>
            </a:lvl7pPr>
            <a:lvl8pPr algn="ctr">
              <a:buNone/>
              <a:defRPr sz="2100" b="1">
                <a:solidFill>
                  <a:srgbClr val="1F3038"/>
                </a:solidFill>
              </a:defRPr>
            </a:lvl8pPr>
            <a:lvl9pPr algn="ctr">
              <a:buNone/>
              <a:defRPr sz="2100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2100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A3CBBA-D8ED-45A0-B10D-8EA3B0C596D2}"/>
              </a:ext>
            </a:extLst>
          </p:cNvPr>
          <p:cNvSpPr>
            <a:spLocks noGrp="1"/>
          </p:cNvSpPr>
          <p:nvPr/>
        </p:nvSpPr>
        <p:spPr>
          <a:xfrm>
            <a:off x="2743200" y="3038475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125" b="1">
                <a:solidFill>
                  <a:srgbClr val="1F3038"/>
                </a:solidFill>
              </a:defRPr>
            </a:lvl1pPr>
            <a:lvl2pPr algn="ctr">
              <a:buNone/>
              <a:defRPr sz="1125" b="1">
                <a:solidFill>
                  <a:srgbClr val="1F3038"/>
                </a:solidFill>
              </a:defRPr>
            </a:lvl2pPr>
            <a:lvl3pPr algn="ctr">
              <a:buNone/>
              <a:defRPr sz="1125" b="1">
                <a:solidFill>
                  <a:srgbClr val="1F3038"/>
                </a:solidFill>
              </a:defRPr>
            </a:lvl3pPr>
            <a:lvl4pPr algn="ctr">
              <a:buNone/>
              <a:defRPr sz="1125" b="1">
                <a:solidFill>
                  <a:srgbClr val="1F3038"/>
                </a:solidFill>
              </a:defRPr>
            </a:lvl4pPr>
            <a:lvl5pPr algn="ctr">
              <a:buNone/>
              <a:defRPr sz="1125" b="1">
                <a:solidFill>
                  <a:srgbClr val="1F3038"/>
                </a:solidFill>
              </a:defRPr>
            </a:lvl5pPr>
            <a:lvl6pPr algn="ctr">
              <a:buNone/>
              <a:defRPr sz="1125" b="1">
                <a:solidFill>
                  <a:srgbClr val="1F3038"/>
                </a:solidFill>
              </a:defRPr>
            </a:lvl6pPr>
            <a:lvl7pPr algn="ctr">
              <a:buNone/>
              <a:defRPr sz="1125" b="1">
                <a:solidFill>
                  <a:srgbClr val="1F3038"/>
                </a:solidFill>
              </a:defRPr>
            </a:lvl7pPr>
            <a:lvl8pPr algn="ctr">
              <a:buNone/>
              <a:defRPr sz="1125" b="1">
                <a:solidFill>
                  <a:srgbClr val="1F3038"/>
                </a:solidFill>
              </a:defRPr>
            </a:lvl8pPr>
            <a:lvl9pPr algn="ctr">
              <a:buNone/>
              <a:defRPr sz="112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112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Varyasyon üret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F3B2DF-08BA-4A92-A299-7CB1CC0FF22E}"/>
              </a:ext>
            </a:extLst>
          </p:cNvPr>
          <p:cNvSpPr>
            <a:spLocks noGrp="1"/>
          </p:cNvSpPr>
          <p:nvPr/>
        </p:nvSpPr>
        <p:spPr>
          <a:xfrm>
            <a:off x="4171950" y="2847975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2100" b="1">
                <a:solidFill>
                  <a:srgbClr val="FF654A"/>
                </a:solidFill>
              </a:defRPr>
            </a:lvl1pPr>
            <a:lvl2pPr algn="ctr">
              <a:buNone/>
              <a:defRPr sz="2100" b="1">
                <a:solidFill>
                  <a:srgbClr val="FF654A"/>
                </a:solidFill>
              </a:defRPr>
            </a:lvl2pPr>
            <a:lvl3pPr algn="ctr">
              <a:buNone/>
              <a:defRPr sz="2100" b="1">
                <a:solidFill>
                  <a:srgbClr val="FF654A"/>
                </a:solidFill>
              </a:defRPr>
            </a:lvl3pPr>
            <a:lvl4pPr algn="ctr">
              <a:buNone/>
              <a:defRPr sz="2100" b="1">
                <a:solidFill>
                  <a:srgbClr val="FF654A"/>
                </a:solidFill>
              </a:defRPr>
            </a:lvl4pPr>
            <a:lvl5pPr algn="ctr">
              <a:buNone/>
              <a:defRPr sz="2100" b="1">
                <a:solidFill>
                  <a:srgbClr val="FF654A"/>
                </a:solidFill>
              </a:defRPr>
            </a:lvl5pPr>
            <a:lvl6pPr algn="ctr">
              <a:buNone/>
              <a:defRPr sz="2100" b="1">
                <a:solidFill>
                  <a:srgbClr val="FF654A"/>
                </a:solidFill>
              </a:defRPr>
            </a:lvl6pPr>
            <a:lvl7pPr algn="ctr">
              <a:buNone/>
              <a:defRPr sz="2100" b="1">
                <a:solidFill>
                  <a:srgbClr val="FF654A"/>
                </a:solidFill>
              </a:defRPr>
            </a:lvl7pPr>
            <a:lvl8pPr algn="ctr">
              <a:buNone/>
              <a:defRPr sz="2100" b="1">
                <a:solidFill>
                  <a:srgbClr val="FF654A"/>
                </a:solidFill>
              </a:defRPr>
            </a:lvl8pPr>
            <a:lvl9pPr algn="ctr">
              <a:buNone/>
              <a:defRPr sz="2100" b="1">
                <a:solidFill>
                  <a:srgbClr val="FF654A"/>
                </a:solidFill>
              </a:defRPr>
            </a:lvl9pPr>
          </a:lstStyle>
          <a:p>
            <a:pPr algn="ctr">
              <a:buNone/>
              <a:defRPr sz="2100" b="1">
                <a:solidFill>
                  <a:srgbClr val="FF654A"/>
                </a:solidFill>
              </a:defRPr>
            </a:pPr>
            <a:r>
              <a:rPr sz="2100" b="1">
                <a:solidFill>
                  <a:srgbClr val="FF654A"/>
                </a:solidFill>
              </a:rPr>
              <a:t>›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8DB0876-8B1B-43B9-8185-D09F994A54F3}"/>
              </a:ext>
            </a:extLst>
          </p:cNvPr>
          <p:cNvSpPr>
            <a:spLocks noGrp="1"/>
          </p:cNvSpPr>
          <p:nvPr/>
        </p:nvSpPr>
        <p:spPr>
          <a:xfrm>
            <a:off x="4400550" y="2314575"/>
            <a:ext cx="1524000" cy="1619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255DC0-3F46-4C59-B777-6048906784B0}"/>
              </a:ext>
            </a:extLst>
          </p:cNvPr>
          <p:cNvSpPr>
            <a:spLocks noGrp="1"/>
          </p:cNvSpPr>
          <p:nvPr/>
        </p:nvSpPr>
        <p:spPr>
          <a:xfrm>
            <a:off x="4895850" y="2466975"/>
            <a:ext cx="533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2100" b="1">
                <a:solidFill>
                  <a:srgbClr val="1F3038"/>
                </a:solidFill>
              </a:defRPr>
            </a:lvl1pPr>
            <a:lvl2pPr algn="ctr">
              <a:buNone/>
              <a:defRPr sz="2100" b="1">
                <a:solidFill>
                  <a:srgbClr val="1F3038"/>
                </a:solidFill>
              </a:defRPr>
            </a:lvl2pPr>
            <a:lvl3pPr algn="ctr">
              <a:buNone/>
              <a:defRPr sz="2100" b="1">
                <a:solidFill>
                  <a:srgbClr val="1F3038"/>
                </a:solidFill>
              </a:defRPr>
            </a:lvl3pPr>
            <a:lvl4pPr algn="ctr">
              <a:buNone/>
              <a:defRPr sz="2100" b="1">
                <a:solidFill>
                  <a:srgbClr val="1F3038"/>
                </a:solidFill>
              </a:defRPr>
            </a:lvl4pPr>
            <a:lvl5pPr algn="ctr">
              <a:buNone/>
              <a:defRPr sz="2100" b="1">
                <a:solidFill>
                  <a:srgbClr val="1F3038"/>
                </a:solidFill>
              </a:defRPr>
            </a:lvl5pPr>
            <a:lvl6pPr algn="ctr">
              <a:buNone/>
              <a:defRPr sz="2100" b="1">
                <a:solidFill>
                  <a:srgbClr val="1F3038"/>
                </a:solidFill>
              </a:defRPr>
            </a:lvl6pPr>
            <a:lvl7pPr algn="ctr">
              <a:buNone/>
              <a:defRPr sz="2100" b="1">
                <a:solidFill>
                  <a:srgbClr val="1F3038"/>
                </a:solidFill>
              </a:defRPr>
            </a:lvl7pPr>
            <a:lvl8pPr algn="ctr">
              <a:buNone/>
              <a:defRPr sz="2100" b="1">
                <a:solidFill>
                  <a:srgbClr val="1F3038"/>
                </a:solidFill>
              </a:defRPr>
            </a:lvl8pPr>
            <a:lvl9pPr algn="ctr">
              <a:buNone/>
              <a:defRPr sz="2100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2100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3EECB3-9CE8-48AE-9935-668D40831C5C}"/>
              </a:ext>
            </a:extLst>
          </p:cNvPr>
          <p:cNvSpPr>
            <a:spLocks noGrp="1"/>
          </p:cNvSpPr>
          <p:nvPr/>
        </p:nvSpPr>
        <p:spPr>
          <a:xfrm>
            <a:off x="4533900" y="3038475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125" b="1">
                <a:solidFill>
                  <a:srgbClr val="1F3038"/>
                </a:solidFill>
              </a:defRPr>
            </a:lvl1pPr>
            <a:lvl2pPr algn="ctr">
              <a:buNone/>
              <a:defRPr sz="1125" b="1">
                <a:solidFill>
                  <a:srgbClr val="1F3038"/>
                </a:solidFill>
              </a:defRPr>
            </a:lvl2pPr>
            <a:lvl3pPr algn="ctr">
              <a:buNone/>
              <a:defRPr sz="1125" b="1">
                <a:solidFill>
                  <a:srgbClr val="1F3038"/>
                </a:solidFill>
              </a:defRPr>
            </a:lvl3pPr>
            <a:lvl4pPr algn="ctr">
              <a:buNone/>
              <a:defRPr sz="1125" b="1">
                <a:solidFill>
                  <a:srgbClr val="1F3038"/>
                </a:solidFill>
              </a:defRPr>
            </a:lvl4pPr>
            <a:lvl5pPr algn="ctr">
              <a:buNone/>
              <a:defRPr sz="1125" b="1">
                <a:solidFill>
                  <a:srgbClr val="1F3038"/>
                </a:solidFill>
              </a:defRPr>
            </a:lvl5pPr>
            <a:lvl6pPr algn="ctr">
              <a:buNone/>
              <a:defRPr sz="1125" b="1">
                <a:solidFill>
                  <a:srgbClr val="1F3038"/>
                </a:solidFill>
              </a:defRPr>
            </a:lvl6pPr>
            <a:lvl7pPr algn="ctr">
              <a:buNone/>
              <a:defRPr sz="1125" b="1">
                <a:solidFill>
                  <a:srgbClr val="1F3038"/>
                </a:solidFill>
              </a:defRPr>
            </a:lvl7pPr>
            <a:lvl8pPr algn="ctr">
              <a:buNone/>
              <a:defRPr sz="1125" b="1">
                <a:solidFill>
                  <a:srgbClr val="1F3038"/>
                </a:solidFill>
              </a:defRPr>
            </a:lvl8pPr>
            <a:lvl9pPr algn="ctr">
              <a:buNone/>
              <a:defRPr sz="112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112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Kara kutuya sor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9550E2-668F-4A7B-B492-0CA5E632D4C2}"/>
              </a:ext>
            </a:extLst>
          </p:cNvPr>
          <p:cNvSpPr>
            <a:spLocks noGrp="1"/>
          </p:cNvSpPr>
          <p:nvPr/>
        </p:nvSpPr>
        <p:spPr>
          <a:xfrm>
            <a:off x="5962650" y="2847975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2100" b="1">
                <a:solidFill>
                  <a:srgbClr val="FF654A"/>
                </a:solidFill>
              </a:defRPr>
            </a:lvl1pPr>
            <a:lvl2pPr algn="ctr">
              <a:buNone/>
              <a:defRPr sz="2100" b="1">
                <a:solidFill>
                  <a:srgbClr val="FF654A"/>
                </a:solidFill>
              </a:defRPr>
            </a:lvl2pPr>
            <a:lvl3pPr algn="ctr">
              <a:buNone/>
              <a:defRPr sz="2100" b="1">
                <a:solidFill>
                  <a:srgbClr val="FF654A"/>
                </a:solidFill>
              </a:defRPr>
            </a:lvl3pPr>
            <a:lvl4pPr algn="ctr">
              <a:buNone/>
              <a:defRPr sz="2100" b="1">
                <a:solidFill>
                  <a:srgbClr val="FF654A"/>
                </a:solidFill>
              </a:defRPr>
            </a:lvl4pPr>
            <a:lvl5pPr algn="ctr">
              <a:buNone/>
              <a:defRPr sz="2100" b="1">
                <a:solidFill>
                  <a:srgbClr val="FF654A"/>
                </a:solidFill>
              </a:defRPr>
            </a:lvl5pPr>
            <a:lvl6pPr algn="ctr">
              <a:buNone/>
              <a:defRPr sz="2100" b="1">
                <a:solidFill>
                  <a:srgbClr val="FF654A"/>
                </a:solidFill>
              </a:defRPr>
            </a:lvl6pPr>
            <a:lvl7pPr algn="ctr">
              <a:buNone/>
              <a:defRPr sz="2100" b="1">
                <a:solidFill>
                  <a:srgbClr val="FF654A"/>
                </a:solidFill>
              </a:defRPr>
            </a:lvl7pPr>
            <a:lvl8pPr algn="ctr">
              <a:buNone/>
              <a:defRPr sz="2100" b="1">
                <a:solidFill>
                  <a:srgbClr val="FF654A"/>
                </a:solidFill>
              </a:defRPr>
            </a:lvl8pPr>
            <a:lvl9pPr algn="ctr">
              <a:buNone/>
              <a:defRPr sz="2100" b="1">
                <a:solidFill>
                  <a:srgbClr val="FF654A"/>
                </a:solidFill>
              </a:defRPr>
            </a:lvl9pPr>
          </a:lstStyle>
          <a:p>
            <a:pPr algn="ctr">
              <a:buNone/>
              <a:defRPr sz="2100" b="1">
                <a:solidFill>
                  <a:srgbClr val="FF654A"/>
                </a:solidFill>
              </a:defRPr>
            </a:pPr>
            <a:r>
              <a:rPr sz="2100" b="1">
                <a:solidFill>
                  <a:srgbClr val="FF654A"/>
                </a:solidFill>
              </a:rPr>
              <a:t>›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5922C69-ADE5-4191-8E7B-42AEE4CD2D21}"/>
              </a:ext>
            </a:extLst>
          </p:cNvPr>
          <p:cNvSpPr>
            <a:spLocks noGrp="1"/>
          </p:cNvSpPr>
          <p:nvPr/>
        </p:nvSpPr>
        <p:spPr>
          <a:xfrm>
            <a:off x="6191250" y="2314575"/>
            <a:ext cx="1524000" cy="1619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5B86F2-08F6-46A9-8544-8587B2327D49}"/>
              </a:ext>
            </a:extLst>
          </p:cNvPr>
          <p:cNvSpPr>
            <a:spLocks noGrp="1"/>
          </p:cNvSpPr>
          <p:nvPr/>
        </p:nvSpPr>
        <p:spPr>
          <a:xfrm>
            <a:off x="6686550" y="2466975"/>
            <a:ext cx="533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2100" b="1">
                <a:solidFill>
                  <a:srgbClr val="1F3038"/>
                </a:solidFill>
              </a:defRPr>
            </a:lvl1pPr>
            <a:lvl2pPr algn="ctr">
              <a:buNone/>
              <a:defRPr sz="2100" b="1">
                <a:solidFill>
                  <a:srgbClr val="1F3038"/>
                </a:solidFill>
              </a:defRPr>
            </a:lvl2pPr>
            <a:lvl3pPr algn="ctr">
              <a:buNone/>
              <a:defRPr sz="2100" b="1">
                <a:solidFill>
                  <a:srgbClr val="1F3038"/>
                </a:solidFill>
              </a:defRPr>
            </a:lvl3pPr>
            <a:lvl4pPr algn="ctr">
              <a:buNone/>
              <a:defRPr sz="2100" b="1">
                <a:solidFill>
                  <a:srgbClr val="1F3038"/>
                </a:solidFill>
              </a:defRPr>
            </a:lvl4pPr>
            <a:lvl5pPr algn="ctr">
              <a:buNone/>
              <a:defRPr sz="2100" b="1">
                <a:solidFill>
                  <a:srgbClr val="1F3038"/>
                </a:solidFill>
              </a:defRPr>
            </a:lvl5pPr>
            <a:lvl6pPr algn="ctr">
              <a:buNone/>
              <a:defRPr sz="2100" b="1">
                <a:solidFill>
                  <a:srgbClr val="1F3038"/>
                </a:solidFill>
              </a:defRPr>
            </a:lvl6pPr>
            <a:lvl7pPr algn="ctr">
              <a:buNone/>
              <a:defRPr sz="2100" b="1">
                <a:solidFill>
                  <a:srgbClr val="1F3038"/>
                </a:solidFill>
              </a:defRPr>
            </a:lvl7pPr>
            <a:lvl8pPr algn="ctr">
              <a:buNone/>
              <a:defRPr sz="2100" b="1">
                <a:solidFill>
                  <a:srgbClr val="1F3038"/>
                </a:solidFill>
              </a:defRPr>
            </a:lvl8pPr>
            <a:lvl9pPr algn="ctr">
              <a:buNone/>
              <a:defRPr sz="2100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2100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6697B0-E3B9-45E7-A138-A7FEA5BD438E}"/>
              </a:ext>
            </a:extLst>
          </p:cNvPr>
          <p:cNvSpPr>
            <a:spLocks noGrp="1"/>
          </p:cNvSpPr>
          <p:nvPr/>
        </p:nvSpPr>
        <p:spPr>
          <a:xfrm>
            <a:off x="6324600" y="3038475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125" b="1">
                <a:solidFill>
                  <a:srgbClr val="1F3038"/>
                </a:solidFill>
              </a:defRPr>
            </a:lvl1pPr>
            <a:lvl2pPr algn="ctr">
              <a:buNone/>
              <a:defRPr sz="1125" b="1">
                <a:solidFill>
                  <a:srgbClr val="1F3038"/>
                </a:solidFill>
              </a:defRPr>
            </a:lvl2pPr>
            <a:lvl3pPr algn="ctr">
              <a:buNone/>
              <a:defRPr sz="1125" b="1">
                <a:solidFill>
                  <a:srgbClr val="1F3038"/>
                </a:solidFill>
              </a:defRPr>
            </a:lvl3pPr>
            <a:lvl4pPr algn="ctr">
              <a:buNone/>
              <a:defRPr sz="1125" b="1">
                <a:solidFill>
                  <a:srgbClr val="1F3038"/>
                </a:solidFill>
              </a:defRPr>
            </a:lvl4pPr>
            <a:lvl5pPr algn="ctr">
              <a:buNone/>
              <a:defRPr sz="1125" b="1">
                <a:solidFill>
                  <a:srgbClr val="1F3038"/>
                </a:solidFill>
              </a:defRPr>
            </a:lvl5pPr>
            <a:lvl6pPr algn="ctr">
              <a:buNone/>
              <a:defRPr sz="1125" b="1">
                <a:solidFill>
                  <a:srgbClr val="1F3038"/>
                </a:solidFill>
              </a:defRPr>
            </a:lvl6pPr>
            <a:lvl7pPr algn="ctr">
              <a:buNone/>
              <a:defRPr sz="1125" b="1">
                <a:solidFill>
                  <a:srgbClr val="1F3038"/>
                </a:solidFill>
              </a:defRPr>
            </a:lvl7pPr>
            <a:lvl8pPr algn="ctr">
              <a:buNone/>
              <a:defRPr sz="1125" b="1">
                <a:solidFill>
                  <a:srgbClr val="1F3038"/>
                </a:solidFill>
              </a:defRPr>
            </a:lvl8pPr>
            <a:lvl9pPr algn="ctr">
              <a:buNone/>
              <a:defRPr sz="112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112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Yakınlığa göre ağırlıklandır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E6C13B-5F5E-4023-9F6B-036D9A9F23FB}"/>
              </a:ext>
            </a:extLst>
          </p:cNvPr>
          <p:cNvSpPr>
            <a:spLocks noGrp="1"/>
          </p:cNvSpPr>
          <p:nvPr/>
        </p:nvSpPr>
        <p:spPr>
          <a:xfrm>
            <a:off x="7753350" y="2847975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2100" b="1">
                <a:solidFill>
                  <a:srgbClr val="FF654A"/>
                </a:solidFill>
              </a:defRPr>
            </a:lvl1pPr>
            <a:lvl2pPr algn="ctr">
              <a:buNone/>
              <a:defRPr sz="2100" b="1">
                <a:solidFill>
                  <a:srgbClr val="FF654A"/>
                </a:solidFill>
              </a:defRPr>
            </a:lvl2pPr>
            <a:lvl3pPr algn="ctr">
              <a:buNone/>
              <a:defRPr sz="2100" b="1">
                <a:solidFill>
                  <a:srgbClr val="FF654A"/>
                </a:solidFill>
              </a:defRPr>
            </a:lvl3pPr>
            <a:lvl4pPr algn="ctr">
              <a:buNone/>
              <a:defRPr sz="2100" b="1">
                <a:solidFill>
                  <a:srgbClr val="FF654A"/>
                </a:solidFill>
              </a:defRPr>
            </a:lvl4pPr>
            <a:lvl5pPr algn="ctr">
              <a:buNone/>
              <a:defRPr sz="2100" b="1">
                <a:solidFill>
                  <a:srgbClr val="FF654A"/>
                </a:solidFill>
              </a:defRPr>
            </a:lvl5pPr>
            <a:lvl6pPr algn="ctr">
              <a:buNone/>
              <a:defRPr sz="2100" b="1">
                <a:solidFill>
                  <a:srgbClr val="FF654A"/>
                </a:solidFill>
              </a:defRPr>
            </a:lvl6pPr>
            <a:lvl7pPr algn="ctr">
              <a:buNone/>
              <a:defRPr sz="2100" b="1">
                <a:solidFill>
                  <a:srgbClr val="FF654A"/>
                </a:solidFill>
              </a:defRPr>
            </a:lvl7pPr>
            <a:lvl8pPr algn="ctr">
              <a:buNone/>
              <a:defRPr sz="2100" b="1">
                <a:solidFill>
                  <a:srgbClr val="FF654A"/>
                </a:solidFill>
              </a:defRPr>
            </a:lvl8pPr>
            <a:lvl9pPr algn="ctr">
              <a:buNone/>
              <a:defRPr sz="2100" b="1">
                <a:solidFill>
                  <a:srgbClr val="FF654A"/>
                </a:solidFill>
              </a:defRPr>
            </a:lvl9pPr>
          </a:lstStyle>
          <a:p>
            <a:pPr algn="ctr">
              <a:buNone/>
              <a:defRPr sz="2100" b="1">
                <a:solidFill>
                  <a:srgbClr val="FF654A"/>
                </a:solidFill>
              </a:defRPr>
            </a:pPr>
            <a:r>
              <a:rPr sz="2100" b="1">
                <a:solidFill>
                  <a:srgbClr val="FF654A"/>
                </a:solidFill>
              </a:rPr>
              <a:t>›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DE53E95-B6BC-47A6-BDB7-02172EE79576}"/>
              </a:ext>
            </a:extLst>
          </p:cNvPr>
          <p:cNvSpPr>
            <a:spLocks noGrp="1"/>
          </p:cNvSpPr>
          <p:nvPr/>
        </p:nvSpPr>
        <p:spPr>
          <a:xfrm>
            <a:off x="7981950" y="2314575"/>
            <a:ext cx="1524000" cy="1619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350C7C-D5FB-43CF-BEE9-BAEECC0E94D1}"/>
              </a:ext>
            </a:extLst>
          </p:cNvPr>
          <p:cNvSpPr>
            <a:spLocks noGrp="1"/>
          </p:cNvSpPr>
          <p:nvPr/>
        </p:nvSpPr>
        <p:spPr>
          <a:xfrm>
            <a:off x="8477250" y="2466975"/>
            <a:ext cx="533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2100" b="1">
                <a:solidFill>
                  <a:srgbClr val="1F3038"/>
                </a:solidFill>
              </a:defRPr>
            </a:lvl1pPr>
            <a:lvl2pPr algn="ctr">
              <a:buNone/>
              <a:defRPr sz="2100" b="1">
                <a:solidFill>
                  <a:srgbClr val="1F3038"/>
                </a:solidFill>
              </a:defRPr>
            </a:lvl2pPr>
            <a:lvl3pPr algn="ctr">
              <a:buNone/>
              <a:defRPr sz="2100" b="1">
                <a:solidFill>
                  <a:srgbClr val="1F3038"/>
                </a:solidFill>
              </a:defRPr>
            </a:lvl3pPr>
            <a:lvl4pPr algn="ctr">
              <a:buNone/>
              <a:defRPr sz="2100" b="1">
                <a:solidFill>
                  <a:srgbClr val="1F3038"/>
                </a:solidFill>
              </a:defRPr>
            </a:lvl4pPr>
            <a:lvl5pPr algn="ctr">
              <a:buNone/>
              <a:defRPr sz="2100" b="1">
                <a:solidFill>
                  <a:srgbClr val="1F3038"/>
                </a:solidFill>
              </a:defRPr>
            </a:lvl5pPr>
            <a:lvl6pPr algn="ctr">
              <a:buNone/>
              <a:defRPr sz="2100" b="1">
                <a:solidFill>
                  <a:srgbClr val="1F3038"/>
                </a:solidFill>
              </a:defRPr>
            </a:lvl6pPr>
            <a:lvl7pPr algn="ctr">
              <a:buNone/>
              <a:defRPr sz="2100" b="1">
                <a:solidFill>
                  <a:srgbClr val="1F3038"/>
                </a:solidFill>
              </a:defRPr>
            </a:lvl7pPr>
            <a:lvl8pPr algn="ctr">
              <a:buNone/>
              <a:defRPr sz="2100" b="1">
                <a:solidFill>
                  <a:srgbClr val="1F3038"/>
                </a:solidFill>
              </a:defRPr>
            </a:lvl8pPr>
            <a:lvl9pPr algn="ctr">
              <a:buNone/>
              <a:defRPr sz="2100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2100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9CFB8C-8B08-4C9B-8A6B-52D2DE26253C}"/>
              </a:ext>
            </a:extLst>
          </p:cNvPr>
          <p:cNvSpPr>
            <a:spLocks noGrp="1"/>
          </p:cNvSpPr>
          <p:nvPr/>
        </p:nvSpPr>
        <p:spPr>
          <a:xfrm>
            <a:off x="8115300" y="3038475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125" b="1">
                <a:solidFill>
                  <a:srgbClr val="1F3038"/>
                </a:solidFill>
              </a:defRPr>
            </a:lvl1pPr>
            <a:lvl2pPr algn="ctr">
              <a:buNone/>
              <a:defRPr sz="1125" b="1">
                <a:solidFill>
                  <a:srgbClr val="1F3038"/>
                </a:solidFill>
              </a:defRPr>
            </a:lvl2pPr>
            <a:lvl3pPr algn="ctr">
              <a:buNone/>
              <a:defRPr sz="1125" b="1">
                <a:solidFill>
                  <a:srgbClr val="1F3038"/>
                </a:solidFill>
              </a:defRPr>
            </a:lvl3pPr>
            <a:lvl4pPr algn="ctr">
              <a:buNone/>
              <a:defRPr sz="1125" b="1">
                <a:solidFill>
                  <a:srgbClr val="1F3038"/>
                </a:solidFill>
              </a:defRPr>
            </a:lvl4pPr>
            <a:lvl5pPr algn="ctr">
              <a:buNone/>
              <a:defRPr sz="1125" b="1">
                <a:solidFill>
                  <a:srgbClr val="1F3038"/>
                </a:solidFill>
              </a:defRPr>
            </a:lvl5pPr>
            <a:lvl6pPr algn="ctr">
              <a:buNone/>
              <a:defRPr sz="1125" b="1">
                <a:solidFill>
                  <a:srgbClr val="1F3038"/>
                </a:solidFill>
              </a:defRPr>
            </a:lvl6pPr>
            <a:lvl7pPr algn="ctr">
              <a:buNone/>
              <a:defRPr sz="1125" b="1">
                <a:solidFill>
                  <a:srgbClr val="1F3038"/>
                </a:solidFill>
              </a:defRPr>
            </a:lvl7pPr>
            <a:lvl8pPr algn="ctr">
              <a:buNone/>
              <a:defRPr sz="1125" b="1">
                <a:solidFill>
                  <a:srgbClr val="1F3038"/>
                </a:solidFill>
              </a:defRPr>
            </a:lvl8pPr>
            <a:lvl9pPr algn="ctr">
              <a:buNone/>
              <a:defRPr sz="112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112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Basit modeli eğit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DCEF44-6582-44B1-8B13-89EEB1A4FE15}"/>
              </a:ext>
            </a:extLst>
          </p:cNvPr>
          <p:cNvSpPr>
            <a:spLocks noGrp="1"/>
          </p:cNvSpPr>
          <p:nvPr/>
        </p:nvSpPr>
        <p:spPr>
          <a:xfrm>
            <a:off x="9544050" y="2847975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2100" b="1">
                <a:solidFill>
                  <a:srgbClr val="FF654A"/>
                </a:solidFill>
              </a:defRPr>
            </a:lvl1pPr>
            <a:lvl2pPr algn="ctr">
              <a:buNone/>
              <a:defRPr sz="2100" b="1">
                <a:solidFill>
                  <a:srgbClr val="FF654A"/>
                </a:solidFill>
              </a:defRPr>
            </a:lvl2pPr>
            <a:lvl3pPr algn="ctr">
              <a:buNone/>
              <a:defRPr sz="2100" b="1">
                <a:solidFill>
                  <a:srgbClr val="FF654A"/>
                </a:solidFill>
              </a:defRPr>
            </a:lvl3pPr>
            <a:lvl4pPr algn="ctr">
              <a:buNone/>
              <a:defRPr sz="2100" b="1">
                <a:solidFill>
                  <a:srgbClr val="FF654A"/>
                </a:solidFill>
              </a:defRPr>
            </a:lvl4pPr>
            <a:lvl5pPr algn="ctr">
              <a:buNone/>
              <a:defRPr sz="2100" b="1">
                <a:solidFill>
                  <a:srgbClr val="FF654A"/>
                </a:solidFill>
              </a:defRPr>
            </a:lvl5pPr>
            <a:lvl6pPr algn="ctr">
              <a:buNone/>
              <a:defRPr sz="2100" b="1">
                <a:solidFill>
                  <a:srgbClr val="FF654A"/>
                </a:solidFill>
              </a:defRPr>
            </a:lvl6pPr>
            <a:lvl7pPr algn="ctr">
              <a:buNone/>
              <a:defRPr sz="2100" b="1">
                <a:solidFill>
                  <a:srgbClr val="FF654A"/>
                </a:solidFill>
              </a:defRPr>
            </a:lvl7pPr>
            <a:lvl8pPr algn="ctr">
              <a:buNone/>
              <a:defRPr sz="2100" b="1">
                <a:solidFill>
                  <a:srgbClr val="FF654A"/>
                </a:solidFill>
              </a:defRPr>
            </a:lvl8pPr>
            <a:lvl9pPr algn="ctr">
              <a:buNone/>
              <a:defRPr sz="2100" b="1">
                <a:solidFill>
                  <a:srgbClr val="FF654A"/>
                </a:solidFill>
              </a:defRPr>
            </a:lvl9pPr>
          </a:lstStyle>
          <a:p>
            <a:pPr algn="ctr">
              <a:buNone/>
              <a:defRPr sz="2100" b="1">
                <a:solidFill>
                  <a:srgbClr val="FF654A"/>
                </a:solidFill>
              </a:defRPr>
            </a:pPr>
            <a:r>
              <a:rPr sz="2100" b="1">
                <a:solidFill>
                  <a:srgbClr val="FF654A"/>
                </a:solidFill>
              </a:rPr>
              <a:t>›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17CC5C7-BCD9-47AE-9713-6A20C0722BAA}"/>
              </a:ext>
            </a:extLst>
          </p:cNvPr>
          <p:cNvSpPr>
            <a:spLocks noGrp="1"/>
          </p:cNvSpPr>
          <p:nvPr/>
        </p:nvSpPr>
        <p:spPr>
          <a:xfrm>
            <a:off x="9772650" y="2314575"/>
            <a:ext cx="1524000" cy="1619250"/>
          </a:xfrm>
          <a:prstGeom prst="roundRect">
            <a:avLst>
              <a:gd name="adj" fmla="val 5000"/>
            </a:avLst>
          </a:prstGeom>
          <a:solidFill>
            <a:srgbClr val="FFE1D8"/>
          </a:solidFill>
          <a:ln w="9525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167AC1-ADFD-4A65-AF68-968987D61371}"/>
              </a:ext>
            </a:extLst>
          </p:cNvPr>
          <p:cNvSpPr>
            <a:spLocks noGrp="1"/>
          </p:cNvSpPr>
          <p:nvPr/>
        </p:nvSpPr>
        <p:spPr>
          <a:xfrm>
            <a:off x="10267950" y="2466975"/>
            <a:ext cx="533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2100" b="1">
                <a:solidFill>
                  <a:srgbClr val="FF654A"/>
                </a:solidFill>
              </a:defRPr>
            </a:lvl1pPr>
            <a:lvl2pPr algn="ctr">
              <a:buNone/>
              <a:defRPr sz="2100" b="1">
                <a:solidFill>
                  <a:srgbClr val="FF654A"/>
                </a:solidFill>
              </a:defRPr>
            </a:lvl2pPr>
            <a:lvl3pPr algn="ctr">
              <a:buNone/>
              <a:defRPr sz="2100" b="1">
                <a:solidFill>
                  <a:srgbClr val="FF654A"/>
                </a:solidFill>
              </a:defRPr>
            </a:lvl3pPr>
            <a:lvl4pPr algn="ctr">
              <a:buNone/>
              <a:defRPr sz="2100" b="1">
                <a:solidFill>
                  <a:srgbClr val="FF654A"/>
                </a:solidFill>
              </a:defRPr>
            </a:lvl4pPr>
            <a:lvl5pPr algn="ctr">
              <a:buNone/>
              <a:defRPr sz="2100" b="1">
                <a:solidFill>
                  <a:srgbClr val="FF654A"/>
                </a:solidFill>
              </a:defRPr>
            </a:lvl5pPr>
            <a:lvl6pPr algn="ctr">
              <a:buNone/>
              <a:defRPr sz="2100" b="1">
                <a:solidFill>
                  <a:srgbClr val="FF654A"/>
                </a:solidFill>
              </a:defRPr>
            </a:lvl6pPr>
            <a:lvl7pPr algn="ctr">
              <a:buNone/>
              <a:defRPr sz="2100" b="1">
                <a:solidFill>
                  <a:srgbClr val="FF654A"/>
                </a:solidFill>
              </a:defRPr>
            </a:lvl7pPr>
            <a:lvl8pPr algn="ctr">
              <a:buNone/>
              <a:defRPr sz="2100" b="1">
                <a:solidFill>
                  <a:srgbClr val="FF654A"/>
                </a:solidFill>
              </a:defRPr>
            </a:lvl8pPr>
            <a:lvl9pPr algn="ctr">
              <a:buNone/>
              <a:defRPr sz="2100" b="1">
                <a:solidFill>
                  <a:srgbClr val="FF654A"/>
                </a:solidFill>
              </a:defRPr>
            </a:lvl9pPr>
          </a:lstStyle>
          <a:p>
            <a:pPr algn="ctr">
              <a:buNone/>
              <a:defRPr sz="2100" b="1">
                <a:solidFill>
                  <a:srgbClr val="FF654A"/>
                </a:solidFill>
              </a:defRPr>
            </a:pPr>
            <a:r>
              <a:rPr sz="2100" b="1">
                <a:solidFill>
                  <a:srgbClr val="FF654A"/>
                </a:solidFill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14F423-F8CF-4346-8281-C8775550E762}"/>
              </a:ext>
            </a:extLst>
          </p:cNvPr>
          <p:cNvSpPr>
            <a:spLocks noGrp="1"/>
          </p:cNvSpPr>
          <p:nvPr/>
        </p:nvSpPr>
        <p:spPr>
          <a:xfrm>
            <a:off x="9906000" y="3038475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125" b="1">
                <a:solidFill>
                  <a:srgbClr val="1F3038"/>
                </a:solidFill>
              </a:defRPr>
            </a:lvl1pPr>
            <a:lvl2pPr algn="ctr">
              <a:buNone/>
              <a:defRPr sz="1125" b="1">
                <a:solidFill>
                  <a:srgbClr val="1F3038"/>
                </a:solidFill>
              </a:defRPr>
            </a:lvl2pPr>
            <a:lvl3pPr algn="ctr">
              <a:buNone/>
              <a:defRPr sz="1125" b="1">
                <a:solidFill>
                  <a:srgbClr val="1F3038"/>
                </a:solidFill>
              </a:defRPr>
            </a:lvl3pPr>
            <a:lvl4pPr algn="ctr">
              <a:buNone/>
              <a:defRPr sz="1125" b="1">
                <a:solidFill>
                  <a:srgbClr val="1F3038"/>
                </a:solidFill>
              </a:defRPr>
            </a:lvl4pPr>
            <a:lvl5pPr algn="ctr">
              <a:buNone/>
              <a:defRPr sz="1125" b="1">
                <a:solidFill>
                  <a:srgbClr val="1F3038"/>
                </a:solidFill>
              </a:defRPr>
            </a:lvl5pPr>
            <a:lvl6pPr algn="ctr">
              <a:buNone/>
              <a:defRPr sz="1125" b="1">
                <a:solidFill>
                  <a:srgbClr val="1F3038"/>
                </a:solidFill>
              </a:defRPr>
            </a:lvl6pPr>
            <a:lvl7pPr algn="ctr">
              <a:buNone/>
              <a:defRPr sz="1125" b="1">
                <a:solidFill>
                  <a:srgbClr val="1F3038"/>
                </a:solidFill>
              </a:defRPr>
            </a:lvl7pPr>
            <a:lvl8pPr algn="ctr">
              <a:buNone/>
              <a:defRPr sz="1125" b="1">
                <a:solidFill>
                  <a:srgbClr val="1F3038"/>
                </a:solidFill>
              </a:defRPr>
            </a:lvl8pPr>
            <a:lvl9pPr algn="ctr">
              <a:buNone/>
              <a:defRPr sz="112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112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Açıklamayı sun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2ECEBD-7404-49A4-8192-E2067D95FE2D}"/>
              </a:ext>
            </a:extLst>
          </p:cNvPr>
          <p:cNvSpPr>
            <a:spLocks noGrp="1"/>
          </p:cNvSpPr>
          <p:nvPr/>
        </p:nvSpPr>
        <p:spPr>
          <a:xfrm>
            <a:off x="1485900" y="4886325"/>
            <a:ext cx="9220200" cy="342900"/>
          </a:xfrm>
          <a:prstGeom prst="rect">
            <a:avLst/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BBDD12-2029-4AB4-9866-0CBE58CCCEDE}"/>
              </a:ext>
            </a:extLst>
          </p:cNvPr>
          <p:cNvSpPr>
            <a:spLocks noGrp="1"/>
          </p:cNvSpPr>
          <p:nvPr/>
        </p:nvSpPr>
        <p:spPr>
          <a:xfrm>
            <a:off x="1638300" y="4924425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1">
                <a:solidFill>
                  <a:srgbClr val="1F3038"/>
                </a:solidFill>
              </a:defRPr>
            </a:lvl1pPr>
            <a:lvl2pPr algn="ctr">
              <a:buNone/>
              <a:defRPr sz="975" b="1">
                <a:solidFill>
                  <a:srgbClr val="1F3038"/>
                </a:solidFill>
              </a:defRPr>
            </a:lvl2pPr>
            <a:lvl3pPr algn="ctr">
              <a:buNone/>
              <a:defRPr sz="975" b="1">
                <a:solidFill>
                  <a:srgbClr val="1F3038"/>
                </a:solidFill>
              </a:defRPr>
            </a:lvl3pPr>
            <a:lvl4pPr algn="ctr">
              <a:buNone/>
              <a:defRPr sz="975" b="1">
                <a:solidFill>
                  <a:srgbClr val="1F3038"/>
                </a:solidFill>
              </a:defRPr>
            </a:lvl4pPr>
            <a:lvl5pPr algn="ctr">
              <a:buNone/>
              <a:defRPr sz="975" b="1">
                <a:solidFill>
                  <a:srgbClr val="1F3038"/>
                </a:solidFill>
              </a:defRPr>
            </a:lvl5pPr>
            <a:lvl6pPr algn="ctr">
              <a:buNone/>
              <a:defRPr sz="975" b="1">
                <a:solidFill>
                  <a:srgbClr val="1F3038"/>
                </a:solidFill>
              </a:defRPr>
            </a:lvl6pPr>
            <a:lvl7pPr algn="ctr">
              <a:buNone/>
              <a:defRPr sz="975" b="1">
                <a:solidFill>
                  <a:srgbClr val="1F3038"/>
                </a:solidFill>
              </a:defRPr>
            </a:lvl7pPr>
            <a:lvl8pPr algn="ctr">
              <a:buNone/>
              <a:defRPr sz="975" b="1">
                <a:solidFill>
                  <a:srgbClr val="1F3038"/>
                </a:solidFill>
              </a:defRPr>
            </a:lvl8pPr>
            <a:lvl9pPr algn="ctr">
              <a:buNone/>
              <a:defRPr sz="97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97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Çıktı, x çevresinde eğitilmiş seyrek ve yorumlanabilir bir vekil modeldir.</a:t>
            </a:r>
          </a:p>
        </p:txBody>
      </p:sp>
    </p:spTree>
    <p:extLst>
      <p:ext uri="{BB962C8B-B14F-4D97-AF65-F5344CB8AC3E}">
        <p14:creationId xmlns:p14="http://schemas.microsoft.com/office/powerpoint/2010/main" val="102515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37B85C3-1705-44A6-8426-B81C8A60B030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2F8956-3E97-4071-8C64-DA67FC875C6B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Yorumlanabilirlik ve yerel sadakat dengesi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43F199-31CE-4190-AFD6-08C686CB8F7D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438D7F-4019-4ADD-9A7C-07BD3E20DC64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7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AA0597-2CFE-4948-9544-0DB652A410F1}"/>
              </a:ext>
            </a:extLst>
          </p:cNvPr>
          <p:cNvSpPr>
            <a:spLocks noGrp="1"/>
          </p:cNvSpPr>
          <p:nvPr/>
        </p:nvSpPr>
        <p:spPr>
          <a:xfrm>
            <a:off x="876300" y="1762125"/>
            <a:ext cx="393192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050" b="1">
                <a:solidFill>
                  <a:srgbClr val="5E6C70"/>
                </a:solidFill>
              </a:defRPr>
            </a:lvl1pPr>
            <a:lvl2pPr algn="l">
              <a:buNone/>
              <a:defRPr sz="1050" b="1">
                <a:solidFill>
                  <a:srgbClr val="5E6C70"/>
                </a:solidFill>
              </a:defRPr>
            </a:lvl2pPr>
            <a:lvl3pPr algn="l">
              <a:buNone/>
              <a:defRPr sz="1050" b="1">
                <a:solidFill>
                  <a:srgbClr val="5E6C70"/>
                </a:solidFill>
              </a:defRPr>
            </a:lvl3pPr>
            <a:lvl4pPr algn="l">
              <a:buNone/>
              <a:defRPr sz="1050" b="1">
                <a:solidFill>
                  <a:srgbClr val="5E6C70"/>
                </a:solidFill>
              </a:defRPr>
            </a:lvl4pPr>
            <a:lvl5pPr algn="l">
              <a:buNone/>
              <a:defRPr sz="1050" b="1">
                <a:solidFill>
                  <a:srgbClr val="5E6C70"/>
                </a:solidFill>
              </a:defRPr>
            </a:lvl5pPr>
            <a:lvl6pPr algn="l">
              <a:buNone/>
              <a:defRPr sz="1050" b="1">
                <a:solidFill>
                  <a:srgbClr val="5E6C70"/>
                </a:solidFill>
              </a:defRPr>
            </a:lvl6pPr>
            <a:lvl7pPr algn="l">
              <a:buNone/>
              <a:defRPr sz="1050" b="1">
                <a:solidFill>
                  <a:srgbClr val="5E6C70"/>
                </a:solidFill>
              </a:defRPr>
            </a:lvl7pPr>
            <a:lvl8pPr algn="l">
              <a:buNone/>
              <a:defRPr sz="1050" b="1">
                <a:solidFill>
                  <a:srgbClr val="5E6C70"/>
                </a:solidFill>
              </a:defRPr>
            </a:lvl8pPr>
            <a:lvl9pPr algn="l">
              <a:buNone/>
              <a:defRPr sz="1050" b="1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5E6C70"/>
                </a:solidFill>
              </a:defRPr>
            </a:pPr>
            <a:r>
              <a:rPr sz="1350" b="1">
                <a:solidFill>
                  <a:srgbClr val="5E6C70"/>
                </a:solidFill>
              </a:rPr>
              <a:t>AZ ÖZELLİK · YÜKSEK YORUMLANABİLİRLİK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C8BDEB-DDE8-4D85-9AEB-3840E3F3494F}"/>
              </a:ext>
            </a:extLst>
          </p:cNvPr>
          <p:cNvSpPr>
            <a:spLocks noGrp="1"/>
          </p:cNvSpPr>
          <p:nvPr/>
        </p:nvSpPr>
        <p:spPr>
          <a:xfrm>
            <a:off x="7981950" y="176212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1050" b="1">
                <a:solidFill>
                  <a:srgbClr val="5E6C70"/>
                </a:solidFill>
              </a:defRPr>
            </a:lvl1pPr>
            <a:lvl2pPr algn="r">
              <a:buNone/>
              <a:defRPr sz="1050" b="1">
                <a:solidFill>
                  <a:srgbClr val="5E6C70"/>
                </a:solidFill>
              </a:defRPr>
            </a:lvl2pPr>
            <a:lvl3pPr algn="r">
              <a:buNone/>
              <a:defRPr sz="1050" b="1">
                <a:solidFill>
                  <a:srgbClr val="5E6C70"/>
                </a:solidFill>
              </a:defRPr>
            </a:lvl3pPr>
            <a:lvl4pPr algn="r">
              <a:buNone/>
              <a:defRPr sz="1050" b="1">
                <a:solidFill>
                  <a:srgbClr val="5E6C70"/>
                </a:solidFill>
              </a:defRPr>
            </a:lvl4pPr>
            <a:lvl5pPr algn="r">
              <a:buNone/>
              <a:defRPr sz="1050" b="1">
                <a:solidFill>
                  <a:srgbClr val="5E6C70"/>
                </a:solidFill>
              </a:defRPr>
            </a:lvl5pPr>
            <a:lvl6pPr algn="r">
              <a:buNone/>
              <a:defRPr sz="1050" b="1">
                <a:solidFill>
                  <a:srgbClr val="5E6C70"/>
                </a:solidFill>
              </a:defRPr>
            </a:lvl6pPr>
            <a:lvl7pPr algn="r">
              <a:buNone/>
              <a:defRPr sz="1050" b="1">
                <a:solidFill>
                  <a:srgbClr val="5E6C70"/>
                </a:solidFill>
              </a:defRPr>
            </a:lvl7pPr>
            <a:lvl8pPr algn="r">
              <a:buNone/>
              <a:defRPr sz="1050" b="1">
                <a:solidFill>
                  <a:srgbClr val="5E6C70"/>
                </a:solidFill>
              </a:defRPr>
            </a:lvl8pPr>
            <a:lvl9pPr algn="r">
              <a:buNone/>
              <a:defRPr sz="1050" b="1">
                <a:solidFill>
                  <a:srgbClr val="5E6C70"/>
                </a:solidFill>
              </a:defRPr>
            </a:lvl9pPr>
          </a:lstStyle>
          <a:p>
            <a:pPr algn="r">
              <a:buNone/>
              <a:defRPr sz="1050" b="1">
                <a:solidFill>
                  <a:srgbClr val="5E6C70"/>
                </a:solidFill>
              </a:defRPr>
            </a:pPr>
            <a:r>
              <a:rPr sz="1350" b="1">
                <a:solidFill>
                  <a:srgbClr val="5E6C70"/>
                </a:solidFill>
              </a:rPr>
              <a:t>ÇOK ÖZELLİK · YÜKSEK SADAKAT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70E1BE-236A-476A-9504-0D3334B9D79F}"/>
              </a:ext>
            </a:extLst>
          </p:cNvPr>
          <p:cNvSpPr>
            <a:spLocks noGrp="1"/>
          </p:cNvSpPr>
          <p:nvPr/>
        </p:nvSpPr>
        <p:spPr>
          <a:xfrm>
            <a:off x="1428750" y="2600325"/>
            <a:ext cx="9334500" cy="95250"/>
          </a:xfrm>
          <a:prstGeom prst="rect">
            <a:avLst/>
          </a:prstGeom>
          <a:solidFill>
            <a:srgbClr val="D9DEDE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753E73-8124-4281-BFB6-5327175A402D}"/>
              </a:ext>
            </a:extLst>
          </p:cNvPr>
          <p:cNvSpPr>
            <a:spLocks noGrp="1"/>
          </p:cNvSpPr>
          <p:nvPr/>
        </p:nvSpPr>
        <p:spPr>
          <a:xfrm>
            <a:off x="5505450" y="2266950"/>
            <a:ext cx="762000" cy="762000"/>
          </a:xfrm>
          <a:prstGeom prst="ellipse">
            <a:avLst/>
          </a:prstGeom>
          <a:solidFill>
            <a:srgbClr val="FF654A"/>
          </a:solidFill>
          <a:ln w="0">
            <a:solidFill>
              <a:srgbClr val="FF654A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352113-2E25-43CE-837B-B00798F82AB1}"/>
              </a:ext>
            </a:extLst>
          </p:cNvPr>
          <p:cNvSpPr>
            <a:spLocks noGrp="1"/>
          </p:cNvSpPr>
          <p:nvPr/>
        </p:nvSpPr>
        <p:spPr>
          <a:xfrm>
            <a:off x="5686425" y="2419350"/>
            <a:ext cx="400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2100" b="1">
                <a:solidFill>
                  <a:srgbClr val="FFFFFF"/>
                </a:solidFill>
              </a:defRPr>
            </a:lvl1pPr>
            <a:lvl2pPr algn="ctr">
              <a:buNone/>
              <a:defRPr sz="2100" b="1">
                <a:solidFill>
                  <a:srgbClr val="FFFFFF"/>
                </a:solidFill>
              </a:defRPr>
            </a:lvl2pPr>
            <a:lvl3pPr algn="ctr">
              <a:buNone/>
              <a:defRPr sz="2100" b="1">
                <a:solidFill>
                  <a:srgbClr val="FFFFFF"/>
                </a:solidFill>
              </a:defRPr>
            </a:lvl3pPr>
            <a:lvl4pPr algn="ctr">
              <a:buNone/>
              <a:defRPr sz="2100" b="1">
                <a:solidFill>
                  <a:srgbClr val="FFFFFF"/>
                </a:solidFill>
              </a:defRPr>
            </a:lvl4pPr>
            <a:lvl5pPr algn="ctr">
              <a:buNone/>
              <a:defRPr sz="2100" b="1">
                <a:solidFill>
                  <a:srgbClr val="FFFFFF"/>
                </a:solidFill>
              </a:defRPr>
            </a:lvl5pPr>
            <a:lvl6pPr algn="ctr">
              <a:buNone/>
              <a:defRPr sz="2100" b="1">
                <a:solidFill>
                  <a:srgbClr val="FFFFFF"/>
                </a:solidFill>
              </a:defRPr>
            </a:lvl6pPr>
            <a:lvl7pPr algn="ctr">
              <a:buNone/>
              <a:defRPr sz="2100" b="1">
                <a:solidFill>
                  <a:srgbClr val="FFFFFF"/>
                </a:solidFill>
              </a:defRPr>
            </a:lvl7pPr>
            <a:lvl8pPr algn="ctr">
              <a:buNone/>
              <a:defRPr sz="2100" b="1">
                <a:solidFill>
                  <a:srgbClr val="FFFFFF"/>
                </a:solidFill>
              </a:defRPr>
            </a:lvl8pPr>
            <a:lvl9pPr algn="ctr">
              <a:buNone/>
              <a:defRPr sz="2100" b="1">
                <a:solidFill>
                  <a:srgbClr val="FFFFFF"/>
                </a:solidFill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E3DECE8-FDEB-4EBE-8372-7FDC498A8721}"/>
              </a:ext>
            </a:extLst>
          </p:cNvPr>
          <p:cNvSpPr>
            <a:spLocks noGrp="1"/>
          </p:cNvSpPr>
          <p:nvPr/>
        </p:nvSpPr>
        <p:spPr>
          <a:xfrm>
            <a:off x="952500" y="3571875"/>
            <a:ext cx="4476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7D9ECC-C642-4F32-8B4C-56779CEEB2F1}"/>
              </a:ext>
            </a:extLst>
          </p:cNvPr>
          <p:cNvSpPr>
            <a:spLocks noGrp="1"/>
          </p:cNvSpPr>
          <p:nvPr/>
        </p:nvSpPr>
        <p:spPr>
          <a:xfrm>
            <a:off x="952500" y="3571875"/>
            <a:ext cx="47625" cy="142875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3D0F57-811C-44D8-ABCD-6952DA3A2138}"/>
              </a:ext>
            </a:extLst>
          </p:cNvPr>
          <p:cNvSpPr>
            <a:spLocks noGrp="1"/>
          </p:cNvSpPr>
          <p:nvPr/>
        </p:nvSpPr>
        <p:spPr>
          <a:xfrm>
            <a:off x="1123950" y="3705225"/>
            <a:ext cx="4152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Düşük 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2790E3-9B54-4A9D-A9D5-68CB9ED7AA94}"/>
              </a:ext>
            </a:extLst>
          </p:cNvPr>
          <p:cNvSpPr>
            <a:spLocks noGrp="1"/>
          </p:cNvSpPr>
          <p:nvPr/>
        </p:nvSpPr>
        <p:spPr>
          <a:xfrm>
            <a:off x="1123950" y="4000500"/>
            <a:ext cx="41529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Daha kolay yorumlanır, ancak kara kutunun yerel davranışını daha zayıf temsil edebilir.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464075A-645F-4C78-AD5F-698038E3C515}"/>
              </a:ext>
            </a:extLst>
          </p:cNvPr>
          <p:cNvSpPr>
            <a:spLocks noGrp="1"/>
          </p:cNvSpPr>
          <p:nvPr/>
        </p:nvSpPr>
        <p:spPr>
          <a:xfrm>
            <a:off x="6762750" y="3571875"/>
            <a:ext cx="4476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8ADE75-44B7-4096-A1FC-D73E9503070A}"/>
              </a:ext>
            </a:extLst>
          </p:cNvPr>
          <p:cNvSpPr>
            <a:spLocks noGrp="1"/>
          </p:cNvSpPr>
          <p:nvPr/>
        </p:nvSpPr>
        <p:spPr>
          <a:xfrm>
            <a:off x="6762750" y="3571875"/>
            <a:ext cx="47625" cy="1428750"/>
          </a:xfrm>
          <a:prstGeom prst="rect">
            <a:avLst/>
          </a:prstGeom>
          <a:solidFill>
            <a:srgbClr val="F5C84B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5681E0-4214-44DE-A7F9-6A5DF95B2582}"/>
              </a:ext>
            </a:extLst>
          </p:cNvPr>
          <p:cNvSpPr>
            <a:spLocks noGrp="1"/>
          </p:cNvSpPr>
          <p:nvPr/>
        </p:nvSpPr>
        <p:spPr>
          <a:xfrm>
            <a:off x="6934200" y="3705225"/>
            <a:ext cx="4152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Yüksek 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290F56-CFDF-404D-AFCF-831DA49C2A4E}"/>
              </a:ext>
            </a:extLst>
          </p:cNvPr>
          <p:cNvSpPr>
            <a:spLocks noGrp="1"/>
          </p:cNvSpPr>
          <p:nvPr/>
        </p:nvSpPr>
        <p:spPr>
          <a:xfrm>
            <a:off x="6934200" y="4000500"/>
            <a:ext cx="41529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Yerel sadakat artabilir, ancak açıklama kalabalıklaşır ve yorum zorlaşır.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C60269-45C4-48F6-8FC0-94EB1E5355A1}"/>
              </a:ext>
            </a:extLst>
          </p:cNvPr>
          <p:cNvSpPr>
            <a:spLocks noGrp="1"/>
          </p:cNvSpPr>
          <p:nvPr/>
        </p:nvSpPr>
        <p:spPr>
          <a:xfrm>
            <a:off x="1485900" y="5438775"/>
            <a:ext cx="9220200" cy="342900"/>
          </a:xfrm>
          <a:prstGeom prst="rect">
            <a:avLst/>
          </a:prstGeom>
          <a:solidFill>
            <a:srgbClr val="E8EEEE"/>
          </a:solidFill>
          <a:ln w="9525">
            <a:solidFill>
              <a:srgbClr val="E8EEE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520E3F-0FFC-46BE-A733-7A6D68337D76}"/>
              </a:ext>
            </a:extLst>
          </p:cNvPr>
          <p:cNvSpPr>
            <a:spLocks noGrp="1"/>
          </p:cNvSpPr>
          <p:nvPr/>
        </p:nvSpPr>
        <p:spPr>
          <a:xfrm>
            <a:off x="1638300" y="5476875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1">
                <a:solidFill>
                  <a:srgbClr val="1F3038"/>
                </a:solidFill>
              </a:defRPr>
            </a:lvl1pPr>
            <a:lvl2pPr algn="ctr">
              <a:buNone/>
              <a:defRPr sz="975" b="1">
                <a:solidFill>
                  <a:srgbClr val="1F3038"/>
                </a:solidFill>
              </a:defRPr>
            </a:lvl2pPr>
            <a:lvl3pPr algn="ctr">
              <a:buNone/>
              <a:defRPr sz="975" b="1">
                <a:solidFill>
                  <a:srgbClr val="1F3038"/>
                </a:solidFill>
              </a:defRPr>
            </a:lvl3pPr>
            <a:lvl4pPr algn="ctr">
              <a:buNone/>
              <a:defRPr sz="975" b="1">
                <a:solidFill>
                  <a:srgbClr val="1F3038"/>
                </a:solidFill>
              </a:defRPr>
            </a:lvl4pPr>
            <a:lvl5pPr algn="ctr">
              <a:buNone/>
              <a:defRPr sz="975" b="1">
                <a:solidFill>
                  <a:srgbClr val="1F3038"/>
                </a:solidFill>
              </a:defRPr>
            </a:lvl5pPr>
            <a:lvl6pPr algn="ctr">
              <a:buNone/>
              <a:defRPr sz="975" b="1">
                <a:solidFill>
                  <a:srgbClr val="1F3038"/>
                </a:solidFill>
              </a:defRPr>
            </a:lvl6pPr>
            <a:lvl7pPr algn="ctr">
              <a:buNone/>
              <a:defRPr sz="975" b="1">
                <a:solidFill>
                  <a:srgbClr val="1F3038"/>
                </a:solidFill>
              </a:defRPr>
            </a:lvl7pPr>
            <a:lvl8pPr algn="ctr">
              <a:buNone/>
              <a:defRPr sz="975" b="1">
                <a:solidFill>
                  <a:srgbClr val="1F3038"/>
                </a:solidFill>
              </a:defRPr>
            </a:lvl8pPr>
            <a:lvl9pPr algn="ctr">
              <a:buNone/>
              <a:defRPr sz="97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97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K seçimi, açıklamanın sadakati ile bilişsel sadeliği arasındaki açık bir tercihtir.</a:t>
            </a:r>
          </a:p>
        </p:txBody>
      </p:sp>
    </p:spTree>
    <p:extLst>
      <p:ext uri="{BB962C8B-B14F-4D97-AF65-F5344CB8AC3E}">
        <p14:creationId xmlns:p14="http://schemas.microsoft.com/office/powerpoint/2010/main" val="1067447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1E79567-7B9F-4AE4-81BA-199FF0D3B615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41A6BF-73A9-4C3E-8410-C71103F4446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Farklı veri türlerinde LIME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D255B4-7BE7-44FD-A068-E406B18C3F13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E5DA0A-731C-4989-BB15-4A7C1421BD4A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8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BAF7A7C-4D4F-4F16-A55F-249D62E89478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333375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8BC975-54BE-4B8E-9784-981E62183AFF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47625" cy="266700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FFFE48-75D1-4504-A047-719BCF80DDCD}"/>
              </a:ext>
            </a:extLst>
          </p:cNvPr>
          <p:cNvSpPr>
            <a:spLocks noGrp="1"/>
          </p:cNvSpPr>
          <p:nvPr/>
        </p:nvSpPr>
        <p:spPr>
          <a:xfrm>
            <a:off x="857250" y="2114550"/>
            <a:ext cx="3009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Tablo verisi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3769B2-BB5C-4F9C-9984-7F6D15478DFD}"/>
              </a:ext>
            </a:extLst>
          </p:cNvPr>
          <p:cNvSpPr>
            <a:spLocks noGrp="1"/>
          </p:cNvSpPr>
          <p:nvPr/>
        </p:nvSpPr>
        <p:spPr>
          <a:xfrm>
            <a:off x="857250" y="2409825"/>
            <a:ext cx="30099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Sayısal ve kategorik özellikler etrafında örnekleme yapılır. Yerel model, özellik katkılarını ağırlıklarla gösterir.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3DC8A4D-D2F8-4254-88E3-E641BC285725}"/>
              </a:ext>
            </a:extLst>
          </p:cNvPr>
          <p:cNvSpPr>
            <a:spLocks noGrp="1"/>
          </p:cNvSpPr>
          <p:nvPr/>
        </p:nvSpPr>
        <p:spPr>
          <a:xfrm>
            <a:off x="4429125" y="1981200"/>
            <a:ext cx="333375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4FBABF-9CD5-4EE4-A49A-63AB8599AD6E}"/>
              </a:ext>
            </a:extLst>
          </p:cNvPr>
          <p:cNvSpPr>
            <a:spLocks noGrp="1"/>
          </p:cNvSpPr>
          <p:nvPr/>
        </p:nvSpPr>
        <p:spPr>
          <a:xfrm>
            <a:off x="4429125" y="1981200"/>
            <a:ext cx="47625" cy="2667000"/>
          </a:xfrm>
          <a:prstGeom prst="rect">
            <a:avLst/>
          </a:prstGeom>
          <a:solidFill>
            <a:srgbClr val="F5C84B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7FD81-67A3-4D9C-B562-EBC7C8EA3003}"/>
              </a:ext>
            </a:extLst>
          </p:cNvPr>
          <p:cNvSpPr>
            <a:spLocks noGrp="1"/>
          </p:cNvSpPr>
          <p:nvPr/>
        </p:nvSpPr>
        <p:spPr>
          <a:xfrm>
            <a:off x="4600575" y="2114550"/>
            <a:ext cx="3009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Metin verisi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8C598A-5E0F-4B2F-88A8-0AF5C12D950C}"/>
              </a:ext>
            </a:extLst>
          </p:cNvPr>
          <p:cNvSpPr>
            <a:spLocks noGrp="1"/>
          </p:cNvSpPr>
          <p:nvPr/>
        </p:nvSpPr>
        <p:spPr>
          <a:xfrm>
            <a:off x="4600575" y="2409825"/>
            <a:ext cx="30099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Sözcük veya belirteçler kapatılıp açılarak pertürbasyonlar oluşturulur. Açıklama, seçilen sınıf için yerel ağırlıkları verir.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7AA1482-017D-499A-81D0-E49F18D57F31}"/>
              </a:ext>
            </a:extLst>
          </p:cNvPr>
          <p:cNvSpPr>
            <a:spLocks noGrp="1"/>
          </p:cNvSpPr>
          <p:nvPr/>
        </p:nvSpPr>
        <p:spPr>
          <a:xfrm>
            <a:off x="8172450" y="1981200"/>
            <a:ext cx="333375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55F059-C8CD-4F62-AF98-2E99188D146B}"/>
              </a:ext>
            </a:extLst>
          </p:cNvPr>
          <p:cNvSpPr>
            <a:spLocks noGrp="1"/>
          </p:cNvSpPr>
          <p:nvPr/>
        </p:nvSpPr>
        <p:spPr>
          <a:xfrm>
            <a:off x="8172450" y="1981200"/>
            <a:ext cx="47625" cy="266700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05C6F8-B3CA-46FA-9113-7C8ECB46BA98}"/>
              </a:ext>
            </a:extLst>
          </p:cNvPr>
          <p:cNvSpPr>
            <a:spLocks noGrp="1"/>
          </p:cNvSpPr>
          <p:nvPr/>
        </p:nvSpPr>
        <p:spPr>
          <a:xfrm>
            <a:off x="8343900" y="2114550"/>
            <a:ext cx="3009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Görüntü verisi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DD8966-9C30-4CF7-A179-1308F2CD480C}"/>
              </a:ext>
            </a:extLst>
          </p:cNvPr>
          <p:cNvSpPr>
            <a:spLocks noGrp="1"/>
          </p:cNvSpPr>
          <p:nvPr/>
        </p:nvSpPr>
        <p:spPr>
          <a:xfrm>
            <a:off x="8343900" y="2409825"/>
            <a:ext cx="30099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Süperpikseller maskelenir. Açıklama, belirli etiketin olasılığını artıran veya azaltan bölgeleri vurgular.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C75EF8-2CD2-41A3-BDF6-6E17B0694B49}"/>
              </a:ext>
            </a:extLst>
          </p:cNvPr>
          <p:cNvSpPr>
            <a:spLocks noGrp="1"/>
          </p:cNvSpPr>
          <p:nvPr/>
        </p:nvSpPr>
        <p:spPr>
          <a:xfrm>
            <a:off x="1485900" y="5219700"/>
            <a:ext cx="9220200" cy="342900"/>
          </a:xfrm>
          <a:prstGeom prst="rect">
            <a:avLst/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5FFA35-1FDE-4DDD-9118-18C545389292}"/>
              </a:ext>
            </a:extLst>
          </p:cNvPr>
          <p:cNvSpPr>
            <a:spLocks noGrp="1"/>
          </p:cNvSpPr>
          <p:nvPr/>
        </p:nvSpPr>
        <p:spPr>
          <a:xfrm>
            <a:off x="1638300" y="5257800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1">
                <a:solidFill>
                  <a:srgbClr val="1F3038"/>
                </a:solidFill>
              </a:defRPr>
            </a:lvl1pPr>
            <a:lvl2pPr algn="ctr">
              <a:buNone/>
              <a:defRPr sz="975" b="1">
                <a:solidFill>
                  <a:srgbClr val="1F3038"/>
                </a:solidFill>
              </a:defRPr>
            </a:lvl2pPr>
            <a:lvl3pPr algn="ctr">
              <a:buNone/>
              <a:defRPr sz="975" b="1">
                <a:solidFill>
                  <a:srgbClr val="1F3038"/>
                </a:solidFill>
              </a:defRPr>
            </a:lvl3pPr>
            <a:lvl4pPr algn="ctr">
              <a:buNone/>
              <a:defRPr sz="975" b="1">
                <a:solidFill>
                  <a:srgbClr val="1F3038"/>
                </a:solidFill>
              </a:defRPr>
            </a:lvl4pPr>
            <a:lvl5pPr algn="ctr">
              <a:buNone/>
              <a:defRPr sz="975" b="1">
                <a:solidFill>
                  <a:srgbClr val="1F3038"/>
                </a:solidFill>
              </a:defRPr>
            </a:lvl5pPr>
            <a:lvl6pPr algn="ctr">
              <a:buNone/>
              <a:defRPr sz="975" b="1">
                <a:solidFill>
                  <a:srgbClr val="1F3038"/>
                </a:solidFill>
              </a:defRPr>
            </a:lvl6pPr>
            <a:lvl7pPr algn="ctr">
              <a:buNone/>
              <a:defRPr sz="975" b="1">
                <a:solidFill>
                  <a:srgbClr val="1F3038"/>
                </a:solidFill>
              </a:defRPr>
            </a:lvl7pPr>
            <a:lvl8pPr algn="ctr">
              <a:buNone/>
              <a:defRPr sz="975" b="1">
                <a:solidFill>
                  <a:srgbClr val="1F3038"/>
                </a:solidFill>
              </a:defRPr>
            </a:lvl8pPr>
            <a:lvl9pPr algn="ctr">
              <a:buNone/>
              <a:defRPr sz="97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97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Örnekleme mekanizması veri türüne göre değişir; yerel vekil fikri aynı kalır.</a:t>
            </a:r>
          </a:p>
        </p:txBody>
      </p:sp>
    </p:spTree>
    <p:extLst>
      <p:ext uri="{BB962C8B-B14F-4D97-AF65-F5344CB8AC3E}">
        <p14:creationId xmlns:p14="http://schemas.microsoft.com/office/powerpoint/2010/main" val="1490178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D5FEC4-826E-4C38-A332-3BAB4C57C99E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503B9A-C0DB-459B-81DF-FBCA38ED2382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Vaka çalışması: tablo verisi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947CCA-78F1-468C-9960-BA7249A7DD74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BF010-2277-4118-91FD-C662890305F0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9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FEAE1D-55B3-4CF7-A0A0-D45E43F80D95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5219700"/>
          </a:xfrm>
          <a:prstGeom prst="rect">
            <a:avLst/>
          </a:prstGeom>
          <a:solidFill>
            <a:srgbClr val="F7F7F4"/>
          </a:solidFill>
          <a:ln w="0">
            <a:solidFill>
              <a:srgbClr val="F7F7F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" y="1428750"/>
            <a:ext cx="6667500" cy="4762500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79C4CEC-B77B-4822-84A4-5C514FEF03AF}"/>
              </a:ext>
            </a:extLst>
          </p:cNvPr>
          <p:cNvSpPr>
            <a:spLocks noGrp="1"/>
          </p:cNvSpPr>
          <p:nvPr/>
        </p:nvSpPr>
        <p:spPr>
          <a:xfrm>
            <a:off x="8172450" y="1638300"/>
            <a:ext cx="33337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DA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113DB7-1000-40BC-9E9E-055B4CC24B26}"/>
              </a:ext>
            </a:extLst>
          </p:cNvPr>
          <p:cNvSpPr>
            <a:spLocks noGrp="1"/>
          </p:cNvSpPr>
          <p:nvPr/>
        </p:nvSpPr>
        <p:spPr>
          <a:xfrm>
            <a:off x="8172450" y="1638300"/>
            <a:ext cx="47625" cy="1524000"/>
          </a:xfrm>
          <a:prstGeom prst="rect">
            <a:avLst/>
          </a:prstGeom>
          <a:solidFill>
            <a:srgbClr val="FF654A"/>
          </a:solidFill>
          <a:ln w="0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DBD5B4-BC07-4B13-A0DF-588634144BD2}"/>
              </a:ext>
            </a:extLst>
          </p:cNvPr>
          <p:cNvSpPr>
            <a:spLocks noGrp="1"/>
          </p:cNvSpPr>
          <p:nvPr/>
        </p:nvSpPr>
        <p:spPr>
          <a:xfrm>
            <a:off x="8343900" y="175260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İki farklı yerel açıklama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9C8820-7B80-4A75-ACAA-AE2852E649CB}"/>
              </a:ext>
            </a:extLst>
          </p:cNvPr>
          <p:cNvSpPr>
            <a:spLocks noGrp="1"/>
          </p:cNvSpPr>
          <p:nvPr/>
        </p:nvSpPr>
        <p:spPr>
          <a:xfrm>
            <a:off x="8343900" y="2076450"/>
            <a:ext cx="30099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Üst ve alt grafikler farklı gözlemleri açıklar. Vücut kütlesi ve gaga derinliği her gözlem için ayrı değerlerle değerlendirilir.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614F6FB-671C-436D-9889-0D6EB339632E}"/>
              </a:ext>
            </a:extLst>
          </p:cNvPr>
          <p:cNvSpPr>
            <a:spLocks noGrp="1"/>
          </p:cNvSpPr>
          <p:nvPr/>
        </p:nvSpPr>
        <p:spPr>
          <a:xfrm>
            <a:off x="8172450" y="3371850"/>
            <a:ext cx="33337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4DA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301E06-3742-4505-B0EE-010AD68535C5}"/>
              </a:ext>
            </a:extLst>
          </p:cNvPr>
          <p:cNvSpPr>
            <a:spLocks noGrp="1"/>
          </p:cNvSpPr>
          <p:nvPr/>
        </p:nvSpPr>
        <p:spPr>
          <a:xfrm>
            <a:off x="8172450" y="3371850"/>
            <a:ext cx="47625" cy="1333500"/>
          </a:xfrm>
          <a:prstGeom prst="rect">
            <a:avLst/>
          </a:prstGeom>
          <a:solidFill>
            <a:srgbClr val="F5C84B"/>
          </a:solidFill>
          <a:ln w="0">
            <a:solidFill>
              <a:srgbClr val="F5C84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FE788C-C236-47F3-806F-AAF888B15021}"/>
              </a:ext>
            </a:extLst>
          </p:cNvPr>
          <p:cNvSpPr>
            <a:spLocks noGrp="1"/>
          </p:cNvSpPr>
          <p:nvPr/>
        </p:nvSpPr>
        <p:spPr>
          <a:xfrm>
            <a:off x="8343900" y="348615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Sadakat farkı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F66CB6-6B0E-4900-9642-8A253656EC89}"/>
              </a:ext>
            </a:extLst>
          </p:cNvPr>
          <p:cNvSpPr>
            <a:spLocks noGrp="1"/>
          </p:cNvSpPr>
          <p:nvPr/>
        </p:nvSpPr>
        <p:spPr>
          <a:xfrm>
            <a:off x="8343900" y="3810000"/>
            <a:ext cx="3009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Üst gözlemde kara kutu 0,07, yerel model 0,46 tahmin ediyor. Yerel yaklaşım kusursuz değildir.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E1B8A53-B036-45D4-A99A-0066BF17349A}"/>
              </a:ext>
            </a:extLst>
          </p:cNvPr>
          <p:cNvSpPr>
            <a:spLocks noGrp="1"/>
          </p:cNvSpPr>
          <p:nvPr/>
        </p:nvSpPr>
        <p:spPr>
          <a:xfrm>
            <a:off x="8172450" y="501015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1">
                <a:solidFill>
                  <a:srgbClr val="5E6C70"/>
                </a:solidFill>
              </a:defRPr>
            </a:lvl1pPr>
            <a:lvl2pPr algn="l">
              <a:buNone/>
              <a:defRPr sz="975" b="1">
                <a:solidFill>
                  <a:srgbClr val="5E6C70"/>
                </a:solidFill>
              </a:defRPr>
            </a:lvl2pPr>
            <a:lvl3pPr algn="l">
              <a:buNone/>
              <a:defRPr sz="975" b="1">
                <a:solidFill>
                  <a:srgbClr val="5E6C70"/>
                </a:solidFill>
              </a:defRPr>
            </a:lvl3pPr>
            <a:lvl4pPr algn="l">
              <a:buNone/>
              <a:defRPr sz="975" b="1">
                <a:solidFill>
                  <a:srgbClr val="5E6C70"/>
                </a:solidFill>
              </a:defRPr>
            </a:lvl4pPr>
            <a:lvl5pPr algn="l">
              <a:buNone/>
              <a:defRPr sz="975" b="1">
                <a:solidFill>
                  <a:srgbClr val="5E6C70"/>
                </a:solidFill>
              </a:defRPr>
            </a:lvl5pPr>
            <a:lvl6pPr algn="l">
              <a:buNone/>
              <a:defRPr sz="975" b="1">
                <a:solidFill>
                  <a:srgbClr val="5E6C70"/>
                </a:solidFill>
              </a:defRPr>
            </a:lvl6pPr>
            <a:lvl7pPr algn="l">
              <a:buNone/>
              <a:defRPr sz="975" b="1">
                <a:solidFill>
                  <a:srgbClr val="5E6C70"/>
                </a:solidFill>
              </a:defRPr>
            </a:lvl7pPr>
            <a:lvl8pPr algn="l">
              <a:buNone/>
              <a:defRPr sz="975" b="1">
                <a:solidFill>
                  <a:srgbClr val="5E6C70"/>
                </a:solidFill>
              </a:defRPr>
            </a:lvl8pPr>
            <a:lvl9pPr algn="l">
              <a:buNone/>
              <a:defRPr sz="975" b="1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1">
                <a:solidFill>
                  <a:srgbClr val="5E6C70"/>
                </a:solidFill>
              </a:defRPr>
            </a:pPr>
            <a:r>
              <a:rPr sz="1350" b="1">
                <a:solidFill>
                  <a:srgbClr val="5E6C70"/>
                </a:solidFill>
              </a:rPr>
              <a:t>Çubukların yönü ve büyüklüğü yalnızca ilgili gözlemin yerel vekil modeline aittir.</a:t>
            </a:r>
          </a:p>
        </p:txBody>
      </p:sp>
    </p:spTree>
    <p:extLst>
      <p:ext uri="{BB962C8B-B14F-4D97-AF65-F5344CB8AC3E}">
        <p14:creationId xmlns:p14="http://schemas.microsoft.com/office/powerpoint/2010/main" val="957740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393D7C3-BC87-4C3A-A694-CA6EB687B39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AC85DF-189A-43FF-839A-7E47B0F49C2F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Vaka çalışması: metin verisi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D82925-4B70-4383-8E13-45FAD26D3457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24D97B-D3AF-4361-BC39-4AA4808E86F8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10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8A078F-5B9C-4D50-89A0-C3BB65DA36F1}"/>
              </a:ext>
            </a:extLst>
          </p:cNvPr>
          <p:cNvSpPr>
            <a:spLocks noGrp="1"/>
          </p:cNvSpPr>
          <p:nvPr/>
        </p:nvSpPr>
        <p:spPr>
          <a:xfrm>
            <a:off x="685800" y="1914524"/>
            <a:ext cx="108204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DD2C29-7F3F-437E-B6B7-6C10AEFAD359}"/>
              </a:ext>
            </a:extLst>
          </p:cNvPr>
          <p:cNvSpPr>
            <a:spLocks noGrp="1"/>
          </p:cNvSpPr>
          <p:nvPr/>
        </p:nvSpPr>
        <p:spPr>
          <a:xfrm>
            <a:off x="895350" y="2066924"/>
            <a:ext cx="1040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725" b="1">
                <a:solidFill>
                  <a:srgbClr val="1F3038"/>
                </a:solidFill>
              </a:defRPr>
            </a:lvl1pPr>
            <a:lvl2pPr algn="ctr">
              <a:buNone/>
              <a:defRPr sz="1725" b="1">
                <a:solidFill>
                  <a:srgbClr val="1F3038"/>
                </a:solidFill>
              </a:defRPr>
            </a:lvl2pPr>
            <a:lvl3pPr algn="ctr">
              <a:buNone/>
              <a:defRPr sz="1725" b="1">
                <a:solidFill>
                  <a:srgbClr val="1F3038"/>
                </a:solidFill>
              </a:defRPr>
            </a:lvl3pPr>
            <a:lvl4pPr algn="ctr">
              <a:buNone/>
              <a:defRPr sz="1725" b="1">
                <a:solidFill>
                  <a:srgbClr val="1F3038"/>
                </a:solidFill>
              </a:defRPr>
            </a:lvl4pPr>
            <a:lvl5pPr algn="ctr">
              <a:buNone/>
              <a:defRPr sz="1725" b="1">
                <a:solidFill>
                  <a:srgbClr val="1F3038"/>
                </a:solidFill>
              </a:defRPr>
            </a:lvl5pPr>
            <a:lvl6pPr algn="ctr">
              <a:buNone/>
              <a:defRPr sz="1725" b="1">
                <a:solidFill>
                  <a:srgbClr val="1F3038"/>
                </a:solidFill>
              </a:defRPr>
            </a:lvl6pPr>
            <a:lvl7pPr algn="ctr">
              <a:buNone/>
              <a:defRPr sz="1725" b="1">
                <a:solidFill>
                  <a:srgbClr val="1F3038"/>
                </a:solidFill>
              </a:defRPr>
            </a:lvl7pPr>
            <a:lvl8pPr algn="ctr">
              <a:buNone/>
              <a:defRPr sz="1725" b="1">
                <a:solidFill>
                  <a:srgbClr val="1F3038"/>
                </a:solidFill>
              </a:defRPr>
            </a:lvl8pPr>
            <a:lvl9pPr algn="ctr">
              <a:buNone/>
              <a:defRPr sz="172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1725" b="1">
                <a:solidFill>
                  <a:srgbClr val="1F3038"/>
                </a:solidFill>
              </a:defRPr>
            </a:pPr>
            <a:r>
              <a:rPr sz="1725" b="1">
                <a:solidFill>
                  <a:srgbClr val="1F3038"/>
                </a:solidFill>
              </a:rPr>
              <a:t>“For Christmas Song visit my channel! ;)”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6F49A8-BC0D-4F0A-8A27-E0B3C449CC0D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33337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279A09-9711-4352-AC9F-620683D697BF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47625" cy="161925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2D812B-6557-4589-B759-EADC4B94F53A}"/>
              </a:ext>
            </a:extLst>
          </p:cNvPr>
          <p:cNvSpPr>
            <a:spLocks noGrp="1"/>
          </p:cNvSpPr>
          <p:nvPr/>
        </p:nvSpPr>
        <p:spPr>
          <a:xfrm>
            <a:off x="857250" y="3152775"/>
            <a:ext cx="3009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Yerel özellik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8857E7-51E0-4FE8-98F6-7C8360194478}"/>
              </a:ext>
            </a:extLst>
          </p:cNvPr>
          <p:cNvSpPr>
            <a:spLocks noGrp="1"/>
          </p:cNvSpPr>
          <p:nvPr/>
        </p:nvSpPr>
        <p:spPr>
          <a:xfrm>
            <a:off x="857250" y="3448050"/>
            <a:ext cx="30099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channel!</a:t>
            </a:r>
          </a:p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Yerel ağırlık: +6,180747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E45DB45-2868-46C6-81A2-7F27DD09998E}"/>
              </a:ext>
            </a:extLst>
          </p:cNvPr>
          <p:cNvSpPr>
            <a:spLocks noGrp="1"/>
          </p:cNvSpPr>
          <p:nvPr/>
        </p:nvSpPr>
        <p:spPr>
          <a:xfrm>
            <a:off x="4429125" y="3019425"/>
            <a:ext cx="33337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CE1A6-65A8-442F-8955-9F3E7341DF23}"/>
              </a:ext>
            </a:extLst>
          </p:cNvPr>
          <p:cNvSpPr>
            <a:spLocks noGrp="1"/>
          </p:cNvSpPr>
          <p:nvPr/>
        </p:nvSpPr>
        <p:spPr>
          <a:xfrm>
            <a:off x="4429125" y="3019425"/>
            <a:ext cx="47625" cy="1619250"/>
          </a:xfrm>
          <a:prstGeom prst="rect">
            <a:avLst/>
          </a:prstGeom>
          <a:solidFill>
            <a:srgbClr val="F5C84B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F15E75-03E2-4CB5-834C-C2F8B966DF03}"/>
              </a:ext>
            </a:extLst>
          </p:cNvPr>
          <p:cNvSpPr>
            <a:spLocks noGrp="1"/>
          </p:cNvSpPr>
          <p:nvPr/>
        </p:nvSpPr>
        <p:spPr>
          <a:xfrm>
            <a:off x="4600575" y="3152775"/>
            <a:ext cx="3009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Pertürbasyon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E0B03-1CC1-4CCF-AE2A-E53EB98C9A3E}"/>
              </a:ext>
            </a:extLst>
          </p:cNvPr>
          <p:cNvSpPr>
            <a:spLocks noGrp="1"/>
          </p:cNvSpPr>
          <p:nvPr/>
        </p:nvSpPr>
        <p:spPr>
          <a:xfrm>
            <a:off x="4600575" y="3448050"/>
            <a:ext cx="30099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“Christmas” çıkarılır.</a:t>
            </a:r>
          </a:p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Yakınlık ≈ 0,86</a:t>
            </a:r>
          </a:p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Tahmin edilen P(spam): 0,99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2F5158-F81E-4CE4-B76F-5B2DDAFC2C87}"/>
              </a:ext>
            </a:extLst>
          </p:cNvPr>
          <p:cNvSpPr>
            <a:spLocks noGrp="1"/>
          </p:cNvSpPr>
          <p:nvPr/>
        </p:nvSpPr>
        <p:spPr>
          <a:xfrm>
            <a:off x="8172450" y="3019425"/>
            <a:ext cx="33337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BCD417-A602-4D21-B53E-096AA00480B2}"/>
              </a:ext>
            </a:extLst>
          </p:cNvPr>
          <p:cNvSpPr>
            <a:spLocks noGrp="1"/>
          </p:cNvSpPr>
          <p:nvPr/>
        </p:nvSpPr>
        <p:spPr>
          <a:xfrm>
            <a:off x="8172450" y="3019425"/>
            <a:ext cx="47625" cy="16192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7045A1-5B61-4EE4-86B7-3147549B0DE9}"/>
              </a:ext>
            </a:extLst>
          </p:cNvPr>
          <p:cNvSpPr>
            <a:spLocks noGrp="1"/>
          </p:cNvSpPr>
          <p:nvPr/>
        </p:nvSpPr>
        <p:spPr>
          <a:xfrm>
            <a:off x="8343900" y="3152775"/>
            <a:ext cx="3009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Doğru yorum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9EF8A2-CA31-4BF9-8256-2FDF3CFBE85B}"/>
              </a:ext>
            </a:extLst>
          </p:cNvPr>
          <p:cNvSpPr>
            <a:spLocks noGrp="1"/>
          </p:cNvSpPr>
          <p:nvPr/>
        </p:nvSpPr>
        <p:spPr>
          <a:xfrm>
            <a:off x="8343900" y="3448050"/>
            <a:ext cx="30099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Ağırlık, sözcüğün tek başına veya nedensel etkisi değildir. Yerel vekil modeldeki katsayıdır.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D94020-9133-4413-A248-579AF705A4C1}"/>
              </a:ext>
            </a:extLst>
          </p:cNvPr>
          <p:cNvSpPr>
            <a:spLocks noGrp="1"/>
          </p:cNvSpPr>
          <p:nvPr/>
        </p:nvSpPr>
        <p:spPr>
          <a:xfrm>
            <a:off x="1485900" y="5286375"/>
            <a:ext cx="9220200" cy="342900"/>
          </a:xfrm>
          <a:prstGeom prst="rect">
            <a:avLst/>
          </a:prstGeom>
          <a:solidFill>
            <a:srgbClr val="FFE1D8"/>
          </a:solidFill>
          <a:ln w="9525">
            <a:solidFill>
              <a:srgbClr val="FFE1D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95641-A109-4920-A7A0-AA33E7879415}"/>
              </a:ext>
            </a:extLst>
          </p:cNvPr>
          <p:cNvSpPr>
            <a:spLocks noGrp="1"/>
          </p:cNvSpPr>
          <p:nvPr/>
        </p:nvSpPr>
        <p:spPr>
          <a:xfrm>
            <a:off x="1638300" y="5324475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1">
                <a:solidFill>
                  <a:srgbClr val="FF654A"/>
                </a:solidFill>
              </a:defRPr>
            </a:lvl1pPr>
            <a:lvl2pPr algn="ctr">
              <a:buNone/>
              <a:defRPr sz="975" b="1">
                <a:solidFill>
                  <a:srgbClr val="FF654A"/>
                </a:solidFill>
              </a:defRPr>
            </a:lvl2pPr>
            <a:lvl3pPr algn="ctr">
              <a:buNone/>
              <a:defRPr sz="975" b="1">
                <a:solidFill>
                  <a:srgbClr val="FF654A"/>
                </a:solidFill>
              </a:defRPr>
            </a:lvl3pPr>
            <a:lvl4pPr algn="ctr">
              <a:buNone/>
              <a:defRPr sz="975" b="1">
                <a:solidFill>
                  <a:srgbClr val="FF654A"/>
                </a:solidFill>
              </a:defRPr>
            </a:lvl4pPr>
            <a:lvl5pPr algn="ctr">
              <a:buNone/>
              <a:defRPr sz="975" b="1">
                <a:solidFill>
                  <a:srgbClr val="FF654A"/>
                </a:solidFill>
              </a:defRPr>
            </a:lvl5pPr>
            <a:lvl6pPr algn="ctr">
              <a:buNone/>
              <a:defRPr sz="975" b="1">
                <a:solidFill>
                  <a:srgbClr val="FF654A"/>
                </a:solidFill>
              </a:defRPr>
            </a:lvl6pPr>
            <a:lvl7pPr algn="ctr">
              <a:buNone/>
              <a:defRPr sz="975" b="1">
                <a:solidFill>
                  <a:srgbClr val="FF654A"/>
                </a:solidFill>
              </a:defRPr>
            </a:lvl7pPr>
            <a:lvl8pPr algn="ctr">
              <a:buNone/>
              <a:defRPr sz="975" b="1">
                <a:solidFill>
                  <a:srgbClr val="FF654A"/>
                </a:solidFill>
              </a:defRPr>
            </a:lvl8pPr>
            <a:lvl9pPr algn="ctr">
              <a:buNone/>
              <a:defRPr sz="975" b="1">
                <a:solidFill>
                  <a:srgbClr val="FF654A"/>
                </a:solidFill>
              </a:defRPr>
            </a:lvl9pPr>
          </a:lstStyle>
          <a:p>
            <a:pPr algn="ctr">
              <a:buNone/>
              <a:defRPr sz="975" b="1">
                <a:solidFill>
                  <a:srgbClr val="FF654A"/>
                </a:solidFill>
              </a:defRPr>
            </a:pPr>
            <a:r>
              <a:rPr sz="1350" b="1">
                <a:solidFill>
                  <a:srgbClr val="FF654A"/>
                </a:solidFill>
              </a:rPr>
              <a:t>Metin açıklaması, seçilen yorum çevresine ve pertürbasyon dağılımına bağlıdır.</a:t>
            </a:r>
          </a:p>
        </p:txBody>
      </p:sp>
    </p:spTree>
    <p:extLst>
      <p:ext uri="{BB962C8B-B14F-4D97-AF65-F5344CB8AC3E}">
        <p14:creationId xmlns:p14="http://schemas.microsoft.com/office/powerpoint/2010/main" val="420780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A02598D-43AB-415D-A5E7-18E1A9E0B1AD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4FAFDB-83DA-49BC-9845-38E946B78FEF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Vaka çalışması: görüntü verisi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C753CF-04AC-4D6C-91B3-1FF7C053E402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7C2002-5787-42CD-9334-2697491E7B4A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11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EA6893-155F-4FDE-AB2C-627684571D51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5219700"/>
          </a:xfrm>
          <a:prstGeom prst="rect">
            <a:avLst/>
          </a:prstGeom>
          <a:solidFill>
            <a:srgbClr val="F7F7F4"/>
          </a:solidFill>
          <a:ln w="0">
            <a:solidFill>
              <a:srgbClr val="F7F7F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507818"/>
            <a:ext cx="10820400" cy="3661389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345A178-5720-4597-8896-41B9BC019C83}"/>
              </a:ext>
            </a:extLst>
          </p:cNvPr>
          <p:cNvSpPr>
            <a:spLocks noGrp="1"/>
          </p:cNvSpPr>
          <p:nvPr/>
        </p:nvSpPr>
        <p:spPr>
          <a:xfrm>
            <a:off x="1524000" y="5219700"/>
            <a:ext cx="91440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4DA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8D9B2E-8875-4687-8D6D-6E3DCBAF9B9C}"/>
              </a:ext>
            </a:extLst>
          </p:cNvPr>
          <p:cNvSpPr>
            <a:spLocks noGrp="1"/>
          </p:cNvSpPr>
          <p:nvPr/>
        </p:nvSpPr>
        <p:spPr>
          <a:xfrm>
            <a:off x="1524000" y="5219700"/>
            <a:ext cx="47625" cy="704850"/>
          </a:xfrm>
          <a:prstGeom prst="rect">
            <a:avLst/>
          </a:prstGeom>
          <a:solidFill>
            <a:srgbClr val="FF654A"/>
          </a:solidFill>
          <a:ln w="0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0452B5-DF02-4FBC-B93C-5816ED37841D}"/>
              </a:ext>
            </a:extLst>
          </p:cNvPr>
          <p:cNvSpPr>
            <a:spLocks noGrp="1"/>
          </p:cNvSpPr>
          <p:nvPr/>
        </p:nvSpPr>
        <p:spPr>
          <a:xfrm>
            <a:off x="1695450" y="5334000"/>
            <a:ext cx="882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Soldan sağa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39E347-054E-46FD-96C7-6B5D9798A76F}"/>
              </a:ext>
            </a:extLst>
          </p:cNvPr>
          <p:cNvSpPr>
            <a:spLocks noGrp="1"/>
          </p:cNvSpPr>
          <p:nvPr/>
        </p:nvSpPr>
        <p:spPr>
          <a:xfrm>
            <a:off x="1695450" y="5657850"/>
            <a:ext cx="8820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Özgün görüntü, “bagel” sınıfını destekleyen bölgeler ve alternatif sınıf için renkli açıklama haritası.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51E0E0-0158-40D8-8BEB-28823FF3B9D2}"/>
              </a:ext>
            </a:extLst>
          </p:cNvPr>
          <p:cNvSpPr>
            <a:spLocks noGrp="1"/>
          </p:cNvSpPr>
          <p:nvPr/>
        </p:nvSpPr>
        <p:spPr>
          <a:xfrm>
            <a:off x="2095500" y="6000750"/>
            <a:ext cx="800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050" b="1">
                <a:solidFill>
                  <a:srgbClr val="FF654A"/>
                </a:solidFill>
              </a:defRPr>
            </a:lvl1pPr>
            <a:lvl2pPr algn="ctr">
              <a:buNone/>
              <a:defRPr sz="1050" b="1">
                <a:solidFill>
                  <a:srgbClr val="FF654A"/>
                </a:solidFill>
              </a:defRPr>
            </a:lvl2pPr>
            <a:lvl3pPr algn="ctr">
              <a:buNone/>
              <a:defRPr sz="1050" b="1">
                <a:solidFill>
                  <a:srgbClr val="FF654A"/>
                </a:solidFill>
              </a:defRPr>
            </a:lvl3pPr>
            <a:lvl4pPr algn="ctr">
              <a:buNone/>
              <a:defRPr sz="1050" b="1">
                <a:solidFill>
                  <a:srgbClr val="FF654A"/>
                </a:solidFill>
              </a:defRPr>
            </a:lvl4pPr>
            <a:lvl5pPr algn="ctr">
              <a:buNone/>
              <a:defRPr sz="1050" b="1">
                <a:solidFill>
                  <a:srgbClr val="FF654A"/>
                </a:solidFill>
              </a:defRPr>
            </a:lvl5pPr>
            <a:lvl6pPr algn="ctr">
              <a:buNone/>
              <a:defRPr sz="1050" b="1">
                <a:solidFill>
                  <a:srgbClr val="FF654A"/>
                </a:solidFill>
              </a:defRPr>
            </a:lvl6pPr>
            <a:lvl7pPr algn="ctr">
              <a:buNone/>
              <a:defRPr sz="1050" b="1">
                <a:solidFill>
                  <a:srgbClr val="FF654A"/>
                </a:solidFill>
              </a:defRPr>
            </a:lvl7pPr>
            <a:lvl8pPr algn="ctr">
              <a:buNone/>
              <a:defRPr sz="1050" b="1">
                <a:solidFill>
                  <a:srgbClr val="FF654A"/>
                </a:solidFill>
              </a:defRPr>
            </a:lvl8pPr>
            <a:lvl9pPr algn="ctr">
              <a:buNone/>
              <a:defRPr sz="1050" b="1">
                <a:solidFill>
                  <a:srgbClr val="FF654A"/>
                </a:solidFill>
              </a:defRPr>
            </a:lvl9pPr>
          </a:lstStyle>
          <a:p>
            <a:pPr algn="ctr">
              <a:buNone/>
              <a:defRPr sz="1050" b="1">
                <a:solidFill>
                  <a:srgbClr val="FF654A"/>
                </a:solidFill>
              </a:defRPr>
            </a:pPr>
            <a:r>
              <a:rPr sz="1350" b="1">
                <a:solidFill>
                  <a:srgbClr val="FF654A"/>
                </a:solidFill>
              </a:rPr>
              <a:t>Makul açıklama, tahminin doğru olduğu anlamına gelmez: görüntüdekiler bagel değildir.</a:t>
            </a:r>
          </a:p>
        </p:txBody>
      </p:sp>
    </p:spTree>
    <p:extLst>
      <p:ext uri="{BB962C8B-B14F-4D97-AF65-F5344CB8AC3E}">
        <p14:creationId xmlns:p14="http://schemas.microsoft.com/office/powerpoint/2010/main" val="47247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90D892F-83CB-425F-8E4B-D40CD28EBECC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22A551-DCFD-4054-BC82-35735CBB52D2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Çekirdek genişliği problemi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16441B-889D-477A-9058-80ED11C896EC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C3677B-858D-4478-B37A-81AE3DAD30B3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12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959977-3768-45DD-BC5E-8F8CD2E9DBEA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5219700"/>
          </a:xfrm>
          <a:prstGeom prst="rect">
            <a:avLst/>
          </a:prstGeom>
          <a:solidFill>
            <a:srgbClr val="F7F7F4"/>
          </a:solidFill>
          <a:ln w="0">
            <a:solidFill>
              <a:srgbClr val="F7F7F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7725" y="1371600"/>
            <a:ext cx="6800850" cy="4857750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F069556-39AF-4D1D-9742-935EDE22DB2F}"/>
              </a:ext>
            </a:extLst>
          </p:cNvPr>
          <p:cNvSpPr>
            <a:spLocks noGrp="1"/>
          </p:cNvSpPr>
          <p:nvPr/>
        </p:nvSpPr>
        <p:spPr>
          <a:xfrm>
            <a:off x="8153400" y="1524000"/>
            <a:ext cx="33528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4DA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1AAB46-C29E-4970-82F0-366B732D88D6}"/>
              </a:ext>
            </a:extLst>
          </p:cNvPr>
          <p:cNvSpPr>
            <a:spLocks noGrp="1"/>
          </p:cNvSpPr>
          <p:nvPr/>
        </p:nvSpPr>
        <p:spPr>
          <a:xfrm>
            <a:off x="8153400" y="1524000"/>
            <a:ext cx="47625" cy="1066800"/>
          </a:xfrm>
          <a:prstGeom prst="rect">
            <a:avLst/>
          </a:prstGeom>
          <a:solidFill>
            <a:srgbClr val="FF654A"/>
          </a:solidFill>
          <a:ln w="0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ECB5D9-1939-4A7A-B5E6-8E39F4BB366A}"/>
              </a:ext>
            </a:extLst>
          </p:cNvPr>
          <p:cNvSpPr>
            <a:spLocks noGrp="1"/>
          </p:cNvSpPr>
          <p:nvPr/>
        </p:nvSpPr>
        <p:spPr>
          <a:xfrm>
            <a:off x="8324850" y="1638300"/>
            <a:ext cx="3028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σ = 0,1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572AFB-0970-4E1A-8558-928F4E65891A}"/>
              </a:ext>
            </a:extLst>
          </p:cNvPr>
          <p:cNvSpPr>
            <a:spLocks noGrp="1"/>
          </p:cNvSpPr>
          <p:nvPr/>
        </p:nvSpPr>
        <p:spPr>
          <a:xfrm>
            <a:off x="8324850" y="1962150"/>
            <a:ext cx="3028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x çevresindeki dar bölgeye odaklanır. Eğim negatif çıkar.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57BA59E-5AC4-45F7-8299-8BF862BD0979}"/>
              </a:ext>
            </a:extLst>
          </p:cNvPr>
          <p:cNvSpPr>
            <a:spLocks noGrp="1"/>
          </p:cNvSpPr>
          <p:nvPr/>
        </p:nvSpPr>
        <p:spPr>
          <a:xfrm>
            <a:off x="8153400" y="2781300"/>
            <a:ext cx="33528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4DA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782F79-C8A5-4275-87A0-A378226A03DF}"/>
              </a:ext>
            </a:extLst>
          </p:cNvPr>
          <p:cNvSpPr>
            <a:spLocks noGrp="1"/>
          </p:cNvSpPr>
          <p:nvPr/>
        </p:nvSpPr>
        <p:spPr>
          <a:xfrm>
            <a:off x="8153400" y="2781300"/>
            <a:ext cx="47625" cy="1066800"/>
          </a:xfrm>
          <a:prstGeom prst="rect">
            <a:avLst/>
          </a:prstGeom>
          <a:solidFill>
            <a:srgbClr val="1A8D8D"/>
          </a:solidFill>
          <a:ln w="0">
            <a:solidFill>
              <a:srgbClr val="1A8D8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02B194-98A5-42F5-B5CF-D013C100EE05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28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σ = 0,75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230356-2381-41FA-8622-00BC36E0A410}"/>
              </a:ext>
            </a:extLst>
          </p:cNvPr>
          <p:cNvSpPr>
            <a:spLocks noGrp="1"/>
          </p:cNvSpPr>
          <p:nvPr/>
        </p:nvSpPr>
        <p:spPr>
          <a:xfrm>
            <a:off x="8324850" y="3219450"/>
            <a:ext cx="3028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Eğim neredeyse sıfıra iner: özellik yerel olarak etkisizmiş gibi görünür.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C2BA72F-BE84-4562-8ED3-335A33FDA7D6}"/>
              </a:ext>
            </a:extLst>
          </p:cNvPr>
          <p:cNvSpPr>
            <a:spLocks noGrp="1"/>
          </p:cNvSpPr>
          <p:nvPr/>
        </p:nvSpPr>
        <p:spPr>
          <a:xfrm>
            <a:off x="8153400" y="4038600"/>
            <a:ext cx="33528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BB48D1-3C6C-4D8D-90CA-C1ABE843BC87}"/>
              </a:ext>
            </a:extLst>
          </p:cNvPr>
          <p:cNvSpPr>
            <a:spLocks noGrp="1"/>
          </p:cNvSpPr>
          <p:nvPr/>
        </p:nvSpPr>
        <p:spPr>
          <a:xfrm>
            <a:off x="8153400" y="4038600"/>
            <a:ext cx="47625" cy="1257300"/>
          </a:xfrm>
          <a:prstGeom prst="rect">
            <a:avLst/>
          </a:prstGeom>
          <a:solidFill>
            <a:srgbClr val="F5C84B"/>
          </a:solidFill>
          <a:ln w="0">
            <a:solidFill>
              <a:srgbClr val="F5C84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5B5FDD-B75C-464B-817E-1597CA156D32}"/>
              </a:ext>
            </a:extLst>
          </p:cNvPr>
          <p:cNvSpPr>
            <a:spLocks noGrp="1"/>
          </p:cNvSpPr>
          <p:nvPr/>
        </p:nvSpPr>
        <p:spPr>
          <a:xfrm>
            <a:off x="8324850" y="4152900"/>
            <a:ext cx="3028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σ = 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406667-7B33-453F-9D60-90D1599CC1A1}"/>
              </a:ext>
            </a:extLst>
          </p:cNvPr>
          <p:cNvSpPr>
            <a:spLocks noGrp="1"/>
          </p:cNvSpPr>
          <p:nvPr/>
        </p:nvSpPr>
        <p:spPr>
          <a:xfrm>
            <a:off x="8324850" y="4476750"/>
            <a:ext cx="3028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Uzak noktalar da etkili olur. Eğim pozitife döner.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F9BAC4-63B4-46DC-8503-90F878004C95}"/>
              </a:ext>
            </a:extLst>
          </p:cNvPr>
          <p:cNvSpPr>
            <a:spLocks noGrp="1"/>
          </p:cNvSpPr>
          <p:nvPr/>
        </p:nvSpPr>
        <p:spPr>
          <a:xfrm>
            <a:off x="8153400" y="5562600"/>
            <a:ext cx="335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1">
                <a:solidFill>
                  <a:srgbClr val="5E6C70"/>
                </a:solidFill>
              </a:defRPr>
            </a:lvl1pPr>
            <a:lvl2pPr algn="l">
              <a:buNone/>
              <a:defRPr sz="975" b="1">
                <a:solidFill>
                  <a:srgbClr val="5E6C70"/>
                </a:solidFill>
              </a:defRPr>
            </a:lvl2pPr>
            <a:lvl3pPr algn="l">
              <a:buNone/>
              <a:defRPr sz="975" b="1">
                <a:solidFill>
                  <a:srgbClr val="5E6C70"/>
                </a:solidFill>
              </a:defRPr>
            </a:lvl3pPr>
            <a:lvl4pPr algn="l">
              <a:buNone/>
              <a:defRPr sz="975" b="1">
                <a:solidFill>
                  <a:srgbClr val="5E6C70"/>
                </a:solidFill>
              </a:defRPr>
            </a:lvl4pPr>
            <a:lvl5pPr algn="l">
              <a:buNone/>
              <a:defRPr sz="975" b="1">
                <a:solidFill>
                  <a:srgbClr val="5E6C70"/>
                </a:solidFill>
              </a:defRPr>
            </a:lvl5pPr>
            <a:lvl6pPr algn="l">
              <a:buNone/>
              <a:defRPr sz="975" b="1">
                <a:solidFill>
                  <a:srgbClr val="5E6C70"/>
                </a:solidFill>
              </a:defRPr>
            </a:lvl6pPr>
            <a:lvl7pPr algn="l">
              <a:buNone/>
              <a:defRPr sz="975" b="1">
                <a:solidFill>
                  <a:srgbClr val="5E6C70"/>
                </a:solidFill>
              </a:defRPr>
            </a:lvl7pPr>
            <a:lvl8pPr algn="l">
              <a:buNone/>
              <a:defRPr sz="975" b="1">
                <a:solidFill>
                  <a:srgbClr val="5E6C70"/>
                </a:solidFill>
              </a:defRPr>
            </a:lvl8pPr>
            <a:lvl9pPr algn="l">
              <a:buNone/>
              <a:defRPr sz="975" b="1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1">
                <a:solidFill>
                  <a:srgbClr val="5E6C70"/>
                </a:solidFill>
              </a:defRPr>
            </a:pPr>
            <a:r>
              <a:rPr sz="1350" b="1">
                <a:solidFill>
                  <a:srgbClr val="5E6C70"/>
                </a:solidFill>
              </a:rPr>
              <a:t>Aynı x = 1,6 noktası için eğim negatif, sıfır ya da pozitif çıkabilir.</a:t>
            </a:r>
          </a:p>
        </p:txBody>
      </p:sp>
    </p:spTree>
    <p:extLst>
      <p:ext uri="{BB962C8B-B14F-4D97-AF65-F5344CB8AC3E}">
        <p14:creationId xmlns:p14="http://schemas.microsoft.com/office/powerpoint/2010/main" val="2038558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07C05C3-3ACD-4D43-9A49-91D76F522FA0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E64293-50F2-4970-8E90-65FFB69F8224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LIME kullanımındaki kritik riskler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765E91-9C98-4999-95EA-C914C796897F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F8FED3-8467-4369-8C80-48EA7384C42E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13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35CD4B-C08F-4D84-AE00-BFFFF2EE808A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4953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D2F24E-6D73-4B20-AD9F-3E8806A90A11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47625" cy="152400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C48867-68EA-47DC-8D21-604A918F9453}"/>
              </a:ext>
            </a:extLst>
          </p:cNvPr>
          <p:cNvSpPr>
            <a:spLocks noGrp="1"/>
          </p:cNvSpPr>
          <p:nvPr/>
        </p:nvSpPr>
        <p:spPr>
          <a:xfrm>
            <a:off x="857250" y="1885950"/>
            <a:ext cx="462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Gerçekçi olmayan örnekler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4FF7C4-57D2-4FCB-A529-3D63E63191C6}"/>
              </a:ext>
            </a:extLst>
          </p:cNvPr>
          <p:cNvSpPr>
            <a:spLocks noGrp="1"/>
          </p:cNvSpPr>
          <p:nvPr/>
        </p:nvSpPr>
        <p:spPr>
          <a:xfrm>
            <a:off x="857250" y="2181225"/>
            <a:ext cx="4629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Tablo verisinde bağımsız Gauss örneklemesi, özellik korelasyonlarını bozabilir.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5CB10F3-981C-47D0-B061-C5A7E7307BBB}"/>
              </a:ext>
            </a:extLst>
          </p:cNvPr>
          <p:cNvSpPr>
            <a:spLocks noGrp="1"/>
          </p:cNvSpPr>
          <p:nvPr/>
        </p:nvSpPr>
        <p:spPr>
          <a:xfrm>
            <a:off x="5867400" y="1752600"/>
            <a:ext cx="56388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DE5493-D202-4B7E-977C-61B1C2365856}"/>
              </a:ext>
            </a:extLst>
          </p:cNvPr>
          <p:cNvSpPr>
            <a:spLocks noGrp="1"/>
          </p:cNvSpPr>
          <p:nvPr/>
        </p:nvSpPr>
        <p:spPr>
          <a:xfrm>
            <a:off x="5867400" y="1752600"/>
            <a:ext cx="47625" cy="1524000"/>
          </a:xfrm>
          <a:prstGeom prst="rect">
            <a:avLst/>
          </a:prstGeom>
          <a:solidFill>
            <a:srgbClr val="F5C84B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E9458F-B978-453B-A388-ADA8B1E71E1B}"/>
              </a:ext>
            </a:extLst>
          </p:cNvPr>
          <p:cNvSpPr>
            <a:spLocks noGrp="1"/>
          </p:cNvSpPr>
          <p:nvPr/>
        </p:nvSpPr>
        <p:spPr>
          <a:xfrm>
            <a:off x="6038850" y="1885950"/>
            <a:ext cx="5314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Kararsızlık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A67469-3FF9-4419-9724-0A9CFC15088F}"/>
              </a:ext>
            </a:extLst>
          </p:cNvPr>
          <p:cNvSpPr>
            <a:spLocks noGrp="1"/>
          </p:cNvSpPr>
          <p:nvPr/>
        </p:nvSpPr>
        <p:spPr>
          <a:xfrm>
            <a:off x="6038850" y="2181225"/>
            <a:ext cx="53149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Farklı rastgele örnekler veya çekirdek ayarları farklı açıklamalar üretebilir.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448F8AB-9068-4727-821D-1DC775FB6F3A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4953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6A5F5D-D965-46B7-9958-6A38A6BB8709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47625" cy="1524000"/>
          </a:xfrm>
          <a:prstGeom prst="rect">
            <a:avLst/>
          </a:prstGeom>
          <a:solidFill>
            <a:srgbClr val="F5C84B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1584D9-7C69-4D01-A8E9-BF54252A7160}"/>
              </a:ext>
            </a:extLst>
          </p:cNvPr>
          <p:cNvSpPr>
            <a:spLocks noGrp="1"/>
          </p:cNvSpPr>
          <p:nvPr/>
        </p:nvSpPr>
        <p:spPr>
          <a:xfrm>
            <a:off x="857250" y="3638550"/>
            <a:ext cx="462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İhtiyari karmaşıklık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4BE985-0A5B-4347-A043-7C1EAB6549FE}"/>
              </a:ext>
            </a:extLst>
          </p:cNvPr>
          <p:cNvSpPr>
            <a:spLocks noGrp="1"/>
          </p:cNvSpPr>
          <p:nvPr/>
        </p:nvSpPr>
        <p:spPr>
          <a:xfrm>
            <a:off x="857250" y="3933825"/>
            <a:ext cx="4629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Azami özellik sayısı ve vekil model seçimi açıklamanın biçimini belirler.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7D06354-7E4E-40DA-9232-9AAAACE795E5}"/>
              </a:ext>
            </a:extLst>
          </p:cNvPr>
          <p:cNvSpPr>
            <a:spLocks noGrp="1"/>
          </p:cNvSpPr>
          <p:nvPr/>
        </p:nvSpPr>
        <p:spPr>
          <a:xfrm>
            <a:off x="5867400" y="3505200"/>
            <a:ext cx="56388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786DD1-4DA1-4E23-96D6-B96148552E51}"/>
              </a:ext>
            </a:extLst>
          </p:cNvPr>
          <p:cNvSpPr>
            <a:spLocks noGrp="1"/>
          </p:cNvSpPr>
          <p:nvPr/>
        </p:nvSpPr>
        <p:spPr>
          <a:xfrm>
            <a:off x="5867400" y="3505200"/>
            <a:ext cx="47625" cy="152400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CFF716-6BA4-41D5-9BDA-A170DE542986}"/>
              </a:ext>
            </a:extLst>
          </p:cNvPr>
          <p:cNvSpPr>
            <a:spLocks noGrp="1"/>
          </p:cNvSpPr>
          <p:nvPr/>
        </p:nvSpPr>
        <p:spPr>
          <a:xfrm>
            <a:off x="6038850" y="3638550"/>
            <a:ext cx="5314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Manipülasyon riski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06359D-0117-428A-8A91-20470BA64F76}"/>
              </a:ext>
            </a:extLst>
          </p:cNvPr>
          <p:cNvSpPr>
            <a:spLocks noGrp="1"/>
          </p:cNvSpPr>
          <p:nvPr/>
        </p:nvSpPr>
        <p:spPr>
          <a:xfrm>
            <a:off x="6038850" y="3933825"/>
            <a:ext cx="53149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Açıklanan model ile açıklayıcı model ayrımı, seçici veya yanıltıcı açıklamalara açık olabilir.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D2B131-E836-4EB5-A13A-80F67C107DEA}"/>
              </a:ext>
            </a:extLst>
          </p:cNvPr>
          <p:cNvSpPr>
            <a:spLocks noGrp="1"/>
          </p:cNvSpPr>
          <p:nvPr/>
        </p:nvSpPr>
        <p:spPr>
          <a:xfrm>
            <a:off x="1485900" y="5448300"/>
            <a:ext cx="9220200" cy="342900"/>
          </a:xfrm>
          <a:prstGeom prst="rect">
            <a:avLst/>
          </a:prstGeom>
          <a:solidFill>
            <a:srgbClr val="FFE1D8"/>
          </a:solidFill>
          <a:ln w="9525">
            <a:solidFill>
              <a:srgbClr val="FFE1D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F494A0-3505-4123-84E9-D1B093A68C39}"/>
              </a:ext>
            </a:extLst>
          </p:cNvPr>
          <p:cNvSpPr>
            <a:spLocks noGrp="1"/>
          </p:cNvSpPr>
          <p:nvPr/>
        </p:nvSpPr>
        <p:spPr>
          <a:xfrm>
            <a:off x="1638300" y="5486400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1">
                <a:solidFill>
                  <a:srgbClr val="FF654A"/>
                </a:solidFill>
              </a:defRPr>
            </a:lvl1pPr>
            <a:lvl2pPr algn="ctr">
              <a:buNone/>
              <a:defRPr sz="975" b="1">
                <a:solidFill>
                  <a:srgbClr val="FF654A"/>
                </a:solidFill>
              </a:defRPr>
            </a:lvl2pPr>
            <a:lvl3pPr algn="ctr">
              <a:buNone/>
              <a:defRPr sz="975" b="1">
                <a:solidFill>
                  <a:srgbClr val="FF654A"/>
                </a:solidFill>
              </a:defRPr>
            </a:lvl3pPr>
            <a:lvl4pPr algn="ctr">
              <a:buNone/>
              <a:defRPr sz="975" b="1">
                <a:solidFill>
                  <a:srgbClr val="FF654A"/>
                </a:solidFill>
              </a:defRPr>
            </a:lvl4pPr>
            <a:lvl5pPr algn="ctr">
              <a:buNone/>
              <a:defRPr sz="975" b="1">
                <a:solidFill>
                  <a:srgbClr val="FF654A"/>
                </a:solidFill>
              </a:defRPr>
            </a:lvl5pPr>
            <a:lvl6pPr algn="ctr">
              <a:buNone/>
              <a:defRPr sz="975" b="1">
                <a:solidFill>
                  <a:srgbClr val="FF654A"/>
                </a:solidFill>
              </a:defRPr>
            </a:lvl6pPr>
            <a:lvl7pPr algn="ctr">
              <a:buNone/>
              <a:defRPr sz="975" b="1">
                <a:solidFill>
                  <a:srgbClr val="FF654A"/>
                </a:solidFill>
              </a:defRPr>
            </a:lvl7pPr>
            <a:lvl8pPr algn="ctr">
              <a:buNone/>
              <a:defRPr sz="975" b="1">
                <a:solidFill>
                  <a:srgbClr val="FF654A"/>
                </a:solidFill>
              </a:defRPr>
            </a:lvl8pPr>
            <a:lvl9pPr algn="ctr">
              <a:buNone/>
              <a:defRPr sz="975" b="1">
                <a:solidFill>
                  <a:srgbClr val="FF654A"/>
                </a:solidFill>
              </a:defRPr>
            </a:lvl9pPr>
          </a:lstStyle>
          <a:p>
            <a:pPr algn="ctr">
              <a:buNone/>
              <a:defRPr sz="975" b="1">
                <a:solidFill>
                  <a:srgbClr val="FF654A"/>
                </a:solidFill>
              </a:defRPr>
            </a:pPr>
            <a:r>
              <a:rPr sz="1350" b="1">
                <a:solidFill>
                  <a:srgbClr val="FF654A"/>
                </a:solidFill>
              </a:rPr>
              <a:t>Yerel sadakat, kararlılık ve örnek gerçekçiliği ayrı ayrı sınanmalıdır.</a:t>
            </a:r>
          </a:p>
        </p:txBody>
      </p:sp>
    </p:spTree>
    <p:extLst>
      <p:ext uri="{BB962C8B-B14F-4D97-AF65-F5344CB8AC3E}">
        <p14:creationId xmlns:p14="http://schemas.microsoft.com/office/powerpoint/2010/main" val="703313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3D05386-9FF5-4457-9CC5-95FD17F15B06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1634FE-9CD4-4072-BAAB-78D46944F12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LIME’in güçlü yönleri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3F6690-91F1-4DAA-B1B8-7079447A7CC1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CA1F10-3ACA-43D9-914E-197D474D16CD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14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652E02-24DF-4627-AA62-1060E65B292D}"/>
              </a:ext>
            </a:extLst>
          </p:cNvPr>
          <p:cNvSpPr>
            <a:spLocks noGrp="1"/>
          </p:cNvSpPr>
          <p:nvPr/>
        </p:nvSpPr>
        <p:spPr>
          <a:xfrm>
            <a:off x="685800" y="1895475"/>
            <a:ext cx="4953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C5A7C2-0467-4865-9867-BC76739E9FEA}"/>
              </a:ext>
            </a:extLst>
          </p:cNvPr>
          <p:cNvSpPr>
            <a:spLocks noGrp="1"/>
          </p:cNvSpPr>
          <p:nvPr/>
        </p:nvSpPr>
        <p:spPr>
          <a:xfrm>
            <a:off x="685800" y="1895475"/>
            <a:ext cx="47625" cy="133350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4D3A62-3562-4D87-A409-F0FB687D94AD}"/>
              </a:ext>
            </a:extLst>
          </p:cNvPr>
          <p:cNvSpPr>
            <a:spLocks noGrp="1"/>
          </p:cNvSpPr>
          <p:nvPr/>
        </p:nvSpPr>
        <p:spPr>
          <a:xfrm>
            <a:off x="857250" y="2028825"/>
            <a:ext cx="462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Modelden bağımsız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7064B6-6965-44C1-BDFF-3569C3A5E4E0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4629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Tahmin sorguları yeterlidir; iç mimariyi bilmek gerekmez.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AC42E1-27D6-4C83-A647-E22B053A4B3C}"/>
              </a:ext>
            </a:extLst>
          </p:cNvPr>
          <p:cNvSpPr>
            <a:spLocks noGrp="1"/>
          </p:cNvSpPr>
          <p:nvPr/>
        </p:nvSpPr>
        <p:spPr>
          <a:xfrm>
            <a:off x="5867400" y="1895475"/>
            <a:ext cx="56388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961B4D-FB16-4BE7-89E1-5432A7FB90C2}"/>
              </a:ext>
            </a:extLst>
          </p:cNvPr>
          <p:cNvSpPr>
            <a:spLocks noGrp="1"/>
          </p:cNvSpPr>
          <p:nvPr/>
        </p:nvSpPr>
        <p:spPr>
          <a:xfrm>
            <a:off x="5867400" y="1895475"/>
            <a:ext cx="47625" cy="1333500"/>
          </a:xfrm>
          <a:prstGeom prst="rect">
            <a:avLst/>
          </a:prstGeom>
          <a:solidFill>
            <a:srgbClr val="F5C84B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5A79F2-5C22-481B-B434-D7042E8B5825}"/>
              </a:ext>
            </a:extLst>
          </p:cNvPr>
          <p:cNvSpPr>
            <a:spLocks noGrp="1"/>
          </p:cNvSpPr>
          <p:nvPr/>
        </p:nvSpPr>
        <p:spPr>
          <a:xfrm>
            <a:off x="6038850" y="2028825"/>
            <a:ext cx="5314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Yerel odak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0DE62E-1EC3-4C89-AF6A-55DF52687E1B}"/>
              </a:ext>
            </a:extLst>
          </p:cNvPr>
          <p:cNvSpPr>
            <a:spLocks noGrp="1"/>
          </p:cNvSpPr>
          <p:nvPr/>
        </p:nvSpPr>
        <p:spPr>
          <a:xfrm>
            <a:off x="6038850" y="2324100"/>
            <a:ext cx="5314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Tek bir karar için en ilgili özellikleri öne çıkarır.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B4B80CC-2C91-4F3B-B410-D8C82307C524}"/>
              </a:ext>
            </a:extLst>
          </p:cNvPr>
          <p:cNvSpPr>
            <a:spLocks noGrp="1"/>
          </p:cNvSpPr>
          <p:nvPr/>
        </p:nvSpPr>
        <p:spPr>
          <a:xfrm>
            <a:off x="685800" y="3457575"/>
            <a:ext cx="4953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1F7199-6E92-49EE-BEF6-1626DC0A7CA1}"/>
              </a:ext>
            </a:extLst>
          </p:cNvPr>
          <p:cNvSpPr>
            <a:spLocks noGrp="1"/>
          </p:cNvSpPr>
          <p:nvPr/>
        </p:nvSpPr>
        <p:spPr>
          <a:xfrm>
            <a:off x="685800" y="3457575"/>
            <a:ext cx="47625" cy="1333500"/>
          </a:xfrm>
          <a:prstGeom prst="rect">
            <a:avLst/>
          </a:prstGeom>
          <a:solidFill>
            <a:srgbClr val="F5C84B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78C3A8-3B45-415C-8CD8-E00A51024BB6}"/>
              </a:ext>
            </a:extLst>
          </p:cNvPr>
          <p:cNvSpPr>
            <a:spLocks noGrp="1"/>
          </p:cNvSpPr>
          <p:nvPr/>
        </p:nvSpPr>
        <p:spPr>
          <a:xfrm>
            <a:off x="857250" y="3590925"/>
            <a:ext cx="462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Çoklu veri türü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47D82D-DD9D-469F-B618-4C5D2B577063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4629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Tablo, metin ve görüntü için ortak bir açıklama çerçevesi sunar.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0DD5EF7-283F-4A1E-ACE8-B0EAC665417C}"/>
              </a:ext>
            </a:extLst>
          </p:cNvPr>
          <p:cNvSpPr>
            <a:spLocks noGrp="1"/>
          </p:cNvSpPr>
          <p:nvPr/>
        </p:nvSpPr>
        <p:spPr>
          <a:xfrm>
            <a:off x="5867400" y="3457575"/>
            <a:ext cx="56388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98607B-E035-43C2-A2FB-E8957DFDBAE3}"/>
              </a:ext>
            </a:extLst>
          </p:cNvPr>
          <p:cNvSpPr>
            <a:spLocks noGrp="1"/>
          </p:cNvSpPr>
          <p:nvPr/>
        </p:nvSpPr>
        <p:spPr>
          <a:xfrm>
            <a:off x="5867400" y="3457575"/>
            <a:ext cx="47625" cy="133350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8841FF-510B-4CAF-805E-7CD510302F49}"/>
              </a:ext>
            </a:extLst>
          </p:cNvPr>
          <p:cNvSpPr>
            <a:spLocks noGrp="1"/>
          </p:cNvSpPr>
          <p:nvPr/>
        </p:nvSpPr>
        <p:spPr>
          <a:xfrm>
            <a:off x="6038850" y="3590925"/>
            <a:ext cx="5314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Seçici açıklama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040B02-8FF9-485D-9F4A-EF08C110BA63}"/>
              </a:ext>
            </a:extLst>
          </p:cNvPr>
          <p:cNvSpPr>
            <a:spLocks noGrp="1"/>
          </p:cNvSpPr>
          <p:nvPr/>
        </p:nvSpPr>
        <p:spPr>
          <a:xfrm>
            <a:off x="6038850" y="3886200"/>
            <a:ext cx="5314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Lasso veya kısa ağaçlar az sayıda özelliğe dayanan açıklamalar üretir.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C033BE-9DFB-4308-91F0-D3A8CF971E3B}"/>
              </a:ext>
            </a:extLst>
          </p:cNvPr>
          <p:cNvSpPr>
            <a:spLocks noGrp="1"/>
          </p:cNvSpPr>
          <p:nvPr/>
        </p:nvSpPr>
        <p:spPr>
          <a:xfrm>
            <a:off x="1485900" y="5305425"/>
            <a:ext cx="9220200" cy="342900"/>
          </a:xfrm>
          <a:prstGeom prst="rect">
            <a:avLst/>
          </a:prstGeom>
          <a:solidFill>
            <a:srgbClr val="E8EEEE"/>
          </a:solidFill>
          <a:ln w="9525">
            <a:solidFill>
              <a:srgbClr val="E8EEE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120FB4-B580-4035-A044-F4DE6665849B}"/>
              </a:ext>
            </a:extLst>
          </p:cNvPr>
          <p:cNvSpPr>
            <a:spLocks noGrp="1"/>
          </p:cNvSpPr>
          <p:nvPr/>
        </p:nvSpPr>
        <p:spPr>
          <a:xfrm>
            <a:off x="1638300" y="5343525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1">
                <a:solidFill>
                  <a:srgbClr val="1F3038"/>
                </a:solidFill>
              </a:defRPr>
            </a:lvl1pPr>
            <a:lvl2pPr algn="ctr">
              <a:buNone/>
              <a:defRPr sz="975" b="1">
                <a:solidFill>
                  <a:srgbClr val="1F3038"/>
                </a:solidFill>
              </a:defRPr>
            </a:lvl2pPr>
            <a:lvl3pPr algn="ctr">
              <a:buNone/>
              <a:defRPr sz="975" b="1">
                <a:solidFill>
                  <a:srgbClr val="1F3038"/>
                </a:solidFill>
              </a:defRPr>
            </a:lvl3pPr>
            <a:lvl4pPr algn="ctr">
              <a:buNone/>
              <a:defRPr sz="975" b="1">
                <a:solidFill>
                  <a:srgbClr val="1F3038"/>
                </a:solidFill>
              </a:defRPr>
            </a:lvl4pPr>
            <a:lvl5pPr algn="ctr">
              <a:buNone/>
              <a:defRPr sz="975" b="1">
                <a:solidFill>
                  <a:srgbClr val="1F3038"/>
                </a:solidFill>
              </a:defRPr>
            </a:lvl5pPr>
            <a:lvl6pPr algn="ctr">
              <a:buNone/>
              <a:defRPr sz="975" b="1">
                <a:solidFill>
                  <a:srgbClr val="1F3038"/>
                </a:solidFill>
              </a:defRPr>
            </a:lvl6pPr>
            <a:lvl7pPr algn="ctr">
              <a:buNone/>
              <a:defRPr sz="975" b="1">
                <a:solidFill>
                  <a:srgbClr val="1F3038"/>
                </a:solidFill>
              </a:defRPr>
            </a:lvl7pPr>
            <a:lvl8pPr algn="ctr">
              <a:buNone/>
              <a:defRPr sz="975" b="1">
                <a:solidFill>
                  <a:srgbClr val="1F3038"/>
                </a:solidFill>
              </a:defRPr>
            </a:lvl8pPr>
            <a:lvl9pPr algn="ctr">
              <a:buNone/>
              <a:defRPr sz="97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97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Güçlü yanlar, açıklamanın yerel bir yaklaşık model olduğu gerçeğiyle birlikte değerlendirilmelidir.</a:t>
            </a:r>
          </a:p>
        </p:txBody>
      </p:sp>
    </p:spTree>
    <p:extLst>
      <p:ext uri="{BB962C8B-B14F-4D97-AF65-F5344CB8AC3E}">
        <p14:creationId xmlns:p14="http://schemas.microsoft.com/office/powerpoint/2010/main" val="1654566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257A5D1-E9A7-47F1-ABD3-438C0526CE6F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270FA9-4931-4708-89A4-981F91ED4D8C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LIME için değerlendirme ölçütleri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F1AFA1-FA4A-4F91-B02E-9B1B6570BF5B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C9F08-366F-4BCC-924E-B360AA2835E8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15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198745-8641-40F3-853A-BA78DE1F16BA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3337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731C33-92B1-4BA4-A6E9-CDBB9A630628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" cy="238125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10719E-6FDF-40B9-BBB8-3BACE99E43ED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3009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Yerel sadakat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0D9C93-58B8-4555-9131-CDA3659471D0}"/>
              </a:ext>
            </a:extLst>
          </p:cNvPr>
          <p:cNvSpPr>
            <a:spLocks noGrp="1"/>
          </p:cNvSpPr>
          <p:nvPr/>
        </p:nvSpPr>
        <p:spPr>
          <a:xfrm>
            <a:off x="857250" y="2524125"/>
            <a:ext cx="300990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Vekil model, ağırlıklı komşulukta kara kutu tahminlerini ne kadar iyi yakalıyor?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0B919B-9415-4B94-9F77-774CDB0BDEC1}"/>
              </a:ext>
            </a:extLst>
          </p:cNvPr>
          <p:cNvSpPr>
            <a:spLocks noGrp="1"/>
          </p:cNvSpPr>
          <p:nvPr/>
        </p:nvSpPr>
        <p:spPr>
          <a:xfrm>
            <a:off x="4429125" y="2095500"/>
            <a:ext cx="33337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D599FD-A6E8-4DE2-893D-6B1063CAE811}"/>
              </a:ext>
            </a:extLst>
          </p:cNvPr>
          <p:cNvSpPr>
            <a:spLocks noGrp="1"/>
          </p:cNvSpPr>
          <p:nvPr/>
        </p:nvSpPr>
        <p:spPr>
          <a:xfrm>
            <a:off x="4429125" y="2095500"/>
            <a:ext cx="47625" cy="2381250"/>
          </a:xfrm>
          <a:prstGeom prst="rect">
            <a:avLst/>
          </a:prstGeom>
          <a:solidFill>
            <a:srgbClr val="F5C84B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5CD25D-B12B-4BFF-BE0F-A5D47414486E}"/>
              </a:ext>
            </a:extLst>
          </p:cNvPr>
          <p:cNvSpPr>
            <a:spLocks noGrp="1"/>
          </p:cNvSpPr>
          <p:nvPr/>
        </p:nvSpPr>
        <p:spPr>
          <a:xfrm>
            <a:off x="4600575" y="2228850"/>
            <a:ext cx="3009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Kararlılık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C21383-D852-46A8-85CB-33BEAA9BB45D}"/>
              </a:ext>
            </a:extLst>
          </p:cNvPr>
          <p:cNvSpPr>
            <a:spLocks noGrp="1"/>
          </p:cNvSpPr>
          <p:nvPr/>
        </p:nvSpPr>
        <p:spPr>
          <a:xfrm>
            <a:off x="4600575" y="2524125"/>
            <a:ext cx="300990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Farklı tohumlar, örnek sayıları ve çekirdek genişlikleri benzer açıklamalar veriyor mu?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54B9DDB-B66F-4648-BE3E-B9A991741A69}"/>
              </a:ext>
            </a:extLst>
          </p:cNvPr>
          <p:cNvSpPr>
            <a:spLocks noGrp="1"/>
          </p:cNvSpPr>
          <p:nvPr/>
        </p:nvSpPr>
        <p:spPr>
          <a:xfrm>
            <a:off x="8172450" y="2095500"/>
            <a:ext cx="33337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65D0D2-A216-4367-856B-0576C14E4DAA}"/>
              </a:ext>
            </a:extLst>
          </p:cNvPr>
          <p:cNvSpPr>
            <a:spLocks noGrp="1"/>
          </p:cNvSpPr>
          <p:nvPr/>
        </p:nvSpPr>
        <p:spPr>
          <a:xfrm>
            <a:off x="8172450" y="2095500"/>
            <a:ext cx="47625" cy="23812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9626DA-D68B-4AE9-9EEB-BD1F361252ED}"/>
              </a:ext>
            </a:extLst>
          </p:cNvPr>
          <p:cNvSpPr>
            <a:spLocks noGrp="1"/>
          </p:cNvSpPr>
          <p:nvPr/>
        </p:nvSpPr>
        <p:spPr>
          <a:xfrm>
            <a:off x="8343900" y="2228850"/>
            <a:ext cx="3009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Gerçekçilik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41F730-78DB-4B33-8B3F-5E4AEF198762}"/>
              </a:ext>
            </a:extLst>
          </p:cNvPr>
          <p:cNvSpPr>
            <a:spLocks noGrp="1"/>
          </p:cNvSpPr>
          <p:nvPr/>
        </p:nvSpPr>
        <p:spPr>
          <a:xfrm>
            <a:off x="8343900" y="2524125"/>
            <a:ext cx="300990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Üretilen pertürbasyonlar veri dağılımı ve alan kısıtlarıyla uyumlu mu?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FF1DFF-D53B-443E-89E3-62AACF1EF038}"/>
              </a:ext>
            </a:extLst>
          </p:cNvPr>
          <p:cNvSpPr>
            <a:spLocks noGrp="1"/>
          </p:cNvSpPr>
          <p:nvPr/>
        </p:nvSpPr>
        <p:spPr>
          <a:xfrm>
            <a:off x="1485900" y="5105400"/>
            <a:ext cx="9220200" cy="342900"/>
          </a:xfrm>
          <a:prstGeom prst="rect">
            <a:avLst/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0F5DAF-07C0-4E16-877D-85EE1F4B9614}"/>
              </a:ext>
            </a:extLst>
          </p:cNvPr>
          <p:cNvSpPr>
            <a:spLocks noGrp="1"/>
          </p:cNvSpPr>
          <p:nvPr/>
        </p:nvSpPr>
        <p:spPr>
          <a:xfrm>
            <a:off x="1638300" y="5143500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1">
                <a:solidFill>
                  <a:srgbClr val="1F3038"/>
                </a:solidFill>
              </a:defRPr>
            </a:lvl1pPr>
            <a:lvl2pPr algn="ctr">
              <a:buNone/>
              <a:defRPr sz="975" b="1">
                <a:solidFill>
                  <a:srgbClr val="1F3038"/>
                </a:solidFill>
              </a:defRPr>
            </a:lvl2pPr>
            <a:lvl3pPr algn="ctr">
              <a:buNone/>
              <a:defRPr sz="975" b="1">
                <a:solidFill>
                  <a:srgbClr val="1F3038"/>
                </a:solidFill>
              </a:defRPr>
            </a:lvl3pPr>
            <a:lvl4pPr algn="ctr">
              <a:buNone/>
              <a:defRPr sz="975" b="1">
                <a:solidFill>
                  <a:srgbClr val="1F3038"/>
                </a:solidFill>
              </a:defRPr>
            </a:lvl4pPr>
            <a:lvl5pPr algn="ctr">
              <a:buNone/>
              <a:defRPr sz="975" b="1">
                <a:solidFill>
                  <a:srgbClr val="1F3038"/>
                </a:solidFill>
              </a:defRPr>
            </a:lvl5pPr>
            <a:lvl6pPr algn="ctr">
              <a:buNone/>
              <a:defRPr sz="975" b="1">
                <a:solidFill>
                  <a:srgbClr val="1F3038"/>
                </a:solidFill>
              </a:defRPr>
            </a:lvl6pPr>
            <a:lvl7pPr algn="ctr">
              <a:buNone/>
              <a:defRPr sz="975" b="1">
                <a:solidFill>
                  <a:srgbClr val="1F3038"/>
                </a:solidFill>
              </a:defRPr>
            </a:lvl7pPr>
            <a:lvl8pPr algn="ctr">
              <a:buNone/>
              <a:defRPr sz="975" b="1">
                <a:solidFill>
                  <a:srgbClr val="1F3038"/>
                </a:solidFill>
              </a:defRPr>
            </a:lvl8pPr>
            <a:lvl9pPr algn="ctr">
              <a:buNone/>
              <a:defRPr sz="97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97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Tek bir açıklama yerine duyarlılık analizi raporlamak güveni artırır.</a:t>
            </a:r>
          </a:p>
        </p:txBody>
      </p:sp>
    </p:spTree>
    <p:extLst>
      <p:ext uri="{BB962C8B-B14F-4D97-AF65-F5344CB8AC3E}">
        <p14:creationId xmlns:p14="http://schemas.microsoft.com/office/powerpoint/2010/main" val="471079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6064C7D-EB93-4AC3-A8C1-1C29980959D9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1C0E29-22C0-49AF-B422-322F92A8B74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Ekosistem ve uygulama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5D82BF-EEF2-4117-9A74-F41188ED6F97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BB5662-313C-4119-9CFF-ACB7F0D9E108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16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73515F6-D4E4-4877-BC5C-3D4E89673A8F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9530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7B5896-9C5C-4919-A2FF-B3BE375B79D5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" cy="238125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2DB8AF-6C9A-4F06-B976-146ABB3F03B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462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Python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05286-F34D-4FF2-8FAC-3DF002DAF553}"/>
              </a:ext>
            </a:extLst>
          </p:cNvPr>
          <p:cNvSpPr>
            <a:spLocks noGrp="1"/>
          </p:cNvSpPr>
          <p:nvPr/>
        </p:nvSpPr>
        <p:spPr>
          <a:xfrm>
            <a:off x="857250" y="2524125"/>
            <a:ext cx="462915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lime: özgün uygulama</a:t>
            </a:r>
          </a:p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PiML: alternatif uygulama</a:t>
            </a:r>
          </a:p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eli5: açıklama araçları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BCA581B-5DEF-4D63-AA7C-7F34BFA5B9E9}"/>
              </a:ext>
            </a:extLst>
          </p:cNvPr>
          <p:cNvSpPr>
            <a:spLocks noGrp="1"/>
          </p:cNvSpPr>
          <p:nvPr/>
        </p:nvSpPr>
        <p:spPr>
          <a:xfrm>
            <a:off x="5867400" y="2095500"/>
            <a:ext cx="56388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EC3A7C-0BA3-4AD9-A00F-FA53CF6FC6E3}"/>
              </a:ext>
            </a:extLst>
          </p:cNvPr>
          <p:cNvSpPr>
            <a:spLocks noGrp="1"/>
          </p:cNvSpPr>
          <p:nvPr/>
        </p:nvSpPr>
        <p:spPr>
          <a:xfrm>
            <a:off x="5867400" y="2095500"/>
            <a:ext cx="47625" cy="2381250"/>
          </a:xfrm>
          <a:prstGeom prst="rect">
            <a:avLst/>
          </a:prstGeom>
          <a:solidFill>
            <a:srgbClr val="F5C84B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5A5725-F0E2-4EAE-9872-D103C97BE7BF}"/>
              </a:ext>
            </a:extLst>
          </p:cNvPr>
          <p:cNvSpPr>
            <a:spLocks noGrp="1"/>
          </p:cNvSpPr>
          <p:nvPr/>
        </p:nvSpPr>
        <p:spPr>
          <a:xfrm>
            <a:off x="6038850" y="2228850"/>
            <a:ext cx="5314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61EB74-0962-445A-B9A4-32947D69D68B}"/>
              </a:ext>
            </a:extLst>
          </p:cNvPr>
          <p:cNvSpPr>
            <a:spLocks noGrp="1"/>
          </p:cNvSpPr>
          <p:nvPr/>
        </p:nvSpPr>
        <p:spPr>
          <a:xfrm>
            <a:off x="6038850" y="2524125"/>
            <a:ext cx="531495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lime</a:t>
            </a:r>
          </a:p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iml</a:t>
            </a:r>
          </a:p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DALEX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67C8FD-453A-466D-970B-53DCA317B1FA}"/>
              </a:ext>
            </a:extLst>
          </p:cNvPr>
          <p:cNvSpPr>
            <a:spLocks noGrp="1"/>
          </p:cNvSpPr>
          <p:nvPr/>
        </p:nvSpPr>
        <p:spPr>
          <a:xfrm>
            <a:off x="1485900" y="5105400"/>
            <a:ext cx="9220200" cy="342900"/>
          </a:xfrm>
          <a:prstGeom prst="rect">
            <a:avLst/>
          </a:prstGeom>
          <a:solidFill>
            <a:srgbClr val="E8EEEE"/>
          </a:solidFill>
          <a:ln w="9525">
            <a:solidFill>
              <a:srgbClr val="E8EEE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753AF8-FAD1-4BCB-ADA2-4A9165FC555C}"/>
              </a:ext>
            </a:extLst>
          </p:cNvPr>
          <p:cNvSpPr>
            <a:spLocks noGrp="1"/>
          </p:cNvSpPr>
          <p:nvPr/>
        </p:nvSpPr>
        <p:spPr>
          <a:xfrm>
            <a:off x="1638300" y="5143500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1">
                <a:solidFill>
                  <a:srgbClr val="1F3038"/>
                </a:solidFill>
              </a:defRPr>
            </a:lvl1pPr>
            <a:lvl2pPr algn="ctr">
              <a:buNone/>
              <a:defRPr sz="975" b="1">
                <a:solidFill>
                  <a:srgbClr val="1F3038"/>
                </a:solidFill>
              </a:defRPr>
            </a:lvl2pPr>
            <a:lvl3pPr algn="ctr">
              <a:buNone/>
              <a:defRPr sz="975" b="1">
                <a:solidFill>
                  <a:srgbClr val="1F3038"/>
                </a:solidFill>
              </a:defRPr>
            </a:lvl3pPr>
            <a:lvl4pPr algn="ctr">
              <a:buNone/>
              <a:defRPr sz="975" b="1">
                <a:solidFill>
                  <a:srgbClr val="1F3038"/>
                </a:solidFill>
              </a:defRPr>
            </a:lvl4pPr>
            <a:lvl5pPr algn="ctr">
              <a:buNone/>
              <a:defRPr sz="975" b="1">
                <a:solidFill>
                  <a:srgbClr val="1F3038"/>
                </a:solidFill>
              </a:defRPr>
            </a:lvl5pPr>
            <a:lvl6pPr algn="ctr">
              <a:buNone/>
              <a:defRPr sz="975" b="1">
                <a:solidFill>
                  <a:srgbClr val="1F3038"/>
                </a:solidFill>
              </a:defRPr>
            </a:lvl6pPr>
            <a:lvl7pPr algn="ctr">
              <a:buNone/>
              <a:defRPr sz="975" b="1">
                <a:solidFill>
                  <a:srgbClr val="1F3038"/>
                </a:solidFill>
              </a:defRPr>
            </a:lvl7pPr>
            <a:lvl8pPr algn="ctr">
              <a:buNone/>
              <a:defRPr sz="975" b="1">
                <a:solidFill>
                  <a:srgbClr val="1F3038"/>
                </a:solidFill>
              </a:defRPr>
            </a:lvl8pPr>
            <a:lvl9pPr algn="ctr">
              <a:buNone/>
              <a:defRPr sz="97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97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Araç seçerken veri türü, yerel sadakat ve açıklama kararlılığı birlikte değerlendirilmelidir.</a:t>
            </a:r>
          </a:p>
        </p:txBody>
      </p:sp>
    </p:spTree>
    <p:extLst>
      <p:ext uri="{BB962C8B-B14F-4D97-AF65-F5344CB8AC3E}">
        <p14:creationId xmlns:p14="http://schemas.microsoft.com/office/powerpoint/2010/main" val="1712083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2AD6F93-1A19-4A3B-A8FB-5F15A372E60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LIME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5C519E-13D5-4367-B6F3-D20B9852F31C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LIME bölüm özeti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E86B7F-F74D-4629-B9F6-0D61B44DA033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AC1F59-8847-4560-9163-42ADEA323E70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lang="tr-TR" sz="750" b="0" dirty="0">
                <a:solidFill>
                  <a:srgbClr val="96A0A2"/>
                </a:solidFill>
              </a:rPr>
              <a:t>17</a:t>
            </a:r>
            <a:endParaRPr sz="750" b="0" dirty="0">
              <a:solidFill>
                <a:srgbClr val="96A0A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B216C3-A7C7-4C13-9A0B-68E33E2C6A9A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4953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F200A3-8361-4E21-B08A-ADB7BE80EEB9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47625" cy="180975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0626CF-C623-493D-943F-B6B3C7C4D3A7}"/>
              </a:ext>
            </a:extLst>
          </p:cNvPr>
          <p:cNvSpPr>
            <a:spLocks noGrp="1"/>
          </p:cNvSpPr>
          <p:nvPr/>
        </p:nvSpPr>
        <p:spPr>
          <a:xfrm>
            <a:off x="857250" y="2466975"/>
            <a:ext cx="462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Ne sağlar?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5D043D-1FA6-40A6-BB21-D7F3BB6AC0C4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46291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Belirli bir tahmin çevresinde, yorumlanabilir ve seyrek bir yaklaşık açıklama sağlar.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4993E95-F64C-4A52-A243-7C00782AB787}"/>
              </a:ext>
            </a:extLst>
          </p:cNvPr>
          <p:cNvSpPr>
            <a:spLocks noGrp="1"/>
          </p:cNvSpPr>
          <p:nvPr/>
        </p:nvSpPr>
        <p:spPr>
          <a:xfrm>
            <a:off x="5867400" y="2333625"/>
            <a:ext cx="56388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41612C-DAD7-4D55-B5FE-0189BAC0BC01}"/>
              </a:ext>
            </a:extLst>
          </p:cNvPr>
          <p:cNvSpPr>
            <a:spLocks noGrp="1"/>
          </p:cNvSpPr>
          <p:nvPr/>
        </p:nvSpPr>
        <p:spPr>
          <a:xfrm>
            <a:off x="5867400" y="2333625"/>
            <a:ext cx="47625" cy="1809750"/>
          </a:xfrm>
          <a:prstGeom prst="rect">
            <a:avLst/>
          </a:prstGeom>
          <a:solidFill>
            <a:srgbClr val="F5C84B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188BE9-2E10-4E26-A2F0-B80E7F6521C7}"/>
              </a:ext>
            </a:extLst>
          </p:cNvPr>
          <p:cNvSpPr>
            <a:spLocks noGrp="1"/>
          </p:cNvSpPr>
          <p:nvPr/>
        </p:nvSpPr>
        <p:spPr>
          <a:xfrm>
            <a:off x="6038850" y="2466975"/>
            <a:ext cx="5314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Ne sağlamaz?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A26111-B7A9-4BEA-96D7-5B3BDC204BBF}"/>
              </a:ext>
            </a:extLst>
          </p:cNvPr>
          <p:cNvSpPr>
            <a:spLocks noGrp="1"/>
          </p:cNvSpPr>
          <p:nvPr/>
        </p:nvSpPr>
        <p:spPr>
          <a:xfrm>
            <a:off x="6038850" y="2762250"/>
            <a:ext cx="53149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Küresel model açıklaması, nedensel etki veya değişmez bir “doğru açıklama” garantisi vermez.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A923EC-AB0B-4C8C-B0BD-6F7F9E0DF680}"/>
              </a:ext>
            </a:extLst>
          </p:cNvPr>
          <p:cNvSpPr>
            <a:spLocks noGrp="1"/>
          </p:cNvSpPr>
          <p:nvPr/>
        </p:nvSpPr>
        <p:spPr>
          <a:xfrm>
            <a:off x="1485900" y="4867275"/>
            <a:ext cx="9220200" cy="342900"/>
          </a:xfrm>
          <a:prstGeom prst="rect">
            <a:avLst/>
          </a:prstGeom>
          <a:solidFill>
            <a:srgbClr val="FFE1D8"/>
          </a:solidFill>
          <a:ln w="9525">
            <a:solidFill>
              <a:srgbClr val="FFE1D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188C72-9435-48ED-A9D3-FE0311F15F0C}"/>
              </a:ext>
            </a:extLst>
          </p:cNvPr>
          <p:cNvSpPr>
            <a:spLocks noGrp="1"/>
          </p:cNvSpPr>
          <p:nvPr/>
        </p:nvSpPr>
        <p:spPr>
          <a:xfrm>
            <a:off x="1638300" y="4905375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1">
                <a:solidFill>
                  <a:srgbClr val="FF654A"/>
                </a:solidFill>
              </a:defRPr>
            </a:lvl1pPr>
            <a:lvl2pPr algn="ctr">
              <a:buNone/>
              <a:defRPr sz="975" b="1">
                <a:solidFill>
                  <a:srgbClr val="FF654A"/>
                </a:solidFill>
              </a:defRPr>
            </a:lvl2pPr>
            <a:lvl3pPr algn="ctr">
              <a:buNone/>
              <a:defRPr sz="975" b="1">
                <a:solidFill>
                  <a:srgbClr val="FF654A"/>
                </a:solidFill>
              </a:defRPr>
            </a:lvl3pPr>
            <a:lvl4pPr algn="ctr">
              <a:buNone/>
              <a:defRPr sz="975" b="1">
                <a:solidFill>
                  <a:srgbClr val="FF654A"/>
                </a:solidFill>
              </a:defRPr>
            </a:lvl4pPr>
            <a:lvl5pPr algn="ctr">
              <a:buNone/>
              <a:defRPr sz="975" b="1">
                <a:solidFill>
                  <a:srgbClr val="FF654A"/>
                </a:solidFill>
              </a:defRPr>
            </a:lvl5pPr>
            <a:lvl6pPr algn="ctr">
              <a:buNone/>
              <a:defRPr sz="975" b="1">
                <a:solidFill>
                  <a:srgbClr val="FF654A"/>
                </a:solidFill>
              </a:defRPr>
            </a:lvl6pPr>
            <a:lvl7pPr algn="ctr">
              <a:buNone/>
              <a:defRPr sz="975" b="1">
                <a:solidFill>
                  <a:srgbClr val="FF654A"/>
                </a:solidFill>
              </a:defRPr>
            </a:lvl7pPr>
            <a:lvl8pPr algn="ctr">
              <a:buNone/>
              <a:defRPr sz="975" b="1">
                <a:solidFill>
                  <a:srgbClr val="FF654A"/>
                </a:solidFill>
              </a:defRPr>
            </a:lvl8pPr>
            <a:lvl9pPr algn="ctr">
              <a:buNone/>
              <a:defRPr sz="975" b="1">
                <a:solidFill>
                  <a:srgbClr val="FF654A"/>
                </a:solidFill>
              </a:defRPr>
            </a:lvl9pPr>
          </a:lstStyle>
          <a:p>
            <a:pPr algn="ctr">
              <a:buNone/>
              <a:defRPr sz="975" b="1">
                <a:solidFill>
                  <a:srgbClr val="FF654A"/>
                </a:solidFill>
              </a:defRPr>
            </a:pPr>
            <a:r>
              <a:rPr sz="1350" b="1">
                <a:solidFill>
                  <a:srgbClr val="FF654A"/>
                </a:solidFill>
              </a:rPr>
              <a:t>Güvenli kullanım: yerel sadakati ölç, örneklemeyi denetle ve ayarlara duyarlılığı raporla.</a:t>
            </a:r>
          </a:p>
        </p:txBody>
      </p:sp>
    </p:spTree>
    <p:extLst>
      <p:ext uri="{BB962C8B-B14F-4D97-AF65-F5344CB8AC3E}">
        <p14:creationId xmlns:p14="http://schemas.microsoft.com/office/powerpoint/2010/main" val="2114949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F269E0-6611-4431-9DBA-EFD665C8B2C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1">
                <a:solidFill>
                  <a:srgbClr val="FF654A"/>
                </a:solidFill>
              </a:defRPr>
            </a:lvl1pPr>
            <a:lvl2pPr algn="l">
              <a:buNone/>
              <a:defRPr sz="975" b="1">
                <a:solidFill>
                  <a:srgbClr val="FF654A"/>
                </a:solidFill>
              </a:defRPr>
            </a:lvl2pPr>
            <a:lvl3pPr algn="l">
              <a:buNone/>
              <a:defRPr sz="975" b="1">
                <a:solidFill>
                  <a:srgbClr val="FF654A"/>
                </a:solidFill>
              </a:defRPr>
            </a:lvl3pPr>
            <a:lvl4pPr algn="l">
              <a:buNone/>
              <a:defRPr sz="975" b="1">
                <a:solidFill>
                  <a:srgbClr val="FF654A"/>
                </a:solidFill>
              </a:defRPr>
            </a:lvl4pPr>
            <a:lvl5pPr algn="l">
              <a:buNone/>
              <a:defRPr sz="975" b="1">
                <a:solidFill>
                  <a:srgbClr val="FF654A"/>
                </a:solidFill>
              </a:defRPr>
            </a:lvl5pPr>
            <a:lvl6pPr algn="l">
              <a:buNone/>
              <a:defRPr sz="975" b="1">
                <a:solidFill>
                  <a:srgbClr val="FF654A"/>
                </a:solidFill>
              </a:defRPr>
            </a:lvl6pPr>
            <a:lvl7pPr algn="l">
              <a:buNone/>
              <a:defRPr sz="975" b="1">
                <a:solidFill>
                  <a:srgbClr val="FF654A"/>
                </a:solidFill>
              </a:defRPr>
            </a:lvl7pPr>
            <a:lvl8pPr algn="l">
              <a:buNone/>
              <a:defRPr sz="975" b="1">
                <a:solidFill>
                  <a:srgbClr val="FF654A"/>
                </a:solidFill>
              </a:defRPr>
            </a:lvl8pPr>
            <a:lvl9pPr algn="l">
              <a:buNone/>
              <a:defRPr sz="97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975" b="1">
                <a:solidFill>
                  <a:srgbClr val="FF654A"/>
                </a:solidFill>
              </a:defRPr>
            </a:pPr>
            <a:r>
              <a:rPr sz="975" b="1">
                <a:solidFill>
                  <a:srgbClr val="FF654A"/>
                </a:solidFill>
              </a:rPr>
              <a:t>BÖLÜM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2A5AAF-D341-4597-9EFC-57AA95332B1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381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4350" b="1">
                <a:solidFill>
                  <a:srgbClr val="FFFFFF"/>
                </a:solidFill>
              </a:defRPr>
            </a:lvl1pPr>
            <a:lvl2pPr algn="l">
              <a:buNone/>
              <a:defRPr sz="4350" b="1">
                <a:solidFill>
                  <a:srgbClr val="FFFFFF"/>
                </a:solidFill>
              </a:defRPr>
            </a:lvl2pPr>
            <a:lvl3pPr algn="l">
              <a:buNone/>
              <a:defRPr sz="4350" b="1">
                <a:solidFill>
                  <a:srgbClr val="FFFFFF"/>
                </a:solidFill>
              </a:defRPr>
            </a:lvl3pPr>
            <a:lvl4pPr algn="l">
              <a:buNone/>
              <a:defRPr sz="4350" b="1">
                <a:solidFill>
                  <a:srgbClr val="FFFFFF"/>
                </a:solidFill>
              </a:defRPr>
            </a:lvl4pPr>
            <a:lvl5pPr algn="l">
              <a:buNone/>
              <a:defRPr sz="4350" b="1">
                <a:solidFill>
                  <a:srgbClr val="FFFFFF"/>
                </a:solidFill>
              </a:defRPr>
            </a:lvl5pPr>
            <a:lvl6pPr algn="l">
              <a:buNone/>
              <a:defRPr sz="4350" b="1">
                <a:solidFill>
                  <a:srgbClr val="FFFFFF"/>
                </a:solidFill>
              </a:defRPr>
            </a:lvl6pPr>
            <a:lvl7pPr algn="l">
              <a:buNone/>
              <a:defRPr sz="4350" b="1">
                <a:solidFill>
                  <a:srgbClr val="FFFFFF"/>
                </a:solidFill>
              </a:defRPr>
            </a:lvl7pPr>
            <a:lvl8pPr algn="l">
              <a:buNone/>
              <a:defRPr sz="4350" b="1">
                <a:solidFill>
                  <a:srgbClr val="FFFFFF"/>
                </a:solidFill>
              </a:defRPr>
            </a:lvl8pPr>
            <a:lvl9pPr algn="l">
              <a:buNone/>
              <a:defRPr sz="4350" b="1">
                <a:solidFill>
                  <a:srgbClr val="FFFFFF"/>
                </a:solidFill>
              </a:defRPr>
            </a:lvl9pPr>
          </a:lstStyle>
          <a:p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Karşı-Olgusal Açıklamalar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F35E6B-2173-4F8C-A9DC-3A151A37C5E3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619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875" b="0">
                <a:solidFill>
                  <a:srgbClr val="D8E0E1"/>
                </a:solidFill>
              </a:defRPr>
            </a:lvl1pPr>
            <a:lvl2pPr algn="l">
              <a:buNone/>
              <a:defRPr sz="1875" b="0">
                <a:solidFill>
                  <a:srgbClr val="D8E0E1"/>
                </a:solidFill>
              </a:defRPr>
            </a:lvl2pPr>
            <a:lvl3pPr algn="l">
              <a:buNone/>
              <a:defRPr sz="1875" b="0">
                <a:solidFill>
                  <a:srgbClr val="D8E0E1"/>
                </a:solidFill>
              </a:defRPr>
            </a:lvl3pPr>
            <a:lvl4pPr algn="l">
              <a:buNone/>
              <a:defRPr sz="1875" b="0">
                <a:solidFill>
                  <a:srgbClr val="D8E0E1"/>
                </a:solidFill>
              </a:defRPr>
            </a:lvl4pPr>
            <a:lvl5pPr algn="l">
              <a:buNone/>
              <a:defRPr sz="1875" b="0">
                <a:solidFill>
                  <a:srgbClr val="D8E0E1"/>
                </a:solidFill>
              </a:defRPr>
            </a:lvl5pPr>
            <a:lvl6pPr algn="l">
              <a:buNone/>
              <a:defRPr sz="1875" b="0">
                <a:solidFill>
                  <a:srgbClr val="D8E0E1"/>
                </a:solidFill>
              </a:defRPr>
            </a:lvl6pPr>
            <a:lvl7pPr algn="l">
              <a:buNone/>
              <a:defRPr sz="1875" b="0">
                <a:solidFill>
                  <a:srgbClr val="D8E0E1"/>
                </a:solidFill>
              </a:defRPr>
            </a:lvl7pPr>
            <a:lvl8pPr algn="l">
              <a:buNone/>
              <a:defRPr sz="1875" b="0">
                <a:solidFill>
                  <a:srgbClr val="D8E0E1"/>
                </a:solidFill>
              </a:defRPr>
            </a:lvl8pPr>
            <a:lvl9pPr algn="l">
              <a:buNone/>
              <a:defRPr sz="1875" b="0">
                <a:solidFill>
                  <a:srgbClr val="D8E0E1"/>
                </a:solidFill>
              </a:defRPr>
            </a:lvl9pPr>
          </a:lstStyle>
          <a:p>
            <a:pPr algn="l">
              <a:buNone/>
              <a:defRPr sz="1875" b="0">
                <a:solidFill>
                  <a:srgbClr val="D8E0E1"/>
                </a:solidFill>
              </a:defRPr>
            </a:pPr>
            <a:r>
              <a:rPr sz="1875" b="0">
                <a:solidFill>
                  <a:srgbClr val="D8E0E1"/>
                </a:solidFill>
              </a:rPr>
              <a:t>Bir tahmini hedeflenen sonuca taşıyan,</a:t>
            </a:r>
          </a:p>
          <a:p>
            <a:pPr algn="l">
              <a:buNone/>
              <a:defRPr sz="1875" b="0">
                <a:solidFill>
                  <a:srgbClr val="D8E0E1"/>
                </a:solidFill>
              </a:defRPr>
            </a:pPr>
            <a:r>
              <a:rPr sz="1875" b="0">
                <a:solidFill>
                  <a:srgbClr val="D8E0E1"/>
                </a:solidFill>
              </a:rPr>
              <a:t>yakın ve uygulanabilir değişiklikleri aramak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62D027-F427-4484-8853-12360928F48C}"/>
              </a:ext>
            </a:extLst>
          </p:cNvPr>
          <p:cNvSpPr>
            <a:spLocks noGrp="1"/>
          </p:cNvSpPr>
          <p:nvPr/>
        </p:nvSpPr>
        <p:spPr>
          <a:xfrm>
            <a:off x="7810500" y="1381125"/>
            <a:ext cx="2381250" cy="2381250"/>
          </a:xfrm>
          <a:prstGeom prst="ellipse">
            <a:avLst/>
          </a:prstGeom>
          <a:noFill/>
          <a:ln w="38100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BF01A8-FB91-421E-B070-2C9DCC351F73}"/>
              </a:ext>
            </a:extLst>
          </p:cNvPr>
          <p:cNvSpPr>
            <a:spLocks noGrp="1"/>
          </p:cNvSpPr>
          <p:nvPr/>
        </p:nvSpPr>
        <p:spPr>
          <a:xfrm>
            <a:off x="8524875" y="2095500"/>
            <a:ext cx="952500" cy="952500"/>
          </a:xfrm>
          <a:prstGeom prst="ellipse">
            <a:avLst/>
          </a:prstGeom>
          <a:solidFill>
            <a:srgbClr val="FFE1D8"/>
          </a:solidFill>
          <a:ln w="19050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59BEDD-A5FF-48CC-9E2C-1DCE03281A95}"/>
              </a:ext>
            </a:extLst>
          </p:cNvPr>
          <p:cNvSpPr>
            <a:spLocks noGrp="1"/>
          </p:cNvSpPr>
          <p:nvPr/>
        </p:nvSpPr>
        <p:spPr>
          <a:xfrm>
            <a:off x="8315325" y="2286000"/>
            <a:ext cx="1371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500" b="1">
                <a:solidFill>
                  <a:srgbClr val="1F3038"/>
                </a:solidFill>
              </a:defRPr>
            </a:lvl1pPr>
            <a:lvl2pPr algn="ctr">
              <a:buNone/>
              <a:defRPr sz="1500" b="1">
                <a:solidFill>
                  <a:srgbClr val="1F3038"/>
                </a:solidFill>
              </a:defRPr>
            </a:lvl2pPr>
            <a:lvl3pPr algn="ctr">
              <a:buNone/>
              <a:defRPr sz="1500" b="1">
                <a:solidFill>
                  <a:srgbClr val="1F3038"/>
                </a:solidFill>
              </a:defRPr>
            </a:lvl3pPr>
            <a:lvl4pPr algn="ctr">
              <a:buNone/>
              <a:defRPr sz="1500" b="1">
                <a:solidFill>
                  <a:srgbClr val="1F3038"/>
                </a:solidFill>
              </a:defRPr>
            </a:lvl4pPr>
            <a:lvl5pPr algn="ctr">
              <a:buNone/>
              <a:defRPr sz="1500" b="1">
                <a:solidFill>
                  <a:srgbClr val="1F3038"/>
                </a:solidFill>
              </a:defRPr>
            </a:lvl5pPr>
            <a:lvl6pPr algn="ctr">
              <a:buNone/>
              <a:defRPr sz="1500" b="1">
                <a:solidFill>
                  <a:srgbClr val="1F3038"/>
                </a:solidFill>
              </a:defRPr>
            </a:lvl6pPr>
            <a:lvl7pPr algn="ctr">
              <a:buNone/>
              <a:defRPr sz="1500" b="1">
                <a:solidFill>
                  <a:srgbClr val="1F3038"/>
                </a:solidFill>
              </a:defRPr>
            </a:lvl7pPr>
            <a:lvl8pPr algn="ctr">
              <a:buNone/>
              <a:defRPr sz="1500" b="1">
                <a:solidFill>
                  <a:srgbClr val="1F3038"/>
                </a:solidFill>
              </a:defRPr>
            </a:lvl8pPr>
            <a:lvl9pPr algn="ctr">
              <a:buNone/>
              <a:defRPr sz="1500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15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hedef</a:t>
            </a:r>
          </a:p>
          <a:p>
            <a:pPr algn="ctr">
              <a:buNone/>
              <a:defRPr sz="15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sonuç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054379-B272-4835-87D5-74FC69F0A1CC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750" b="0">
                <a:solidFill>
                  <a:srgbClr val="AEB9BA"/>
                </a:solidFill>
              </a:defRPr>
            </a:lvl1pPr>
            <a:lvl2pPr algn="r">
              <a:buNone/>
              <a:defRPr sz="750" b="0">
                <a:solidFill>
                  <a:srgbClr val="AEB9BA"/>
                </a:solidFill>
              </a:defRPr>
            </a:lvl2pPr>
            <a:lvl3pPr algn="r">
              <a:buNone/>
              <a:defRPr sz="750" b="0">
                <a:solidFill>
                  <a:srgbClr val="AEB9BA"/>
                </a:solidFill>
              </a:defRPr>
            </a:lvl3pPr>
            <a:lvl4pPr algn="r">
              <a:buNone/>
              <a:defRPr sz="750" b="0">
                <a:solidFill>
                  <a:srgbClr val="AEB9BA"/>
                </a:solidFill>
              </a:defRPr>
            </a:lvl4pPr>
            <a:lvl5pPr algn="r">
              <a:buNone/>
              <a:defRPr sz="750" b="0">
                <a:solidFill>
                  <a:srgbClr val="AEB9BA"/>
                </a:solidFill>
              </a:defRPr>
            </a:lvl5pPr>
            <a:lvl6pPr algn="r">
              <a:buNone/>
              <a:defRPr sz="750" b="0">
                <a:solidFill>
                  <a:srgbClr val="AEB9BA"/>
                </a:solidFill>
              </a:defRPr>
            </a:lvl6pPr>
            <a:lvl7pPr algn="r">
              <a:buNone/>
              <a:defRPr sz="750" b="0">
                <a:solidFill>
                  <a:srgbClr val="AEB9BA"/>
                </a:solidFill>
              </a:defRPr>
            </a:lvl7pPr>
            <a:lvl8pPr algn="r">
              <a:buNone/>
              <a:defRPr sz="750" b="0">
                <a:solidFill>
                  <a:srgbClr val="AEB9BA"/>
                </a:solidFill>
              </a:defRPr>
            </a:lvl8pPr>
            <a:lvl9pPr algn="r">
              <a:buNone/>
              <a:defRPr sz="750" b="0">
                <a:solidFill>
                  <a:srgbClr val="AEB9BA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AEB9BA"/>
                </a:solidFill>
              </a:defRPr>
            </a:pPr>
            <a:r>
              <a:rPr lang="tr-TR" sz="750" b="0" dirty="0">
                <a:solidFill>
                  <a:srgbClr val="AEB9BA"/>
                </a:solidFill>
              </a:rPr>
              <a:t>18</a:t>
            </a:r>
            <a:endParaRPr sz="750" b="0" dirty="0">
              <a:solidFill>
                <a:srgbClr val="AEB9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32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B4F94D5-AD5C-4574-8EBE-34304CB37172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575F55-CCE3-484E-8B6C-21F6EB962614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Karşı-olgusal düşünme</a:t>
            </a:r>
          </a:p>
        </p:txBody>
      </p:sp>
      <p:cxnSp>
        <p:nvCxnSpPr>
          <p:cNvPr id="33" name="Elbow Connector 32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CD06B18-6782-4BFD-96C2-D4D798969A97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725" b="0">
                <a:solidFill>
                  <a:srgbClr val="6F7B7F"/>
                </a:solidFill>
              </a:defRPr>
            </a:lvl1pPr>
            <a:lvl2pPr algn="l">
              <a:buNone/>
              <a:defRPr sz="1725" b="0">
                <a:solidFill>
                  <a:srgbClr val="6F7B7F"/>
                </a:solidFill>
              </a:defRPr>
            </a:lvl2pPr>
            <a:lvl3pPr algn="l">
              <a:buNone/>
              <a:defRPr sz="1725" b="0">
                <a:solidFill>
                  <a:srgbClr val="6F7B7F"/>
                </a:solidFill>
              </a:defRPr>
            </a:lvl3pPr>
            <a:lvl4pPr algn="l">
              <a:buNone/>
              <a:defRPr sz="1725" b="0">
                <a:solidFill>
                  <a:srgbClr val="6F7B7F"/>
                </a:solidFill>
              </a:defRPr>
            </a:lvl4pPr>
            <a:lvl5pPr algn="l">
              <a:buNone/>
              <a:defRPr sz="1725" b="0">
                <a:solidFill>
                  <a:srgbClr val="6F7B7F"/>
                </a:solidFill>
              </a:defRPr>
            </a:lvl5pPr>
            <a:lvl6pPr algn="l">
              <a:buNone/>
              <a:defRPr sz="1725" b="0">
                <a:solidFill>
                  <a:srgbClr val="6F7B7F"/>
                </a:solidFill>
              </a:defRPr>
            </a:lvl6pPr>
            <a:lvl7pPr algn="l">
              <a:buNone/>
              <a:defRPr sz="1725" b="0">
                <a:solidFill>
                  <a:srgbClr val="6F7B7F"/>
                </a:solidFill>
              </a:defRPr>
            </a:lvl7pPr>
            <a:lvl8pPr algn="l">
              <a:buNone/>
              <a:defRPr sz="1725" b="0">
                <a:solidFill>
                  <a:srgbClr val="6F7B7F"/>
                </a:solidFill>
              </a:defRPr>
            </a:lvl8pPr>
            <a:lvl9pPr algn="l">
              <a:buNone/>
              <a:defRPr sz="1725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725" b="0">
                <a:solidFill>
                  <a:srgbClr val="6F7B7F"/>
                </a:solidFill>
              </a:defRPr>
            </a:pPr>
            <a:r>
              <a:rPr sz="1725" b="0">
                <a:solidFill>
                  <a:srgbClr val="6F7B7F"/>
                </a:solidFill>
              </a:rPr>
              <a:t>Gözlenen gerçeğe alternatif bir dünya kurar ve sonucu bu dünyada yeniden değerlendiririz.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EB534F6-F24E-45E5-8309-B6709BDA95CA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4381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4BDA64-69CE-4196-830A-E07A3E5CC1AE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85725" cy="2095500"/>
          </a:xfrm>
          <a:prstGeom prst="rect">
            <a:avLst/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39F71A-1F81-405D-A503-01F0D57EEB92}"/>
              </a:ext>
            </a:extLst>
          </p:cNvPr>
          <p:cNvSpPr>
            <a:spLocks noGrp="1"/>
          </p:cNvSpPr>
          <p:nvPr/>
        </p:nvSpPr>
        <p:spPr>
          <a:xfrm>
            <a:off x="895350" y="248602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Gözlenen durum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98715A-B6AF-410C-B24B-5FA09CBC3665}"/>
              </a:ext>
            </a:extLst>
          </p:cNvPr>
          <p:cNvSpPr>
            <a:spLocks noGrp="1"/>
          </p:cNvSpPr>
          <p:nvPr/>
        </p:nvSpPr>
        <p:spPr>
          <a:xfrm>
            <a:off x="895350" y="2828925"/>
            <a:ext cx="4000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875" b="0">
                <a:solidFill>
                  <a:srgbClr val="6F7B7F"/>
                </a:solidFill>
              </a:defRPr>
            </a:lvl1pPr>
            <a:lvl2pPr algn="l">
              <a:buNone/>
              <a:defRPr sz="1875" b="0">
                <a:solidFill>
                  <a:srgbClr val="6F7B7F"/>
                </a:solidFill>
              </a:defRPr>
            </a:lvl2pPr>
            <a:lvl3pPr algn="l">
              <a:buNone/>
              <a:defRPr sz="1875" b="0">
                <a:solidFill>
                  <a:srgbClr val="6F7B7F"/>
                </a:solidFill>
              </a:defRPr>
            </a:lvl3pPr>
            <a:lvl4pPr algn="l">
              <a:buNone/>
              <a:defRPr sz="1875" b="0">
                <a:solidFill>
                  <a:srgbClr val="6F7B7F"/>
                </a:solidFill>
              </a:defRPr>
            </a:lvl4pPr>
            <a:lvl5pPr algn="l">
              <a:buNone/>
              <a:defRPr sz="1875" b="0">
                <a:solidFill>
                  <a:srgbClr val="6F7B7F"/>
                </a:solidFill>
              </a:defRPr>
            </a:lvl5pPr>
            <a:lvl6pPr algn="l">
              <a:buNone/>
              <a:defRPr sz="1875" b="0">
                <a:solidFill>
                  <a:srgbClr val="6F7B7F"/>
                </a:solidFill>
              </a:defRPr>
            </a:lvl6pPr>
            <a:lvl7pPr algn="l">
              <a:buNone/>
              <a:defRPr sz="1875" b="0">
                <a:solidFill>
                  <a:srgbClr val="6F7B7F"/>
                </a:solidFill>
              </a:defRPr>
            </a:lvl7pPr>
            <a:lvl8pPr algn="l">
              <a:buNone/>
              <a:defRPr sz="1875" b="0">
                <a:solidFill>
                  <a:srgbClr val="6F7B7F"/>
                </a:solidFill>
              </a:defRPr>
            </a:lvl8pPr>
            <a:lvl9pPr algn="l">
              <a:buNone/>
              <a:defRPr sz="1875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875" b="0">
                <a:solidFill>
                  <a:srgbClr val="6F7B7F"/>
                </a:solidFill>
              </a:defRPr>
            </a:pPr>
            <a:r>
              <a:rPr sz="1875" b="0">
                <a:solidFill>
                  <a:srgbClr val="6F7B7F"/>
                </a:solidFill>
              </a:rPr>
              <a:t>Sıcak kahveden bir yudum aldım.</a:t>
            </a:r>
          </a:p>
          <a:p>
            <a:pPr algn="l">
              <a:buNone/>
              <a:defRPr sz="1875" b="0">
                <a:solidFill>
                  <a:srgbClr val="6F7B7F"/>
                </a:solidFill>
              </a:defRPr>
            </a:pPr>
            <a:r>
              <a:rPr sz="1875" b="0">
                <a:solidFill>
                  <a:srgbClr val="6F7B7F"/>
                </a:solidFill>
              </a:rPr>
              <a:t>Dilimi yaktım.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15A6166-568A-402F-8B41-0E4EC1720AD6}"/>
              </a:ext>
            </a:extLst>
          </p:cNvPr>
          <p:cNvSpPr>
            <a:spLocks noGrp="1"/>
          </p:cNvSpPr>
          <p:nvPr/>
        </p:nvSpPr>
        <p:spPr>
          <a:xfrm>
            <a:off x="7143750" y="2333625"/>
            <a:ext cx="4381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9E2727-9AEE-4041-AE3A-57C1EBE8C256}"/>
              </a:ext>
            </a:extLst>
          </p:cNvPr>
          <p:cNvSpPr>
            <a:spLocks noGrp="1"/>
          </p:cNvSpPr>
          <p:nvPr/>
        </p:nvSpPr>
        <p:spPr>
          <a:xfrm>
            <a:off x="7143750" y="2333625"/>
            <a:ext cx="85725" cy="2095500"/>
          </a:xfrm>
          <a:prstGeom prst="rect">
            <a:avLst/>
          </a:prstGeom>
          <a:solidFill>
            <a:srgbClr val="E65E3F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FD6BB5-792A-45B7-9648-9131FB454125}"/>
              </a:ext>
            </a:extLst>
          </p:cNvPr>
          <p:cNvSpPr>
            <a:spLocks noGrp="1"/>
          </p:cNvSpPr>
          <p:nvPr/>
        </p:nvSpPr>
        <p:spPr>
          <a:xfrm>
            <a:off x="7372350" y="248602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Karşı-olgusal durum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D1DD7E-3DF9-4B1F-81DB-37E729545AFA}"/>
              </a:ext>
            </a:extLst>
          </p:cNvPr>
          <p:cNvSpPr>
            <a:spLocks noGrp="1"/>
          </p:cNvSpPr>
          <p:nvPr/>
        </p:nvSpPr>
        <p:spPr>
          <a:xfrm>
            <a:off x="7372350" y="2828925"/>
            <a:ext cx="4000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875" b="0">
                <a:solidFill>
                  <a:srgbClr val="6F7B7F"/>
                </a:solidFill>
              </a:defRPr>
            </a:lvl1pPr>
            <a:lvl2pPr algn="l">
              <a:buNone/>
              <a:defRPr sz="1875" b="0">
                <a:solidFill>
                  <a:srgbClr val="6F7B7F"/>
                </a:solidFill>
              </a:defRPr>
            </a:lvl2pPr>
            <a:lvl3pPr algn="l">
              <a:buNone/>
              <a:defRPr sz="1875" b="0">
                <a:solidFill>
                  <a:srgbClr val="6F7B7F"/>
                </a:solidFill>
              </a:defRPr>
            </a:lvl3pPr>
            <a:lvl4pPr algn="l">
              <a:buNone/>
              <a:defRPr sz="1875" b="0">
                <a:solidFill>
                  <a:srgbClr val="6F7B7F"/>
                </a:solidFill>
              </a:defRPr>
            </a:lvl4pPr>
            <a:lvl5pPr algn="l">
              <a:buNone/>
              <a:defRPr sz="1875" b="0">
                <a:solidFill>
                  <a:srgbClr val="6F7B7F"/>
                </a:solidFill>
              </a:defRPr>
            </a:lvl5pPr>
            <a:lvl6pPr algn="l">
              <a:buNone/>
              <a:defRPr sz="1875" b="0">
                <a:solidFill>
                  <a:srgbClr val="6F7B7F"/>
                </a:solidFill>
              </a:defRPr>
            </a:lvl6pPr>
            <a:lvl7pPr algn="l">
              <a:buNone/>
              <a:defRPr sz="1875" b="0">
                <a:solidFill>
                  <a:srgbClr val="6F7B7F"/>
                </a:solidFill>
              </a:defRPr>
            </a:lvl7pPr>
            <a:lvl8pPr algn="l">
              <a:buNone/>
              <a:defRPr sz="1875" b="0">
                <a:solidFill>
                  <a:srgbClr val="6F7B7F"/>
                </a:solidFill>
              </a:defRPr>
            </a:lvl8pPr>
            <a:lvl9pPr algn="l">
              <a:buNone/>
              <a:defRPr sz="1875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875" b="0">
                <a:solidFill>
                  <a:srgbClr val="6F7B7F"/>
                </a:solidFill>
              </a:defRPr>
            </a:pPr>
            <a:r>
              <a:rPr sz="1875" b="0">
                <a:solidFill>
                  <a:srgbClr val="6F7B7F"/>
                </a:solidFill>
              </a:rPr>
              <a:t>Kahveyi içmeseydim,</a:t>
            </a:r>
          </a:p>
          <a:p>
            <a:pPr algn="l">
              <a:buNone/>
              <a:defRPr sz="1875" b="0">
                <a:solidFill>
                  <a:srgbClr val="6F7B7F"/>
                </a:solidFill>
              </a:defRPr>
            </a:pPr>
            <a:r>
              <a:rPr sz="1875" b="0">
                <a:solidFill>
                  <a:srgbClr val="6F7B7F"/>
                </a:solidFill>
              </a:rPr>
              <a:t>dilimi yakmazdım.</a:t>
            </a:r>
          </a:p>
        </p:txBody>
      </p:sp>
      <p:cxnSp>
        <p:nvCxnSpPr>
          <p:cNvPr id="43" name="Elbow Connector 42"/>
          <p:cNvCxnSpPr/>
          <p:nvPr/>
        </p:nvCxnSpPr>
        <p:spPr>
          <a:xfrm>
            <a:off x="5238750" y="3381375"/>
            <a:ext cx="1619250" cy="0"/>
          </a:xfrm>
          <a:prstGeom prst="bentConnector4">
            <a:avLst/>
          </a:prstGeom>
          <a:ln w="38100">
            <a:solidFill>
              <a:srgbClr val="30424B"/>
            </a:solidFill>
            <a:prstDash val="solid"/>
            <a:headEnd type="triangle" w="med" len="med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03EE20E-7B59-468A-A895-8FB94429A8FC}"/>
              </a:ext>
            </a:extLst>
          </p:cNvPr>
          <p:cNvSpPr>
            <a:spLocks noGrp="1"/>
          </p:cNvSpPr>
          <p:nvPr/>
        </p:nvSpPr>
        <p:spPr>
          <a:xfrm>
            <a:off x="5486400" y="3048000"/>
            <a:ext cx="1095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ctr">
              <a:buNone/>
              <a:defRPr sz="1050" b="1">
                <a:solidFill>
                  <a:srgbClr val="E65E3F"/>
                </a:solidFill>
              </a:defRPr>
            </a:lvl1pPr>
            <a:lvl2pPr algn="ctr">
              <a:buNone/>
              <a:defRPr sz="1050" b="1">
                <a:solidFill>
                  <a:srgbClr val="E65E3F"/>
                </a:solidFill>
              </a:defRPr>
            </a:lvl2pPr>
            <a:lvl3pPr algn="ctr">
              <a:buNone/>
              <a:defRPr sz="1050" b="1">
                <a:solidFill>
                  <a:srgbClr val="E65E3F"/>
                </a:solidFill>
              </a:defRPr>
            </a:lvl3pPr>
            <a:lvl4pPr algn="ctr">
              <a:buNone/>
              <a:defRPr sz="1050" b="1">
                <a:solidFill>
                  <a:srgbClr val="E65E3F"/>
                </a:solidFill>
              </a:defRPr>
            </a:lvl4pPr>
            <a:lvl5pPr algn="ctr">
              <a:buNone/>
              <a:defRPr sz="1050" b="1">
                <a:solidFill>
                  <a:srgbClr val="E65E3F"/>
                </a:solidFill>
              </a:defRPr>
            </a:lvl5pPr>
            <a:lvl6pPr algn="ctr">
              <a:buNone/>
              <a:defRPr sz="1050" b="1">
                <a:solidFill>
                  <a:srgbClr val="E65E3F"/>
                </a:solidFill>
              </a:defRPr>
            </a:lvl6pPr>
            <a:lvl7pPr algn="ctr">
              <a:buNone/>
              <a:defRPr sz="1050" b="1">
                <a:solidFill>
                  <a:srgbClr val="E65E3F"/>
                </a:solidFill>
              </a:defRPr>
            </a:lvl7pPr>
            <a:lvl8pPr algn="ctr">
              <a:buNone/>
              <a:defRPr sz="1050" b="1">
                <a:solidFill>
                  <a:srgbClr val="E65E3F"/>
                </a:solidFill>
              </a:defRPr>
            </a:lvl8pPr>
            <a:lvl9pPr algn="ctr">
              <a:buNone/>
              <a:defRPr sz="1050" b="1">
                <a:solidFill>
                  <a:srgbClr val="E65E3F"/>
                </a:solidFill>
              </a:defRPr>
            </a:lvl9pPr>
          </a:lstStyle>
          <a:p>
            <a:pPr algn="ctr">
              <a:buNone/>
              <a:defRPr sz="1050" b="1">
                <a:solidFill>
                  <a:srgbClr val="E65E3F"/>
                </a:solidFill>
              </a:defRPr>
            </a:pPr>
            <a:r>
              <a:rPr sz="1050" b="1">
                <a:solidFill>
                  <a:srgbClr val="E65E3F"/>
                </a:solidFill>
              </a:rPr>
              <a:t>müdahale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DFC791-2EEE-445B-B8E5-5AE7CBAFDBC6}"/>
              </a:ext>
            </a:extLst>
          </p:cNvPr>
          <p:cNvSpPr>
            <a:spLocks noGrp="1"/>
          </p:cNvSpPr>
          <p:nvPr/>
        </p:nvSpPr>
        <p:spPr>
          <a:xfrm>
            <a:off x="2190750" y="5048250"/>
            <a:ext cx="781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500" b="1">
                <a:solidFill>
                  <a:srgbClr val="24343C"/>
                </a:solidFill>
              </a:defRPr>
            </a:lvl1pPr>
            <a:lvl2pPr algn="ctr">
              <a:buNone/>
              <a:defRPr sz="1500" b="1">
                <a:solidFill>
                  <a:srgbClr val="24343C"/>
                </a:solidFill>
              </a:defRPr>
            </a:lvl2pPr>
            <a:lvl3pPr algn="ctr">
              <a:buNone/>
              <a:defRPr sz="1500" b="1">
                <a:solidFill>
                  <a:srgbClr val="24343C"/>
                </a:solidFill>
              </a:defRPr>
            </a:lvl3pPr>
            <a:lvl4pPr algn="ctr">
              <a:buNone/>
              <a:defRPr sz="1500" b="1">
                <a:solidFill>
                  <a:srgbClr val="24343C"/>
                </a:solidFill>
              </a:defRPr>
            </a:lvl4pPr>
            <a:lvl5pPr algn="ctr">
              <a:buNone/>
              <a:defRPr sz="1500" b="1">
                <a:solidFill>
                  <a:srgbClr val="24343C"/>
                </a:solidFill>
              </a:defRPr>
            </a:lvl5pPr>
            <a:lvl6pPr algn="ctr">
              <a:buNone/>
              <a:defRPr sz="1500" b="1">
                <a:solidFill>
                  <a:srgbClr val="24343C"/>
                </a:solidFill>
              </a:defRPr>
            </a:lvl6pPr>
            <a:lvl7pPr algn="ctr">
              <a:buNone/>
              <a:defRPr sz="1500" b="1">
                <a:solidFill>
                  <a:srgbClr val="24343C"/>
                </a:solidFill>
              </a:defRPr>
            </a:lvl7pPr>
            <a:lvl8pPr algn="ctr">
              <a:buNone/>
              <a:defRPr sz="1500" b="1">
                <a:solidFill>
                  <a:srgbClr val="24343C"/>
                </a:solidFill>
              </a:defRPr>
            </a:lvl8pPr>
            <a:lvl9pPr algn="ctr">
              <a:buNone/>
              <a:defRPr sz="150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500" b="1">
                <a:solidFill>
                  <a:srgbClr val="24343C"/>
                </a:solidFill>
              </a:defRPr>
            </a:pPr>
            <a:r>
              <a:rPr sz="1500" b="1">
                <a:solidFill>
                  <a:srgbClr val="24343C"/>
                </a:solidFill>
              </a:rPr>
              <a:t>“Karşı-olgusal” adı, gözlenen gerçeklerle çelişen varsayımsal durumdan gelir.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E849B2-A060-4B6B-AE4D-4E098DEF0B7E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19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029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7E623D1-B65C-42CD-945A-5EB536607E50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8BD181-3A12-4719-BEF2-DC1029A5FE05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Makine öğrenmesinde karşı-olgusallar</a:t>
            </a:r>
          </a:p>
        </p:txBody>
      </p:sp>
      <p:cxnSp>
        <p:nvCxnSpPr>
          <p:cNvPr id="36" name="Elbow Connector 35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22A5069-1776-4AAE-884D-CD104A8564E1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20</a:t>
            </a:r>
            <a:endParaRPr sz="750" b="0" dirty="0">
              <a:solidFill>
                <a:srgbClr val="6F7B7F"/>
              </a:solidFill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1596" y="1562100"/>
            <a:ext cx="5206208" cy="23622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3001C75-D97D-4FD4-8F38-71819DEFBCAC}"/>
              </a:ext>
            </a:extLst>
          </p:cNvPr>
          <p:cNvSpPr>
            <a:spLocks noGrp="1"/>
          </p:cNvSpPr>
          <p:nvPr/>
        </p:nvSpPr>
        <p:spPr>
          <a:xfrm>
            <a:off x="6286500" y="1562100"/>
            <a:ext cx="52197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4DA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A7A345-6C77-4DC1-B395-3979006F905A}"/>
              </a:ext>
            </a:extLst>
          </p:cNvPr>
          <p:cNvSpPr>
            <a:spLocks noGrp="1"/>
          </p:cNvSpPr>
          <p:nvPr/>
        </p:nvSpPr>
        <p:spPr>
          <a:xfrm>
            <a:off x="6286500" y="1562100"/>
            <a:ext cx="47625" cy="1428750"/>
          </a:xfrm>
          <a:prstGeom prst="rect">
            <a:avLst/>
          </a:prstGeom>
          <a:solidFill>
            <a:srgbClr val="FF654A"/>
          </a:solidFill>
          <a:ln w="0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83593A-5EE9-43F9-8BDC-F6B31787A8C9}"/>
              </a:ext>
            </a:extLst>
          </p:cNvPr>
          <p:cNvSpPr>
            <a:spLocks noGrp="1"/>
          </p:cNvSpPr>
          <p:nvPr/>
        </p:nvSpPr>
        <p:spPr>
          <a:xfrm>
            <a:off x="6457950" y="167640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Başlangıç noktası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E8FC17-E8E8-4725-B9E5-7C90E606B282}"/>
              </a:ext>
            </a:extLst>
          </p:cNvPr>
          <p:cNvSpPr>
            <a:spLocks noGrp="1"/>
          </p:cNvSpPr>
          <p:nvPr/>
        </p:nvSpPr>
        <p:spPr>
          <a:xfrm>
            <a:off x="6457950" y="2000250"/>
            <a:ext cx="48958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Model, x₁, x₂, x₃ ve diğer özelliklerden bir tahmin üretir. Karşı-olgusal açıklama bu girdilerin hangilerinin değişmesi gerektiğini arar.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A60CD9C-53C0-4CDC-9D11-B614A5D46F36}"/>
              </a:ext>
            </a:extLst>
          </p:cNvPr>
          <p:cNvSpPr>
            <a:spLocks noGrp="1"/>
          </p:cNvSpPr>
          <p:nvPr/>
        </p:nvSpPr>
        <p:spPr>
          <a:xfrm>
            <a:off x="6286500" y="3200400"/>
            <a:ext cx="521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8492AB-168E-4990-89D9-E7AB7CC32461}"/>
              </a:ext>
            </a:extLst>
          </p:cNvPr>
          <p:cNvSpPr>
            <a:spLocks noGrp="1"/>
          </p:cNvSpPr>
          <p:nvPr/>
        </p:nvSpPr>
        <p:spPr>
          <a:xfrm>
            <a:off x="6286500" y="3200400"/>
            <a:ext cx="47625" cy="1257300"/>
          </a:xfrm>
          <a:prstGeom prst="rect">
            <a:avLst/>
          </a:prstGeom>
          <a:solidFill>
            <a:srgbClr val="F5C84B"/>
          </a:solidFill>
          <a:ln w="0">
            <a:solidFill>
              <a:srgbClr val="F5C84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7AC30E-66C8-4871-98D1-5B6641E19621}"/>
              </a:ext>
            </a:extLst>
          </p:cNvPr>
          <p:cNvSpPr>
            <a:spLocks noGrp="1"/>
          </p:cNvSpPr>
          <p:nvPr/>
        </p:nvSpPr>
        <p:spPr>
          <a:xfrm>
            <a:off x="6457950" y="331470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Hedeflenen sonuç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2C8CD7-D438-4035-87BA-B9F731DF344B}"/>
              </a:ext>
            </a:extLst>
          </p:cNvPr>
          <p:cNvSpPr>
            <a:spLocks noGrp="1"/>
          </p:cNvSpPr>
          <p:nvPr/>
        </p:nvSpPr>
        <p:spPr>
          <a:xfrm>
            <a:off x="6457950" y="3638550"/>
            <a:ext cx="48958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Arama, tahmini istenen sınıfa veya olasılık aralığına taşıyan küçük değişiklikleri bulmaya çalışır.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B1C50F2-FE5C-44C0-8BCF-FE6B621EC818}"/>
              </a:ext>
            </a:extLst>
          </p:cNvPr>
          <p:cNvSpPr>
            <a:spLocks noGrp="1"/>
          </p:cNvSpPr>
          <p:nvPr/>
        </p:nvSpPr>
        <p:spPr>
          <a:xfrm>
            <a:off x="2095500" y="4705350"/>
            <a:ext cx="8001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4DAD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498561-022E-46A7-8B1A-BD0F8674D5BE}"/>
              </a:ext>
            </a:extLst>
          </p:cNvPr>
          <p:cNvSpPr>
            <a:spLocks noGrp="1"/>
          </p:cNvSpPr>
          <p:nvPr/>
        </p:nvSpPr>
        <p:spPr>
          <a:xfrm>
            <a:off x="2095500" y="4705350"/>
            <a:ext cx="47625" cy="1066800"/>
          </a:xfrm>
          <a:prstGeom prst="rect">
            <a:avLst/>
          </a:prstGeom>
          <a:solidFill>
            <a:srgbClr val="FF654A"/>
          </a:solidFill>
          <a:ln w="0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CD2716-19F2-404B-9A0B-536EC3E66415}"/>
              </a:ext>
            </a:extLst>
          </p:cNvPr>
          <p:cNvSpPr>
            <a:spLocks noGrp="1"/>
          </p:cNvSpPr>
          <p:nvPr/>
        </p:nvSpPr>
        <p:spPr>
          <a:xfrm>
            <a:off x="2266950" y="4819650"/>
            <a:ext cx="767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Yorumlama sınırı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2A1E43-22FD-400F-A1C7-22A016A53A9E}"/>
              </a:ext>
            </a:extLst>
          </p:cNvPr>
          <p:cNvSpPr>
            <a:spLocks noGrp="1"/>
          </p:cNvSpPr>
          <p:nvPr/>
        </p:nvSpPr>
        <p:spPr>
          <a:xfrm>
            <a:off x="2266950" y="5143500"/>
            <a:ext cx="7677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Bulunan değişiklikler model davranışını açıklar; gerçek dünyadaki nedensel etkiyi tek başına kanıtlamaz.</a:t>
            </a:r>
          </a:p>
        </p:txBody>
      </p:sp>
    </p:spTree>
    <p:extLst>
      <p:ext uri="{BB962C8B-B14F-4D97-AF65-F5344CB8AC3E}">
        <p14:creationId xmlns:p14="http://schemas.microsoft.com/office/powerpoint/2010/main" val="1189792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7E623D1-B65C-42CD-945A-5EB536607E50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8BD181-3A12-4719-BEF2-DC1029A5FE05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Peter ve Anna: iki karşı-olgusal örnek</a:t>
            </a:r>
          </a:p>
        </p:txBody>
      </p:sp>
      <p:cxnSp>
        <p:nvCxnSpPr>
          <p:cNvPr id="36" name="Elbow Connector 35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EF864A9-5569-450E-A103-61544DE44255}"/>
              </a:ext>
            </a:extLst>
          </p:cNvPr>
          <p:cNvSpPr>
            <a:spLocks noGrp="1"/>
          </p:cNvSpPr>
          <p:nvPr/>
        </p:nvSpPr>
        <p:spPr>
          <a:xfrm>
            <a:off x="495300" y="1219200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725" b="0">
                <a:solidFill>
                  <a:srgbClr val="6F7B7F"/>
                </a:solidFill>
              </a:defRPr>
            </a:lvl1pPr>
            <a:lvl2pPr algn="l">
              <a:buNone/>
              <a:defRPr sz="1725" b="0">
                <a:solidFill>
                  <a:srgbClr val="6F7B7F"/>
                </a:solidFill>
              </a:defRPr>
            </a:lvl2pPr>
            <a:lvl3pPr algn="l">
              <a:buNone/>
              <a:defRPr sz="1725" b="0">
                <a:solidFill>
                  <a:srgbClr val="6F7B7F"/>
                </a:solidFill>
              </a:defRPr>
            </a:lvl3pPr>
            <a:lvl4pPr algn="l">
              <a:buNone/>
              <a:defRPr sz="1725" b="0">
                <a:solidFill>
                  <a:srgbClr val="6F7B7F"/>
                </a:solidFill>
              </a:defRPr>
            </a:lvl4pPr>
            <a:lvl5pPr algn="l">
              <a:buNone/>
              <a:defRPr sz="1725" b="0">
                <a:solidFill>
                  <a:srgbClr val="6F7B7F"/>
                </a:solidFill>
              </a:defRPr>
            </a:lvl5pPr>
            <a:lvl6pPr algn="l">
              <a:buNone/>
              <a:defRPr sz="1725" b="0">
                <a:solidFill>
                  <a:srgbClr val="6F7B7F"/>
                </a:solidFill>
              </a:defRPr>
            </a:lvl6pPr>
            <a:lvl7pPr algn="l">
              <a:buNone/>
              <a:defRPr sz="1725" b="0">
                <a:solidFill>
                  <a:srgbClr val="6F7B7F"/>
                </a:solidFill>
              </a:defRPr>
            </a:lvl7pPr>
            <a:lvl8pPr algn="l">
              <a:buNone/>
              <a:defRPr sz="1725" b="0">
                <a:solidFill>
                  <a:srgbClr val="6F7B7F"/>
                </a:solidFill>
              </a:defRPr>
            </a:lvl8pPr>
            <a:lvl9pPr algn="l">
              <a:buNone/>
              <a:defRPr sz="1725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725" b="0">
                <a:solidFill>
                  <a:srgbClr val="6F7B7F"/>
                </a:solidFill>
              </a:defRPr>
            </a:pPr>
            <a:r>
              <a:rPr sz="1725" b="0">
                <a:solidFill>
                  <a:srgbClr val="6F7B7F"/>
                </a:solidFill>
              </a:rPr>
              <a:t>Bir örneğin tahminini önceden belirlenen çıktıya taşıyan en küçük özellik değişikliğini ararız.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297D5F-2035-4BDC-BAC1-634FE6709CD2}"/>
              </a:ext>
            </a:extLst>
          </p:cNvPr>
          <p:cNvSpPr>
            <a:spLocks noGrp="1"/>
          </p:cNvSpPr>
          <p:nvPr/>
        </p:nvSpPr>
        <p:spPr>
          <a:xfrm>
            <a:off x="495300" y="2095500"/>
            <a:ext cx="5238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A5A011-3BA6-467C-B956-80148C15244E}"/>
              </a:ext>
            </a:extLst>
          </p:cNvPr>
          <p:cNvSpPr>
            <a:spLocks noGrp="1"/>
          </p:cNvSpPr>
          <p:nvPr/>
        </p:nvSpPr>
        <p:spPr>
          <a:xfrm>
            <a:off x="495300" y="2095500"/>
            <a:ext cx="85725" cy="3143250"/>
          </a:xfrm>
          <a:prstGeom prst="rect">
            <a:avLst/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2BCCD7-F32E-4808-A703-3155023292FF}"/>
              </a:ext>
            </a:extLst>
          </p:cNvPr>
          <p:cNvSpPr>
            <a:spLocks noGrp="1"/>
          </p:cNvSpPr>
          <p:nvPr/>
        </p:nvSpPr>
        <p:spPr>
          <a:xfrm>
            <a:off x="723900" y="22479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Peter: kredi başvurusu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8C8DC6-36BB-40C5-909E-A6BFCA02B0CA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485775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425" b="0">
                <a:solidFill>
                  <a:srgbClr val="6F7B7F"/>
                </a:solidFill>
              </a:defRPr>
            </a:lvl1pPr>
            <a:lvl2pPr algn="l">
              <a:buNone/>
              <a:defRPr sz="1425" b="0">
                <a:solidFill>
                  <a:srgbClr val="6F7B7F"/>
                </a:solidFill>
              </a:defRPr>
            </a:lvl2pPr>
            <a:lvl3pPr algn="l">
              <a:buNone/>
              <a:defRPr sz="1425" b="0">
                <a:solidFill>
                  <a:srgbClr val="6F7B7F"/>
                </a:solidFill>
              </a:defRPr>
            </a:lvl3pPr>
            <a:lvl4pPr algn="l">
              <a:buNone/>
              <a:defRPr sz="1425" b="0">
                <a:solidFill>
                  <a:srgbClr val="6F7B7F"/>
                </a:solidFill>
              </a:defRPr>
            </a:lvl4pPr>
            <a:lvl5pPr algn="l">
              <a:buNone/>
              <a:defRPr sz="1425" b="0">
                <a:solidFill>
                  <a:srgbClr val="6F7B7F"/>
                </a:solidFill>
              </a:defRPr>
            </a:lvl5pPr>
            <a:lvl6pPr algn="l">
              <a:buNone/>
              <a:defRPr sz="1425" b="0">
                <a:solidFill>
                  <a:srgbClr val="6F7B7F"/>
                </a:solidFill>
              </a:defRPr>
            </a:lvl6pPr>
            <a:lvl7pPr algn="l">
              <a:buNone/>
              <a:defRPr sz="1425" b="0">
                <a:solidFill>
                  <a:srgbClr val="6F7B7F"/>
                </a:solidFill>
              </a:defRPr>
            </a:lvl7pPr>
            <a:lvl8pPr algn="l">
              <a:buNone/>
              <a:defRPr sz="1425" b="0">
                <a:solidFill>
                  <a:srgbClr val="6F7B7F"/>
                </a:solidFill>
              </a:defRPr>
            </a:lvl8pPr>
            <a:lvl9pPr algn="l">
              <a:buNone/>
              <a:defRPr sz="1425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425" b="0">
                <a:solidFill>
                  <a:srgbClr val="6F7B7F"/>
                </a:solidFill>
              </a:defRPr>
            </a:pPr>
            <a:r>
              <a:rPr sz="1425" b="0">
                <a:solidFill>
                  <a:srgbClr val="6F7B7F"/>
                </a:solidFill>
              </a:rPr>
              <a:t>Mevcut tahmin: reddedildi</a:t>
            </a:r>
          </a:p>
          <a:p>
            <a:endParaRPr sz="1425" b="0">
              <a:solidFill>
                <a:srgbClr val="6F7B7F"/>
              </a:solidFill>
            </a:endParaRPr>
          </a:p>
          <a:p>
            <a:pPr algn="l">
              <a:buNone/>
              <a:defRPr sz="1425" b="0">
                <a:solidFill>
                  <a:srgbClr val="6F7B7F"/>
                </a:solidFill>
              </a:defRPr>
            </a:pPr>
            <a:r>
              <a:rPr sz="1425" b="0">
                <a:solidFill>
                  <a:srgbClr val="6F7B7F"/>
                </a:solidFill>
              </a:rPr>
              <a:t>Olası açıklamalar:</a:t>
            </a:r>
          </a:p>
          <a:p>
            <a:pPr algn="l">
              <a:buNone/>
              <a:defRPr sz="1425" b="0">
                <a:solidFill>
                  <a:srgbClr val="6F7B7F"/>
                </a:solidFill>
              </a:defRPr>
            </a:pPr>
            <a:r>
              <a:rPr sz="1425" b="0">
                <a:solidFill>
                  <a:srgbClr val="6F7B7F"/>
                </a:solidFill>
              </a:rPr>
              <a:t>• Yıllık gelir 10.000 € daha yüksek olsaydı onaylanabilirdi.</a:t>
            </a:r>
          </a:p>
          <a:p>
            <a:pPr algn="l">
              <a:buNone/>
              <a:defRPr sz="1425" b="0">
                <a:solidFill>
                  <a:srgbClr val="6F7B7F"/>
                </a:solidFill>
              </a:defRPr>
            </a:pPr>
            <a:r>
              <a:rPr sz="1425" b="0">
                <a:solidFill>
                  <a:srgbClr val="6F7B7F"/>
                </a:solidFill>
              </a:rPr>
              <a:t>• Daha az kredi kartı ve geçmişte temerrüt olmaması başka bir yol sunabilir.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FF3DC7-44CC-41BE-AD22-D10691F5DD2A}"/>
              </a:ext>
            </a:extLst>
          </p:cNvPr>
          <p:cNvSpPr>
            <a:spLocks noGrp="1"/>
          </p:cNvSpPr>
          <p:nvPr/>
        </p:nvSpPr>
        <p:spPr>
          <a:xfrm>
            <a:off x="6457950" y="2095500"/>
            <a:ext cx="5238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B300D4-0B0F-4828-AD7E-72B808E57690}"/>
              </a:ext>
            </a:extLst>
          </p:cNvPr>
          <p:cNvSpPr>
            <a:spLocks noGrp="1"/>
          </p:cNvSpPr>
          <p:nvPr/>
        </p:nvSpPr>
        <p:spPr>
          <a:xfrm>
            <a:off x="6457950" y="2095500"/>
            <a:ext cx="85725" cy="3143250"/>
          </a:xfrm>
          <a:prstGeom prst="rect">
            <a:avLst/>
          </a:prstGeom>
          <a:solidFill>
            <a:srgbClr val="E65E3F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4038AF-B5FD-47FD-A84E-D25168B34832}"/>
              </a:ext>
            </a:extLst>
          </p:cNvPr>
          <p:cNvSpPr>
            <a:spLocks noGrp="1"/>
          </p:cNvSpPr>
          <p:nvPr/>
        </p:nvSpPr>
        <p:spPr>
          <a:xfrm>
            <a:off x="6686550" y="22479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Anna: kira tahmini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6EE3DF-CBA4-4806-A223-87F1545918C1}"/>
              </a:ext>
            </a:extLst>
          </p:cNvPr>
          <p:cNvSpPr>
            <a:spLocks noGrp="1"/>
          </p:cNvSpPr>
          <p:nvPr/>
        </p:nvSpPr>
        <p:spPr>
          <a:xfrm>
            <a:off x="6686550" y="2590800"/>
            <a:ext cx="485775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425" b="0">
                <a:solidFill>
                  <a:srgbClr val="6F7B7F"/>
                </a:solidFill>
              </a:defRPr>
            </a:lvl1pPr>
            <a:lvl2pPr algn="l">
              <a:buNone/>
              <a:defRPr sz="1425" b="0">
                <a:solidFill>
                  <a:srgbClr val="6F7B7F"/>
                </a:solidFill>
              </a:defRPr>
            </a:lvl2pPr>
            <a:lvl3pPr algn="l">
              <a:buNone/>
              <a:defRPr sz="1425" b="0">
                <a:solidFill>
                  <a:srgbClr val="6F7B7F"/>
                </a:solidFill>
              </a:defRPr>
            </a:lvl3pPr>
            <a:lvl4pPr algn="l">
              <a:buNone/>
              <a:defRPr sz="1425" b="0">
                <a:solidFill>
                  <a:srgbClr val="6F7B7F"/>
                </a:solidFill>
              </a:defRPr>
            </a:lvl4pPr>
            <a:lvl5pPr algn="l">
              <a:buNone/>
              <a:defRPr sz="1425" b="0">
                <a:solidFill>
                  <a:srgbClr val="6F7B7F"/>
                </a:solidFill>
              </a:defRPr>
            </a:lvl5pPr>
            <a:lvl6pPr algn="l">
              <a:buNone/>
              <a:defRPr sz="1425" b="0">
                <a:solidFill>
                  <a:srgbClr val="6F7B7F"/>
                </a:solidFill>
              </a:defRPr>
            </a:lvl6pPr>
            <a:lvl7pPr algn="l">
              <a:buNone/>
              <a:defRPr sz="1425" b="0">
                <a:solidFill>
                  <a:srgbClr val="6F7B7F"/>
                </a:solidFill>
              </a:defRPr>
            </a:lvl7pPr>
            <a:lvl8pPr algn="l">
              <a:buNone/>
              <a:defRPr sz="1425" b="0">
                <a:solidFill>
                  <a:srgbClr val="6F7B7F"/>
                </a:solidFill>
              </a:defRPr>
            </a:lvl8pPr>
            <a:lvl9pPr algn="l">
              <a:buNone/>
              <a:defRPr sz="1425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425" b="0">
                <a:solidFill>
                  <a:srgbClr val="6F7B7F"/>
                </a:solidFill>
              </a:defRPr>
            </a:pPr>
            <a:r>
              <a:rPr sz="1425" b="0">
                <a:solidFill>
                  <a:srgbClr val="6F7B7F"/>
                </a:solidFill>
              </a:rPr>
              <a:t>Mevcut tahmin: 900 €</a:t>
            </a:r>
          </a:p>
          <a:p>
            <a:pPr algn="l">
              <a:buNone/>
              <a:defRPr sz="1425" b="0">
                <a:solidFill>
                  <a:srgbClr val="6F7B7F"/>
                </a:solidFill>
              </a:defRPr>
            </a:pPr>
            <a:r>
              <a:rPr sz="1425" b="0">
                <a:solidFill>
                  <a:srgbClr val="6F7B7F"/>
                </a:solidFill>
              </a:rPr>
              <a:t>Hedef: en az 1.000 €</a:t>
            </a:r>
          </a:p>
          <a:p>
            <a:endParaRPr sz="1425" b="0">
              <a:solidFill>
                <a:srgbClr val="6F7B7F"/>
              </a:solidFill>
            </a:endParaRPr>
          </a:p>
          <a:p>
            <a:pPr algn="l">
              <a:buNone/>
              <a:defRPr sz="1425" b="0">
                <a:solidFill>
                  <a:srgbClr val="6F7B7F"/>
                </a:solidFill>
              </a:defRPr>
            </a:pPr>
            <a:r>
              <a:rPr sz="1425" b="0">
                <a:solidFill>
                  <a:srgbClr val="6F7B7F"/>
                </a:solidFill>
              </a:rPr>
              <a:t>15 m² büyütme tahmini değiştirir, ancak uygulanabilir değildir. Evcil hayvana izin vermek ve daha iyi yalıtımlı pencere taktırmak uygulanabilir bir karşı-olgusal sunar.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0FA432-E660-4423-8E58-90ED5E992BA7}"/>
              </a:ext>
            </a:extLst>
          </p:cNvPr>
          <p:cNvSpPr>
            <a:spLocks noGrp="1"/>
          </p:cNvSpPr>
          <p:nvPr/>
        </p:nvSpPr>
        <p:spPr>
          <a:xfrm>
            <a:off x="1619250" y="5619750"/>
            <a:ext cx="8953500" cy="457200"/>
          </a:xfrm>
          <a:prstGeom prst="rect">
            <a:avLst/>
          </a:prstGeom>
          <a:solidFill>
            <a:srgbClr val="E7ECEB"/>
          </a:solidFill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350" b="1">
                <a:solidFill>
                  <a:srgbClr val="24343C"/>
                </a:solidFill>
              </a:defRPr>
            </a:lvl1pPr>
            <a:lvl2pPr algn="ctr">
              <a:buNone/>
              <a:defRPr sz="1350" b="1">
                <a:solidFill>
                  <a:srgbClr val="24343C"/>
                </a:solidFill>
              </a:defRPr>
            </a:lvl2pPr>
            <a:lvl3pPr algn="ctr">
              <a:buNone/>
              <a:defRPr sz="1350" b="1">
                <a:solidFill>
                  <a:srgbClr val="24343C"/>
                </a:solidFill>
              </a:defRPr>
            </a:lvl3pPr>
            <a:lvl4pPr algn="ctr">
              <a:buNone/>
              <a:defRPr sz="1350" b="1">
                <a:solidFill>
                  <a:srgbClr val="24343C"/>
                </a:solidFill>
              </a:defRPr>
            </a:lvl4pPr>
            <a:lvl5pPr algn="ctr">
              <a:buNone/>
              <a:defRPr sz="1350" b="1">
                <a:solidFill>
                  <a:srgbClr val="24343C"/>
                </a:solidFill>
              </a:defRPr>
            </a:lvl5pPr>
            <a:lvl6pPr algn="ctr">
              <a:buNone/>
              <a:defRPr sz="1350" b="1">
                <a:solidFill>
                  <a:srgbClr val="24343C"/>
                </a:solidFill>
              </a:defRPr>
            </a:lvl6pPr>
            <a:lvl7pPr algn="ctr">
              <a:buNone/>
              <a:defRPr sz="1350" b="1">
                <a:solidFill>
                  <a:srgbClr val="24343C"/>
                </a:solidFill>
              </a:defRPr>
            </a:lvl7pPr>
            <a:lvl8pPr algn="ctr">
              <a:buNone/>
              <a:defRPr sz="1350" b="1">
                <a:solidFill>
                  <a:srgbClr val="24343C"/>
                </a:solidFill>
              </a:defRPr>
            </a:lvl8pPr>
            <a:lvl9pPr algn="ctr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Model girdileri değiştirilir, tahmindeki değişim ölçülür. Yöntem modelden bağımsız çalışabilir.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2A5069-1776-4AAE-884D-CD104A8564E1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21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792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FBE3071-6123-472B-A535-A2449B7E006E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79678F-9E88-402A-9F67-AEA32D5698A7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Nedensellik sınırı</a:t>
            </a:r>
          </a:p>
        </p:txBody>
      </p:sp>
      <p:cxnSp>
        <p:nvCxnSpPr>
          <p:cNvPr id="24" name="Elbow Connector 23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78E867D-717D-4BA1-B32A-30E227A89362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11201400" cy="4000500"/>
          </a:xfrm>
          <a:prstGeom prst="roundRect">
            <a:avLst>
              <a:gd name="adj" fmla="val 1905"/>
            </a:avLst>
          </a:prstGeom>
          <a:solidFill>
            <a:srgbClr val="F8DDD5"/>
          </a:solidFill>
          <a:ln w="9525">
            <a:solidFill>
              <a:srgbClr val="E65E3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F3A219-727C-4555-9894-E5EFFE1CF85C}"/>
              </a:ext>
            </a:extLst>
          </p:cNvPr>
          <p:cNvSpPr>
            <a:spLocks noGrp="1"/>
          </p:cNvSpPr>
          <p:nvPr/>
        </p:nvSpPr>
        <p:spPr>
          <a:xfrm>
            <a:off x="904875" y="1762125"/>
            <a:ext cx="1038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ctr">
              <a:buNone/>
              <a:defRPr sz="2250" b="1">
                <a:solidFill>
                  <a:srgbClr val="24343C"/>
                </a:solidFill>
              </a:defRPr>
            </a:lvl1pPr>
            <a:lvl2pPr algn="ctr">
              <a:buNone/>
              <a:defRPr sz="2250" b="1">
                <a:solidFill>
                  <a:srgbClr val="24343C"/>
                </a:solidFill>
              </a:defRPr>
            </a:lvl2pPr>
            <a:lvl3pPr algn="ctr">
              <a:buNone/>
              <a:defRPr sz="2250" b="1">
                <a:solidFill>
                  <a:srgbClr val="24343C"/>
                </a:solidFill>
              </a:defRPr>
            </a:lvl3pPr>
            <a:lvl4pPr algn="ctr">
              <a:buNone/>
              <a:defRPr sz="2250" b="1">
                <a:solidFill>
                  <a:srgbClr val="24343C"/>
                </a:solidFill>
              </a:defRPr>
            </a:lvl4pPr>
            <a:lvl5pPr algn="ctr">
              <a:buNone/>
              <a:defRPr sz="2250" b="1">
                <a:solidFill>
                  <a:srgbClr val="24343C"/>
                </a:solidFill>
              </a:defRPr>
            </a:lvl5pPr>
            <a:lvl6pPr algn="ctr">
              <a:buNone/>
              <a:defRPr sz="2250" b="1">
                <a:solidFill>
                  <a:srgbClr val="24343C"/>
                </a:solidFill>
              </a:defRPr>
            </a:lvl6pPr>
            <a:lvl7pPr algn="ctr">
              <a:buNone/>
              <a:defRPr sz="2250" b="1">
                <a:solidFill>
                  <a:srgbClr val="24343C"/>
                </a:solidFill>
              </a:defRPr>
            </a:lvl7pPr>
            <a:lvl8pPr algn="ctr">
              <a:buNone/>
              <a:defRPr sz="2250" b="1">
                <a:solidFill>
                  <a:srgbClr val="24343C"/>
                </a:solidFill>
              </a:defRPr>
            </a:lvl8pPr>
            <a:lvl9pPr algn="ctr">
              <a:buNone/>
              <a:defRPr sz="225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2250" b="1">
                <a:solidFill>
                  <a:srgbClr val="24343C"/>
                </a:solidFill>
              </a:defRPr>
            </a:pPr>
            <a:r>
              <a:rPr sz="2250" b="1">
                <a:solidFill>
                  <a:srgbClr val="24343C"/>
                </a:solidFill>
              </a:rPr>
              <a:t>Karşı-olgusal açıklama, modelin davranışını açıklar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1D8CF9-95B6-489D-89AC-118CEC6D6D5F}"/>
              </a:ext>
            </a:extLst>
          </p:cNvPr>
          <p:cNvSpPr>
            <a:spLocks noGrp="1"/>
          </p:cNvSpPr>
          <p:nvPr/>
        </p:nvSpPr>
        <p:spPr>
          <a:xfrm>
            <a:off x="1381125" y="2571750"/>
            <a:ext cx="9429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875" b="0">
                <a:solidFill>
                  <a:srgbClr val="24343C"/>
                </a:solidFill>
              </a:defRPr>
            </a:lvl1pPr>
            <a:lvl2pPr algn="ctr">
              <a:buNone/>
              <a:defRPr sz="1875" b="0">
                <a:solidFill>
                  <a:srgbClr val="24343C"/>
                </a:solidFill>
              </a:defRPr>
            </a:lvl2pPr>
            <a:lvl3pPr algn="ctr">
              <a:buNone/>
              <a:defRPr sz="1875" b="0">
                <a:solidFill>
                  <a:srgbClr val="24343C"/>
                </a:solidFill>
              </a:defRPr>
            </a:lvl3pPr>
            <a:lvl4pPr algn="ctr">
              <a:buNone/>
              <a:defRPr sz="1875" b="0">
                <a:solidFill>
                  <a:srgbClr val="24343C"/>
                </a:solidFill>
              </a:defRPr>
            </a:lvl4pPr>
            <a:lvl5pPr algn="ctr">
              <a:buNone/>
              <a:defRPr sz="1875" b="0">
                <a:solidFill>
                  <a:srgbClr val="24343C"/>
                </a:solidFill>
              </a:defRPr>
            </a:lvl5pPr>
            <a:lvl6pPr algn="ctr">
              <a:buNone/>
              <a:defRPr sz="1875" b="0">
                <a:solidFill>
                  <a:srgbClr val="24343C"/>
                </a:solidFill>
              </a:defRPr>
            </a:lvl6pPr>
            <a:lvl7pPr algn="ctr">
              <a:buNone/>
              <a:defRPr sz="1875" b="0">
                <a:solidFill>
                  <a:srgbClr val="24343C"/>
                </a:solidFill>
              </a:defRPr>
            </a:lvl7pPr>
            <a:lvl8pPr algn="ctr">
              <a:buNone/>
              <a:defRPr sz="1875" b="0">
                <a:solidFill>
                  <a:srgbClr val="24343C"/>
                </a:solidFill>
              </a:defRPr>
            </a:lvl8pPr>
            <a:lvl9pPr algn="ctr">
              <a:buNone/>
              <a:defRPr sz="1875" b="0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875" b="0">
                <a:solidFill>
                  <a:srgbClr val="24343C"/>
                </a:solidFill>
              </a:defRPr>
            </a:pPr>
            <a:r>
              <a:rPr sz="1875" b="0">
                <a:solidFill>
                  <a:srgbClr val="24343C"/>
                </a:solidFill>
              </a:rPr>
              <a:t>Model, “gelir artarsa kredi olasılığı yükselir” diyebilir. Bu sonuç, gerçek dünyada yalnızca geliri artırmanın krediyi mutlaka onaylatacağını kanıtlamaz.</a:t>
            </a:r>
          </a:p>
        </p:txBody>
      </p:sp>
      <p:cxnSp>
        <p:nvCxnSpPr>
          <p:cNvPr id="28" name="Elbow Connector 27"/>
          <p:cNvCxnSpPr/>
          <p:nvPr/>
        </p:nvCxnSpPr>
        <p:spPr>
          <a:xfrm>
            <a:off x="3143250" y="4143375"/>
            <a:ext cx="2381250" cy="0"/>
          </a:xfrm>
          <a:prstGeom prst="bentConnector4">
            <a:avLst/>
          </a:prstGeom>
          <a:ln w="38100">
            <a:solidFill>
              <a:srgbClr val="30424B"/>
            </a:solidFill>
            <a:prstDash val="solid"/>
            <a:headEnd type="triangle" w="med" len="med"/>
          </a:ln>
        </p:spPr>
      </p:cxnSp>
      <p:cxnSp>
        <p:nvCxnSpPr>
          <p:cNvPr id="29" name="Elbow Connector 28"/>
          <p:cNvCxnSpPr/>
          <p:nvPr/>
        </p:nvCxnSpPr>
        <p:spPr>
          <a:xfrm>
            <a:off x="6667500" y="4143375"/>
            <a:ext cx="2381250" cy="0"/>
          </a:xfrm>
          <a:prstGeom prst="bentConnector4">
            <a:avLst/>
          </a:prstGeom>
          <a:ln w="38100">
            <a:solidFill>
              <a:srgbClr val="E65E3F"/>
            </a:solidFill>
            <a:prstDash val="solid"/>
            <a:headEnd type="triangle" w="med" len="med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ADA8257-F072-44DA-B1EF-DB310109D467}"/>
              </a:ext>
            </a:extLst>
          </p:cNvPr>
          <p:cNvSpPr>
            <a:spLocks noGrp="1"/>
          </p:cNvSpPr>
          <p:nvPr/>
        </p:nvSpPr>
        <p:spPr>
          <a:xfrm>
            <a:off x="2381250" y="43624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ctr">
              <a:buNone/>
              <a:defRPr sz="1200" b="1">
                <a:solidFill>
                  <a:srgbClr val="30424B"/>
                </a:solidFill>
              </a:defRPr>
            </a:lvl1pPr>
            <a:lvl2pPr algn="ctr">
              <a:buNone/>
              <a:defRPr sz="1200" b="1">
                <a:solidFill>
                  <a:srgbClr val="30424B"/>
                </a:solidFill>
              </a:defRPr>
            </a:lvl2pPr>
            <a:lvl3pPr algn="ctr">
              <a:buNone/>
              <a:defRPr sz="1200" b="1">
                <a:solidFill>
                  <a:srgbClr val="30424B"/>
                </a:solidFill>
              </a:defRPr>
            </a:lvl3pPr>
            <a:lvl4pPr algn="ctr">
              <a:buNone/>
              <a:defRPr sz="1200" b="1">
                <a:solidFill>
                  <a:srgbClr val="30424B"/>
                </a:solidFill>
              </a:defRPr>
            </a:lvl4pPr>
            <a:lvl5pPr algn="ctr">
              <a:buNone/>
              <a:defRPr sz="1200" b="1">
                <a:solidFill>
                  <a:srgbClr val="30424B"/>
                </a:solidFill>
              </a:defRPr>
            </a:lvl5pPr>
            <a:lvl6pPr algn="ctr">
              <a:buNone/>
              <a:defRPr sz="1200" b="1">
                <a:solidFill>
                  <a:srgbClr val="30424B"/>
                </a:solidFill>
              </a:defRPr>
            </a:lvl6pPr>
            <a:lvl7pPr algn="ctr">
              <a:buNone/>
              <a:defRPr sz="1200" b="1">
                <a:solidFill>
                  <a:srgbClr val="30424B"/>
                </a:solidFill>
              </a:defRPr>
            </a:lvl7pPr>
            <a:lvl8pPr algn="ctr">
              <a:buNone/>
              <a:defRPr sz="1200" b="1">
                <a:solidFill>
                  <a:srgbClr val="30424B"/>
                </a:solidFill>
              </a:defRPr>
            </a:lvl8pPr>
            <a:lvl9pPr algn="ctr">
              <a:buNone/>
              <a:defRPr sz="1200" b="1">
                <a:solidFill>
                  <a:srgbClr val="30424B"/>
                </a:solidFill>
              </a:defRPr>
            </a:lvl9pPr>
          </a:lstStyle>
          <a:p>
            <a:pPr algn="ctr">
              <a:buNone/>
              <a:defRPr sz="1200" b="1">
                <a:solidFill>
                  <a:srgbClr val="30424B"/>
                </a:solidFill>
              </a:defRPr>
            </a:pPr>
            <a:r>
              <a:rPr sz="1200" b="1">
                <a:solidFill>
                  <a:srgbClr val="30424B"/>
                </a:solidFill>
              </a:rPr>
              <a:t>özellik değişikliği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36FB8A-08B5-438E-B612-B48383F1EDE7}"/>
              </a:ext>
            </a:extLst>
          </p:cNvPr>
          <p:cNvSpPr>
            <a:spLocks noGrp="1"/>
          </p:cNvSpPr>
          <p:nvPr/>
        </p:nvSpPr>
        <p:spPr>
          <a:xfrm>
            <a:off x="6810375" y="43624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ctr">
              <a:buNone/>
              <a:defRPr sz="1200" b="1">
                <a:solidFill>
                  <a:srgbClr val="E65E3F"/>
                </a:solidFill>
              </a:defRPr>
            </a:lvl1pPr>
            <a:lvl2pPr algn="ctr">
              <a:buNone/>
              <a:defRPr sz="1200" b="1">
                <a:solidFill>
                  <a:srgbClr val="E65E3F"/>
                </a:solidFill>
              </a:defRPr>
            </a:lvl2pPr>
            <a:lvl3pPr algn="ctr">
              <a:buNone/>
              <a:defRPr sz="1200" b="1">
                <a:solidFill>
                  <a:srgbClr val="E65E3F"/>
                </a:solidFill>
              </a:defRPr>
            </a:lvl3pPr>
            <a:lvl4pPr algn="ctr">
              <a:buNone/>
              <a:defRPr sz="1200" b="1">
                <a:solidFill>
                  <a:srgbClr val="E65E3F"/>
                </a:solidFill>
              </a:defRPr>
            </a:lvl4pPr>
            <a:lvl5pPr algn="ctr">
              <a:buNone/>
              <a:defRPr sz="1200" b="1">
                <a:solidFill>
                  <a:srgbClr val="E65E3F"/>
                </a:solidFill>
              </a:defRPr>
            </a:lvl5pPr>
            <a:lvl6pPr algn="ctr">
              <a:buNone/>
              <a:defRPr sz="1200" b="1">
                <a:solidFill>
                  <a:srgbClr val="E65E3F"/>
                </a:solidFill>
              </a:defRPr>
            </a:lvl6pPr>
            <a:lvl7pPr algn="ctr">
              <a:buNone/>
              <a:defRPr sz="1200" b="1">
                <a:solidFill>
                  <a:srgbClr val="E65E3F"/>
                </a:solidFill>
              </a:defRPr>
            </a:lvl7pPr>
            <a:lvl8pPr algn="ctr">
              <a:buNone/>
              <a:defRPr sz="1200" b="1">
                <a:solidFill>
                  <a:srgbClr val="E65E3F"/>
                </a:solidFill>
              </a:defRPr>
            </a:lvl8pPr>
            <a:lvl9pPr algn="ctr">
              <a:buNone/>
              <a:defRPr sz="1200" b="1">
                <a:solidFill>
                  <a:srgbClr val="E65E3F"/>
                </a:solidFill>
              </a:defRPr>
            </a:lvl9pPr>
          </a:lstStyle>
          <a:p>
            <a:pPr algn="ctr">
              <a:buNone/>
              <a:defRPr sz="1200" b="1">
                <a:solidFill>
                  <a:srgbClr val="E65E3F"/>
                </a:solidFill>
              </a:defRPr>
            </a:pPr>
            <a:r>
              <a:rPr sz="1200" b="1">
                <a:solidFill>
                  <a:srgbClr val="E65E3F"/>
                </a:solidFill>
              </a:rPr>
              <a:t>model tahmini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D612C5-ADD0-417B-BF91-562FD916D566}"/>
              </a:ext>
            </a:extLst>
          </p:cNvPr>
          <p:cNvSpPr>
            <a:spLocks noGrp="1"/>
          </p:cNvSpPr>
          <p:nvPr/>
        </p:nvSpPr>
        <p:spPr>
          <a:xfrm>
            <a:off x="1333500" y="495300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 fontScale="95524"/>
          </a:bodyPr>
          <a:lstStyle>
            <a:lvl1pPr algn="ctr">
              <a:buNone/>
              <a:defRPr sz="1425" b="1">
                <a:solidFill>
                  <a:srgbClr val="24343C"/>
                </a:solidFill>
              </a:defRPr>
            </a:lvl1pPr>
            <a:lvl2pPr algn="ctr">
              <a:buNone/>
              <a:defRPr sz="1425" b="1">
                <a:solidFill>
                  <a:srgbClr val="24343C"/>
                </a:solidFill>
              </a:defRPr>
            </a:lvl2pPr>
            <a:lvl3pPr algn="ctr">
              <a:buNone/>
              <a:defRPr sz="1425" b="1">
                <a:solidFill>
                  <a:srgbClr val="24343C"/>
                </a:solidFill>
              </a:defRPr>
            </a:lvl3pPr>
            <a:lvl4pPr algn="ctr">
              <a:buNone/>
              <a:defRPr sz="1425" b="1">
                <a:solidFill>
                  <a:srgbClr val="24343C"/>
                </a:solidFill>
              </a:defRPr>
            </a:lvl4pPr>
            <a:lvl5pPr algn="ctr">
              <a:buNone/>
              <a:defRPr sz="1425" b="1">
                <a:solidFill>
                  <a:srgbClr val="24343C"/>
                </a:solidFill>
              </a:defRPr>
            </a:lvl5pPr>
            <a:lvl6pPr algn="ctr">
              <a:buNone/>
              <a:defRPr sz="1425" b="1">
                <a:solidFill>
                  <a:srgbClr val="24343C"/>
                </a:solidFill>
              </a:defRPr>
            </a:lvl6pPr>
            <a:lvl7pPr algn="ctr">
              <a:buNone/>
              <a:defRPr sz="1425" b="1">
                <a:solidFill>
                  <a:srgbClr val="24343C"/>
                </a:solidFill>
              </a:defRPr>
            </a:lvl7pPr>
            <a:lvl8pPr algn="ctr">
              <a:buNone/>
              <a:defRPr sz="1425" b="1">
                <a:solidFill>
                  <a:srgbClr val="24343C"/>
                </a:solidFill>
              </a:defRPr>
            </a:lvl8pPr>
            <a:lvl9pPr algn="ctr">
              <a:buNone/>
              <a:defRPr sz="1425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425" b="1">
                <a:solidFill>
                  <a:srgbClr val="24343C"/>
                </a:solidFill>
              </a:defRPr>
            </a:pPr>
            <a:r>
              <a:rPr sz="1425" b="1">
                <a:solidFill>
                  <a:srgbClr val="24343C"/>
                </a:solidFill>
              </a:rPr>
              <a:t>Gerçek dünyadaki nedensel etkiyi savunmak için ayrı bir nedensel model ve geçerli müdahale varsayımları gerekir.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BCF4CD-C168-4C66-B3AB-971AC32F163D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22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054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65003BA-E5F7-466A-AFFF-690AEA1CC80F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14D4B2-E210-4211-8620-D25A96CAFF03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Rashomon etkisi</a:t>
            </a:r>
          </a:p>
        </p:txBody>
      </p:sp>
      <p:cxnSp>
        <p:nvCxnSpPr>
          <p:cNvPr id="36" name="Elbow Connector 35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B0D4324-ED64-4F42-BA4D-F6FEF76808D0}"/>
              </a:ext>
            </a:extLst>
          </p:cNvPr>
          <p:cNvSpPr>
            <a:spLocks noGrp="1"/>
          </p:cNvSpPr>
          <p:nvPr/>
        </p:nvSpPr>
        <p:spPr>
          <a:xfrm>
            <a:off x="495300" y="121920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650" b="0">
                <a:solidFill>
                  <a:srgbClr val="6F7B7F"/>
                </a:solidFill>
              </a:defRPr>
            </a:lvl1pPr>
            <a:lvl2pPr algn="l">
              <a:buNone/>
              <a:defRPr sz="1650" b="0">
                <a:solidFill>
                  <a:srgbClr val="6F7B7F"/>
                </a:solidFill>
              </a:defRPr>
            </a:lvl2pPr>
            <a:lvl3pPr algn="l">
              <a:buNone/>
              <a:defRPr sz="1650" b="0">
                <a:solidFill>
                  <a:srgbClr val="6F7B7F"/>
                </a:solidFill>
              </a:defRPr>
            </a:lvl3pPr>
            <a:lvl4pPr algn="l">
              <a:buNone/>
              <a:defRPr sz="1650" b="0">
                <a:solidFill>
                  <a:srgbClr val="6F7B7F"/>
                </a:solidFill>
              </a:defRPr>
            </a:lvl4pPr>
            <a:lvl5pPr algn="l">
              <a:buNone/>
              <a:defRPr sz="1650" b="0">
                <a:solidFill>
                  <a:srgbClr val="6F7B7F"/>
                </a:solidFill>
              </a:defRPr>
            </a:lvl5pPr>
            <a:lvl6pPr algn="l">
              <a:buNone/>
              <a:defRPr sz="1650" b="0">
                <a:solidFill>
                  <a:srgbClr val="6F7B7F"/>
                </a:solidFill>
              </a:defRPr>
            </a:lvl6pPr>
            <a:lvl7pPr algn="l">
              <a:buNone/>
              <a:defRPr sz="1650" b="0">
                <a:solidFill>
                  <a:srgbClr val="6F7B7F"/>
                </a:solidFill>
              </a:defRPr>
            </a:lvl7pPr>
            <a:lvl8pPr algn="l">
              <a:buNone/>
              <a:defRPr sz="1650" b="0">
                <a:solidFill>
                  <a:srgbClr val="6F7B7F"/>
                </a:solidFill>
              </a:defRPr>
            </a:lvl8pPr>
            <a:lvl9pPr algn="l">
              <a:buNone/>
              <a:defRPr sz="165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650" b="0">
                <a:solidFill>
                  <a:srgbClr val="6F7B7F"/>
                </a:solidFill>
              </a:defRPr>
            </a:pPr>
            <a:r>
              <a:rPr sz="1650" b="0">
                <a:solidFill>
                  <a:srgbClr val="6F7B7F"/>
                </a:solidFill>
              </a:rPr>
              <a:t>Aynı hedefe ulaşan birden fazla karşı-olgusal, farklı ve bazen çelişen değişiklikler önerebilir.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451A36-24C9-4444-9A01-CBFA078E57A0}"/>
              </a:ext>
            </a:extLst>
          </p:cNvPr>
          <p:cNvSpPr>
            <a:spLocks noGrp="1"/>
          </p:cNvSpPr>
          <p:nvPr/>
        </p:nvSpPr>
        <p:spPr>
          <a:xfrm>
            <a:off x="3048000" y="2857500"/>
            <a:ext cx="1333500" cy="1333500"/>
          </a:xfrm>
          <a:prstGeom prst="roundRect">
            <a:avLst>
              <a:gd name="adj" fmla="val 5714"/>
            </a:avLst>
          </a:prstGeom>
          <a:solidFill>
            <a:srgbClr val="E7ECEB"/>
          </a:solidFill>
          <a:ln w="9525">
            <a:solidFill>
              <a:srgbClr val="30424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136C05-1F00-4433-BCA5-5FCB270CDBE2}"/>
              </a:ext>
            </a:extLst>
          </p:cNvPr>
          <p:cNvSpPr>
            <a:spLocks noGrp="1"/>
          </p:cNvSpPr>
          <p:nvPr/>
        </p:nvSpPr>
        <p:spPr>
          <a:xfrm>
            <a:off x="3095625" y="3048000"/>
            <a:ext cx="123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800" b="1">
                <a:solidFill>
                  <a:srgbClr val="24343C"/>
                </a:solidFill>
              </a:defRPr>
            </a:lvl1pPr>
            <a:lvl2pPr algn="ctr">
              <a:buNone/>
              <a:defRPr sz="1800" b="1">
                <a:solidFill>
                  <a:srgbClr val="24343C"/>
                </a:solidFill>
              </a:defRPr>
            </a:lvl2pPr>
            <a:lvl3pPr algn="ctr">
              <a:buNone/>
              <a:defRPr sz="1800" b="1">
                <a:solidFill>
                  <a:srgbClr val="24343C"/>
                </a:solidFill>
              </a:defRPr>
            </a:lvl3pPr>
            <a:lvl4pPr algn="ctr">
              <a:buNone/>
              <a:defRPr sz="1800" b="1">
                <a:solidFill>
                  <a:srgbClr val="24343C"/>
                </a:solidFill>
              </a:defRPr>
            </a:lvl4pPr>
            <a:lvl5pPr algn="ctr">
              <a:buNone/>
              <a:defRPr sz="1800" b="1">
                <a:solidFill>
                  <a:srgbClr val="24343C"/>
                </a:solidFill>
              </a:defRPr>
            </a:lvl5pPr>
            <a:lvl6pPr algn="ctr">
              <a:buNone/>
              <a:defRPr sz="1800" b="1">
                <a:solidFill>
                  <a:srgbClr val="24343C"/>
                </a:solidFill>
              </a:defRPr>
            </a:lvl6pPr>
            <a:lvl7pPr algn="ctr">
              <a:buNone/>
              <a:defRPr sz="1800" b="1">
                <a:solidFill>
                  <a:srgbClr val="24343C"/>
                </a:solidFill>
              </a:defRPr>
            </a:lvl7pPr>
            <a:lvl8pPr algn="ctr">
              <a:buNone/>
              <a:defRPr sz="1800" b="1">
                <a:solidFill>
                  <a:srgbClr val="24343C"/>
                </a:solidFill>
              </a:defRPr>
            </a:lvl8pPr>
            <a:lvl9pPr algn="ctr">
              <a:buNone/>
              <a:defRPr sz="180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800" b="1">
                <a:solidFill>
                  <a:srgbClr val="24343C"/>
                </a:solidFill>
              </a:defRPr>
            </a:pPr>
            <a:r>
              <a:rPr sz="1800" b="1">
                <a:solidFill>
                  <a:srgbClr val="24343C"/>
                </a:solidFill>
              </a:rPr>
              <a:t>Mevcut</a:t>
            </a:r>
          </a:p>
          <a:p>
            <a:pPr algn="ctr">
              <a:buNone/>
              <a:defRPr sz="1800" b="1">
                <a:solidFill>
                  <a:srgbClr val="24343C"/>
                </a:solidFill>
              </a:defRPr>
            </a:pPr>
            <a:r>
              <a:rPr sz="1800" b="1">
                <a:solidFill>
                  <a:srgbClr val="24343C"/>
                </a:solidFill>
              </a:rPr>
              <a:t>örnek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AA8A47-52F0-4F99-97C1-7D20BA15C416}"/>
              </a:ext>
            </a:extLst>
          </p:cNvPr>
          <p:cNvSpPr>
            <a:spLocks noGrp="1"/>
          </p:cNvSpPr>
          <p:nvPr/>
        </p:nvSpPr>
        <p:spPr>
          <a:xfrm>
            <a:off x="7239000" y="200025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65E3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036322-4317-4855-A55E-7CA61F887443}"/>
              </a:ext>
            </a:extLst>
          </p:cNvPr>
          <p:cNvSpPr>
            <a:spLocks noGrp="1"/>
          </p:cNvSpPr>
          <p:nvPr/>
        </p:nvSpPr>
        <p:spPr>
          <a:xfrm>
            <a:off x="7353300" y="2114550"/>
            <a:ext cx="2105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425" b="1">
                <a:solidFill>
                  <a:srgbClr val="24343C"/>
                </a:solidFill>
              </a:defRPr>
            </a:lvl1pPr>
            <a:lvl2pPr algn="ctr">
              <a:buNone/>
              <a:defRPr sz="1425" b="1">
                <a:solidFill>
                  <a:srgbClr val="24343C"/>
                </a:solidFill>
              </a:defRPr>
            </a:lvl2pPr>
            <a:lvl3pPr algn="ctr">
              <a:buNone/>
              <a:defRPr sz="1425" b="1">
                <a:solidFill>
                  <a:srgbClr val="24343C"/>
                </a:solidFill>
              </a:defRPr>
            </a:lvl3pPr>
            <a:lvl4pPr algn="ctr">
              <a:buNone/>
              <a:defRPr sz="1425" b="1">
                <a:solidFill>
                  <a:srgbClr val="24343C"/>
                </a:solidFill>
              </a:defRPr>
            </a:lvl4pPr>
            <a:lvl5pPr algn="ctr">
              <a:buNone/>
              <a:defRPr sz="1425" b="1">
                <a:solidFill>
                  <a:srgbClr val="24343C"/>
                </a:solidFill>
              </a:defRPr>
            </a:lvl5pPr>
            <a:lvl6pPr algn="ctr">
              <a:buNone/>
              <a:defRPr sz="1425" b="1">
                <a:solidFill>
                  <a:srgbClr val="24343C"/>
                </a:solidFill>
              </a:defRPr>
            </a:lvl6pPr>
            <a:lvl7pPr algn="ctr">
              <a:buNone/>
              <a:defRPr sz="1425" b="1">
                <a:solidFill>
                  <a:srgbClr val="24343C"/>
                </a:solidFill>
              </a:defRPr>
            </a:lvl7pPr>
            <a:lvl8pPr algn="ctr">
              <a:buNone/>
              <a:defRPr sz="1425" b="1">
                <a:solidFill>
                  <a:srgbClr val="24343C"/>
                </a:solidFill>
              </a:defRPr>
            </a:lvl8pPr>
            <a:lvl9pPr algn="ctr">
              <a:buNone/>
              <a:defRPr sz="1425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425" b="1">
                <a:solidFill>
                  <a:srgbClr val="24343C"/>
                </a:solidFill>
              </a:defRPr>
            </a:pPr>
            <a:r>
              <a:rPr sz="1425" b="1">
                <a:solidFill>
                  <a:srgbClr val="24343C"/>
                </a:solidFill>
              </a:rPr>
              <a:t>Geliri artır</a:t>
            </a:r>
          </a:p>
        </p:txBody>
      </p:sp>
      <p:cxnSp>
        <p:nvCxnSpPr>
          <p:cNvPr id="42" name="Elbow Connector 41"/>
          <p:cNvCxnSpPr/>
          <p:nvPr/>
        </p:nvCxnSpPr>
        <p:spPr>
          <a:xfrm flipV="1">
            <a:off x="4429125" y="2390775"/>
            <a:ext cx="2667000" cy="1133475"/>
          </a:xfrm>
          <a:prstGeom prst="bentConnector4">
            <a:avLst/>
          </a:prstGeom>
          <a:ln w="28575">
            <a:solidFill>
              <a:srgbClr val="E65E3F"/>
            </a:solidFill>
            <a:prstDash val="solid"/>
            <a:headEnd type="triangle" w="med" len="med"/>
          </a:ln>
        </p:spPr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3E05BEB-CE58-4102-A7B0-598BAE4CE679}"/>
              </a:ext>
            </a:extLst>
          </p:cNvPr>
          <p:cNvSpPr>
            <a:spLocks noGrp="1"/>
          </p:cNvSpPr>
          <p:nvPr/>
        </p:nvSpPr>
        <p:spPr>
          <a:xfrm>
            <a:off x="8763000" y="33813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6B85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3667D6-8B46-4CD2-8A33-BFCCE46393BD}"/>
              </a:ext>
            </a:extLst>
          </p:cNvPr>
          <p:cNvSpPr>
            <a:spLocks noGrp="1"/>
          </p:cNvSpPr>
          <p:nvPr/>
        </p:nvSpPr>
        <p:spPr>
          <a:xfrm>
            <a:off x="8877300" y="3495675"/>
            <a:ext cx="2105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425" b="1">
                <a:solidFill>
                  <a:srgbClr val="24343C"/>
                </a:solidFill>
              </a:defRPr>
            </a:lvl1pPr>
            <a:lvl2pPr algn="ctr">
              <a:buNone/>
              <a:defRPr sz="1425" b="1">
                <a:solidFill>
                  <a:srgbClr val="24343C"/>
                </a:solidFill>
              </a:defRPr>
            </a:lvl2pPr>
            <a:lvl3pPr algn="ctr">
              <a:buNone/>
              <a:defRPr sz="1425" b="1">
                <a:solidFill>
                  <a:srgbClr val="24343C"/>
                </a:solidFill>
              </a:defRPr>
            </a:lvl3pPr>
            <a:lvl4pPr algn="ctr">
              <a:buNone/>
              <a:defRPr sz="1425" b="1">
                <a:solidFill>
                  <a:srgbClr val="24343C"/>
                </a:solidFill>
              </a:defRPr>
            </a:lvl4pPr>
            <a:lvl5pPr algn="ctr">
              <a:buNone/>
              <a:defRPr sz="1425" b="1">
                <a:solidFill>
                  <a:srgbClr val="24343C"/>
                </a:solidFill>
              </a:defRPr>
            </a:lvl5pPr>
            <a:lvl6pPr algn="ctr">
              <a:buNone/>
              <a:defRPr sz="1425" b="1">
                <a:solidFill>
                  <a:srgbClr val="24343C"/>
                </a:solidFill>
              </a:defRPr>
            </a:lvl6pPr>
            <a:lvl7pPr algn="ctr">
              <a:buNone/>
              <a:defRPr sz="1425" b="1">
                <a:solidFill>
                  <a:srgbClr val="24343C"/>
                </a:solidFill>
              </a:defRPr>
            </a:lvl7pPr>
            <a:lvl8pPr algn="ctr">
              <a:buNone/>
              <a:defRPr sz="1425" b="1">
                <a:solidFill>
                  <a:srgbClr val="24343C"/>
                </a:solidFill>
              </a:defRPr>
            </a:lvl8pPr>
            <a:lvl9pPr algn="ctr">
              <a:buNone/>
              <a:defRPr sz="1425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425" b="1">
                <a:solidFill>
                  <a:srgbClr val="24343C"/>
                </a:solidFill>
              </a:defRPr>
            </a:pPr>
            <a:r>
              <a:rPr sz="1425" b="1">
                <a:solidFill>
                  <a:srgbClr val="24343C"/>
                </a:solidFill>
              </a:rPr>
              <a:t>Borç süresini kısalt</a:t>
            </a:r>
          </a:p>
        </p:txBody>
      </p:sp>
      <p:cxnSp>
        <p:nvCxnSpPr>
          <p:cNvPr id="45" name="Elbow Connector 44"/>
          <p:cNvCxnSpPr/>
          <p:nvPr/>
        </p:nvCxnSpPr>
        <p:spPr>
          <a:xfrm>
            <a:off x="4429125" y="3524250"/>
            <a:ext cx="4191000" cy="247650"/>
          </a:xfrm>
          <a:prstGeom prst="bentConnector4">
            <a:avLst/>
          </a:prstGeom>
          <a:ln w="28575">
            <a:solidFill>
              <a:srgbClr val="E6B85C"/>
            </a:solidFill>
            <a:prstDash val="solid"/>
            <a:headEnd type="triangle" w="med" len="med"/>
          </a:ln>
        </p:spPr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42E1A3-EFD0-4D5C-82A9-ED8CE81B51A6}"/>
              </a:ext>
            </a:extLst>
          </p:cNvPr>
          <p:cNvSpPr>
            <a:spLocks noGrp="1"/>
          </p:cNvSpPr>
          <p:nvPr/>
        </p:nvSpPr>
        <p:spPr>
          <a:xfrm>
            <a:off x="7239000" y="476250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CAE690-6F0F-41FA-8928-6F49F518D3FF}"/>
              </a:ext>
            </a:extLst>
          </p:cNvPr>
          <p:cNvSpPr>
            <a:spLocks noGrp="1"/>
          </p:cNvSpPr>
          <p:nvPr/>
        </p:nvSpPr>
        <p:spPr>
          <a:xfrm>
            <a:off x="7353300" y="4876800"/>
            <a:ext cx="2105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425" b="1">
                <a:solidFill>
                  <a:srgbClr val="24343C"/>
                </a:solidFill>
              </a:defRPr>
            </a:lvl1pPr>
            <a:lvl2pPr algn="ctr">
              <a:buNone/>
              <a:defRPr sz="1425" b="1">
                <a:solidFill>
                  <a:srgbClr val="24343C"/>
                </a:solidFill>
              </a:defRPr>
            </a:lvl2pPr>
            <a:lvl3pPr algn="ctr">
              <a:buNone/>
              <a:defRPr sz="1425" b="1">
                <a:solidFill>
                  <a:srgbClr val="24343C"/>
                </a:solidFill>
              </a:defRPr>
            </a:lvl3pPr>
            <a:lvl4pPr algn="ctr">
              <a:buNone/>
              <a:defRPr sz="1425" b="1">
                <a:solidFill>
                  <a:srgbClr val="24343C"/>
                </a:solidFill>
              </a:defRPr>
            </a:lvl4pPr>
            <a:lvl5pPr algn="ctr">
              <a:buNone/>
              <a:defRPr sz="1425" b="1">
                <a:solidFill>
                  <a:srgbClr val="24343C"/>
                </a:solidFill>
              </a:defRPr>
            </a:lvl5pPr>
            <a:lvl6pPr algn="ctr">
              <a:buNone/>
              <a:defRPr sz="1425" b="1">
                <a:solidFill>
                  <a:srgbClr val="24343C"/>
                </a:solidFill>
              </a:defRPr>
            </a:lvl6pPr>
            <a:lvl7pPr algn="ctr">
              <a:buNone/>
              <a:defRPr sz="1425" b="1">
                <a:solidFill>
                  <a:srgbClr val="24343C"/>
                </a:solidFill>
              </a:defRPr>
            </a:lvl7pPr>
            <a:lvl8pPr algn="ctr">
              <a:buNone/>
              <a:defRPr sz="1425" b="1">
                <a:solidFill>
                  <a:srgbClr val="24343C"/>
                </a:solidFill>
              </a:defRPr>
            </a:lvl8pPr>
            <a:lvl9pPr algn="ctr">
              <a:buNone/>
              <a:defRPr sz="1425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425" b="1">
                <a:solidFill>
                  <a:srgbClr val="24343C"/>
                </a:solidFill>
              </a:defRPr>
            </a:pPr>
            <a:r>
              <a:rPr sz="1425" b="1">
                <a:solidFill>
                  <a:srgbClr val="24343C"/>
                </a:solidFill>
              </a:rPr>
              <a:t>Geçmiş temerrüt olmasaydı</a:t>
            </a:r>
          </a:p>
        </p:txBody>
      </p:sp>
      <p:cxnSp>
        <p:nvCxnSpPr>
          <p:cNvPr id="48" name="Elbow Connector 47"/>
          <p:cNvCxnSpPr/>
          <p:nvPr/>
        </p:nvCxnSpPr>
        <p:spPr>
          <a:xfrm>
            <a:off x="4429125" y="3524250"/>
            <a:ext cx="2667000" cy="1628775"/>
          </a:xfrm>
          <a:prstGeom prst="bentConnector4">
            <a:avLst/>
          </a:prstGeom>
          <a:ln w="28575">
            <a:solidFill>
              <a:srgbClr val="B9C8CD"/>
            </a:solidFill>
            <a:prstDash val="solid"/>
            <a:headEnd type="triangle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D31A6-B9E5-46B2-9FCF-0C318CDD19D6}"/>
              </a:ext>
            </a:extLst>
          </p:cNvPr>
          <p:cNvSpPr>
            <a:spLocks noGrp="1"/>
          </p:cNvSpPr>
          <p:nvPr/>
        </p:nvSpPr>
        <p:spPr>
          <a:xfrm>
            <a:off x="809625" y="5667375"/>
            <a:ext cx="10572750" cy="428625"/>
          </a:xfrm>
          <a:prstGeom prst="rect">
            <a:avLst/>
          </a:prstGeom>
          <a:solidFill>
            <a:srgbClr val="F5E6BD"/>
          </a:solidFill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500" b="1">
                <a:solidFill>
                  <a:srgbClr val="24343C"/>
                </a:solidFill>
              </a:defRPr>
            </a:lvl1pPr>
            <a:lvl2pPr algn="ctr">
              <a:buNone/>
              <a:defRPr sz="1500" b="1">
                <a:solidFill>
                  <a:srgbClr val="24343C"/>
                </a:solidFill>
              </a:defRPr>
            </a:lvl2pPr>
            <a:lvl3pPr algn="ctr">
              <a:buNone/>
              <a:defRPr sz="1500" b="1">
                <a:solidFill>
                  <a:srgbClr val="24343C"/>
                </a:solidFill>
              </a:defRPr>
            </a:lvl3pPr>
            <a:lvl4pPr algn="ctr">
              <a:buNone/>
              <a:defRPr sz="1500" b="1">
                <a:solidFill>
                  <a:srgbClr val="24343C"/>
                </a:solidFill>
              </a:defRPr>
            </a:lvl4pPr>
            <a:lvl5pPr algn="ctr">
              <a:buNone/>
              <a:defRPr sz="1500" b="1">
                <a:solidFill>
                  <a:srgbClr val="24343C"/>
                </a:solidFill>
              </a:defRPr>
            </a:lvl5pPr>
            <a:lvl6pPr algn="ctr">
              <a:buNone/>
              <a:defRPr sz="1500" b="1">
                <a:solidFill>
                  <a:srgbClr val="24343C"/>
                </a:solidFill>
              </a:defRPr>
            </a:lvl6pPr>
            <a:lvl7pPr algn="ctr">
              <a:buNone/>
              <a:defRPr sz="1500" b="1">
                <a:solidFill>
                  <a:srgbClr val="24343C"/>
                </a:solidFill>
              </a:defRPr>
            </a:lvl7pPr>
            <a:lvl8pPr algn="ctr">
              <a:buNone/>
              <a:defRPr sz="1500" b="1">
                <a:solidFill>
                  <a:srgbClr val="24343C"/>
                </a:solidFill>
              </a:defRPr>
            </a:lvl8pPr>
            <a:lvl9pPr algn="ctr">
              <a:buNone/>
              <a:defRPr sz="150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500" b="1">
                <a:solidFill>
                  <a:srgbClr val="24343C"/>
                </a:solidFill>
              </a:defRPr>
            </a:pPr>
            <a:r>
              <a:rPr sz="1500" b="1">
                <a:solidFill>
                  <a:srgbClr val="24343C"/>
                </a:solidFill>
              </a:rPr>
              <a:t>Çözüm: tüm seçenekleri raporlamak veya açık bir seçim ölçütü kullanmak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815F38-F2C2-4F72-AB6D-D8D14DE2DFEE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23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162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CAA98F3-6645-4DA0-94A0-C12A8CB27453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AF1F01-9AC4-4704-AA99-9BB91DBE40CD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İyi bir karşı-olgusalın ölçütleri</a:t>
            </a:r>
          </a:p>
        </p:txBody>
      </p:sp>
      <p:cxnSp>
        <p:nvCxnSpPr>
          <p:cNvPr id="31" name="Elbow Connector 30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545690-127C-4CDB-9B5C-07E7F5120CCE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55054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26B8A3-B279-4446-9722-BECB3DC093A6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85725" cy="1428750"/>
          </a:xfrm>
          <a:prstGeom prst="rect">
            <a:avLst/>
          </a:prstGeom>
          <a:solidFill>
            <a:srgbClr val="E65E3F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FAC1E9-0E45-4DB0-8C58-AB1972A901BD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512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1  Hedefe yakınlık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AC6E11-34C7-497C-AE74-986C060EF0D5}"/>
              </a:ext>
            </a:extLst>
          </p:cNvPr>
          <p:cNvSpPr>
            <a:spLocks noGrp="1"/>
          </p:cNvSpPr>
          <p:nvPr/>
        </p:nvSpPr>
        <p:spPr>
          <a:xfrm>
            <a:off x="723900" y="1924050"/>
            <a:ext cx="51244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0">
                <a:solidFill>
                  <a:srgbClr val="6F7B7F"/>
                </a:solidFill>
              </a:defRPr>
            </a:lvl1pPr>
            <a:lvl2pPr algn="l">
              <a:buNone/>
              <a:defRPr sz="1350" b="0">
                <a:solidFill>
                  <a:srgbClr val="6F7B7F"/>
                </a:solidFill>
              </a:defRPr>
            </a:lvl2pPr>
            <a:lvl3pPr algn="l">
              <a:buNone/>
              <a:defRPr sz="1350" b="0">
                <a:solidFill>
                  <a:srgbClr val="6F7B7F"/>
                </a:solidFill>
              </a:defRPr>
            </a:lvl3pPr>
            <a:lvl4pPr algn="l">
              <a:buNone/>
              <a:defRPr sz="1350" b="0">
                <a:solidFill>
                  <a:srgbClr val="6F7B7F"/>
                </a:solidFill>
              </a:defRPr>
            </a:lvl4pPr>
            <a:lvl5pPr algn="l">
              <a:buNone/>
              <a:defRPr sz="1350" b="0">
                <a:solidFill>
                  <a:srgbClr val="6F7B7F"/>
                </a:solidFill>
              </a:defRPr>
            </a:lvl5pPr>
            <a:lvl6pPr algn="l">
              <a:buNone/>
              <a:defRPr sz="1350" b="0">
                <a:solidFill>
                  <a:srgbClr val="6F7B7F"/>
                </a:solidFill>
              </a:defRPr>
            </a:lvl6pPr>
            <a:lvl7pPr algn="l">
              <a:buNone/>
              <a:defRPr sz="1350" b="0">
                <a:solidFill>
                  <a:srgbClr val="6F7B7F"/>
                </a:solidFill>
              </a:defRPr>
            </a:lvl7pPr>
            <a:lvl8pPr algn="l">
              <a:buNone/>
              <a:defRPr sz="1350" b="0">
                <a:solidFill>
                  <a:srgbClr val="6F7B7F"/>
                </a:solidFill>
              </a:defRPr>
            </a:lvl8pPr>
            <a:lvl9pPr algn="l">
              <a:buNone/>
              <a:defRPr sz="135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6F7B7F"/>
                </a:solidFill>
              </a:defRPr>
            </a:pPr>
            <a:r>
              <a:rPr sz="1350" b="0">
                <a:solidFill>
                  <a:srgbClr val="6F7B7F"/>
                </a:solidFill>
              </a:rPr>
              <a:t>Tahmin, istenen çıktı ya da olasılık aralığına ulaşmalı.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E5EAB52-BBC9-425F-A9AC-B5E23EFC5D40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55054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57046-1041-40A6-9A59-504DFE5F3533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85725" cy="1428750"/>
          </a:xfrm>
          <a:prstGeom prst="rect">
            <a:avLst/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F03D39-33A2-4C42-8552-72A3AEF515B5}"/>
              </a:ext>
            </a:extLst>
          </p:cNvPr>
          <p:cNvSpPr>
            <a:spLocks noGrp="1"/>
          </p:cNvSpPr>
          <p:nvPr/>
        </p:nvSpPr>
        <p:spPr>
          <a:xfrm>
            <a:off x="6419850" y="1581150"/>
            <a:ext cx="512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2  Benzerlik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C7634A-FC6F-42E4-86C2-BF1C474A0225}"/>
              </a:ext>
            </a:extLst>
          </p:cNvPr>
          <p:cNvSpPr>
            <a:spLocks noGrp="1"/>
          </p:cNvSpPr>
          <p:nvPr/>
        </p:nvSpPr>
        <p:spPr>
          <a:xfrm>
            <a:off x="6419850" y="1924050"/>
            <a:ext cx="51244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0">
                <a:solidFill>
                  <a:srgbClr val="6F7B7F"/>
                </a:solidFill>
              </a:defRPr>
            </a:lvl1pPr>
            <a:lvl2pPr algn="l">
              <a:buNone/>
              <a:defRPr sz="1350" b="0">
                <a:solidFill>
                  <a:srgbClr val="6F7B7F"/>
                </a:solidFill>
              </a:defRPr>
            </a:lvl2pPr>
            <a:lvl3pPr algn="l">
              <a:buNone/>
              <a:defRPr sz="1350" b="0">
                <a:solidFill>
                  <a:srgbClr val="6F7B7F"/>
                </a:solidFill>
              </a:defRPr>
            </a:lvl3pPr>
            <a:lvl4pPr algn="l">
              <a:buNone/>
              <a:defRPr sz="1350" b="0">
                <a:solidFill>
                  <a:srgbClr val="6F7B7F"/>
                </a:solidFill>
              </a:defRPr>
            </a:lvl4pPr>
            <a:lvl5pPr algn="l">
              <a:buNone/>
              <a:defRPr sz="1350" b="0">
                <a:solidFill>
                  <a:srgbClr val="6F7B7F"/>
                </a:solidFill>
              </a:defRPr>
            </a:lvl5pPr>
            <a:lvl6pPr algn="l">
              <a:buNone/>
              <a:defRPr sz="1350" b="0">
                <a:solidFill>
                  <a:srgbClr val="6F7B7F"/>
                </a:solidFill>
              </a:defRPr>
            </a:lvl6pPr>
            <a:lvl7pPr algn="l">
              <a:buNone/>
              <a:defRPr sz="1350" b="0">
                <a:solidFill>
                  <a:srgbClr val="6F7B7F"/>
                </a:solidFill>
              </a:defRPr>
            </a:lvl7pPr>
            <a:lvl8pPr algn="l">
              <a:buNone/>
              <a:defRPr sz="1350" b="0">
                <a:solidFill>
                  <a:srgbClr val="6F7B7F"/>
                </a:solidFill>
              </a:defRPr>
            </a:lvl8pPr>
            <a:lvl9pPr algn="l">
              <a:buNone/>
              <a:defRPr sz="135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6F7B7F"/>
                </a:solidFill>
              </a:defRPr>
            </a:pPr>
            <a:r>
              <a:rPr sz="1350" b="0">
                <a:solidFill>
                  <a:srgbClr val="6F7B7F"/>
                </a:solidFill>
              </a:rPr>
              <a:t>Karşı-olgusal, başlangıç örneğine olabildiğince yakın kalmalı.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A31CDE3-795A-451F-B186-E2EE43F130A6}"/>
              </a:ext>
            </a:extLst>
          </p:cNvPr>
          <p:cNvSpPr>
            <a:spLocks noGrp="1"/>
          </p:cNvSpPr>
          <p:nvPr/>
        </p:nvSpPr>
        <p:spPr>
          <a:xfrm>
            <a:off x="495300" y="3190875"/>
            <a:ext cx="55054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4C3AB1-5056-4DD4-99B0-CB217CD3A751}"/>
              </a:ext>
            </a:extLst>
          </p:cNvPr>
          <p:cNvSpPr>
            <a:spLocks noGrp="1"/>
          </p:cNvSpPr>
          <p:nvPr/>
        </p:nvSpPr>
        <p:spPr>
          <a:xfrm>
            <a:off x="495300" y="3190875"/>
            <a:ext cx="85725" cy="1428750"/>
          </a:xfrm>
          <a:prstGeom prst="rect">
            <a:avLst/>
          </a:prstGeom>
          <a:solidFill>
            <a:srgbClr val="E6B85C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78ACC9-9535-45F0-9476-C19DF4BC4214}"/>
              </a:ext>
            </a:extLst>
          </p:cNvPr>
          <p:cNvSpPr>
            <a:spLocks noGrp="1"/>
          </p:cNvSpPr>
          <p:nvPr/>
        </p:nvSpPr>
        <p:spPr>
          <a:xfrm>
            <a:off x="723900" y="3343275"/>
            <a:ext cx="512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3  Seyreklik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4E38CD-96C1-4843-AF99-5105EFB873C5}"/>
              </a:ext>
            </a:extLst>
          </p:cNvPr>
          <p:cNvSpPr>
            <a:spLocks noGrp="1"/>
          </p:cNvSpPr>
          <p:nvPr/>
        </p:nvSpPr>
        <p:spPr>
          <a:xfrm>
            <a:off x="723900" y="3686175"/>
            <a:ext cx="51244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0">
                <a:solidFill>
                  <a:srgbClr val="6F7B7F"/>
                </a:solidFill>
              </a:defRPr>
            </a:lvl1pPr>
            <a:lvl2pPr algn="l">
              <a:buNone/>
              <a:defRPr sz="1350" b="0">
                <a:solidFill>
                  <a:srgbClr val="6F7B7F"/>
                </a:solidFill>
              </a:defRPr>
            </a:lvl2pPr>
            <a:lvl3pPr algn="l">
              <a:buNone/>
              <a:defRPr sz="1350" b="0">
                <a:solidFill>
                  <a:srgbClr val="6F7B7F"/>
                </a:solidFill>
              </a:defRPr>
            </a:lvl3pPr>
            <a:lvl4pPr algn="l">
              <a:buNone/>
              <a:defRPr sz="1350" b="0">
                <a:solidFill>
                  <a:srgbClr val="6F7B7F"/>
                </a:solidFill>
              </a:defRPr>
            </a:lvl4pPr>
            <a:lvl5pPr algn="l">
              <a:buNone/>
              <a:defRPr sz="1350" b="0">
                <a:solidFill>
                  <a:srgbClr val="6F7B7F"/>
                </a:solidFill>
              </a:defRPr>
            </a:lvl5pPr>
            <a:lvl6pPr algn="l">
              <a:buNone/>
              <a:defRPr sz="1350" b="0">
                <a:solidFill>
                  <a:srgbClr val="6F7B7F"/>
                </a:solidFill>
              </a:defRPr>
            </a:lvl6pPr>
            <a:lvl7pPr algn="l">
              <a:buNone/>
              <a:defRPr sz="1350" b="0">
                <a:solidFill>
                  <a:srgbClr val="6F7B7F"/>
                </a:solidFill>
              </a:defRPr>
            </a:lvl7pPr>
            <a:lvl8pPr algn="l">
              <a:buNone/>
              <a:defRPr sz="1350" b="0">
                <a:solidFill>
                  <a:srgbClr val="6F7B7F"/>
                </a:solidFill>
              </a:defRPr>
            </a:lvl8pPr>
            <a:lvl9pPr algn="l">
              <a:buNone/>
              <a:defRPr sz="135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6F7B7F"/>
                </a:solidFill>
              </a:defRPr>
            </a:pPr>
            <a:r>
              <a:rPr sz="1350" b="0">
                <a:solidFill>
                  <a:srgbClr val="6F7B7F"/>
                </a:solidFill>
              </a:rPr>
              <a:t>Az sayıda özellik değişmeli. Böylece açıklama daha anlaşılır olur.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A113B8C-98B3-4B67-937A-7B990FC6EC6F}"/>
              </a:ext>
            </a:extLst>
          </p:cNvPr>
          <p:cNvSpPr>
            <a:spLocks noGrp="1"/>
          </p:cNvSpPr>
          <p:nvPr/>
        </p:nvSpPr>
        <p:spPr>
          <a:xfrm>
            <a:off x="6191250" y="3190875"/>
            <a:ext cx="55054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EB3D3E-6365-4C1B-A359-03386918DE0E}"/>
              </a:ext>
            </a:extLst>
          </p:cNvPr>
          <p:cNvSpPr>
            <a:spLocks noGrp="1"/>
          </p:cNvSpPr>
          <p:nvPr/>
        </p:nvSpPr>
        <p:spPr>
          <a:xfrm>
            <a:off x="6191250" y="3190875"/>
            <a:ext cx="85725" cy="1428750"/>
          </a:xfrm>
          <a:prstGeom prst="rect">
            <a:avLst/>
          </a:prstGeom>
          <a:solidFill>
            <a:srgbClr val="B9C8CD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6B110A-A795-491E-87E9-A1F9CBF21DFE}"/>
              </a:ext>
            </a:extLst>
          </p:cNvPr>
          <p:cNvSpPr>
            <a:spLocks noGrp="1"/>
          </p:cNvSpPr>
          <p:nvPr/>
        </p:nvSpPr>
        <p:spPr>
          <a:xfrm>
            <a:off x="6419850" y="3343275"/>
            <a:ext cx="512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4  Olasılık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67DCFF-D337-49A6-B464-BA500B0FCB2A}"/>
              </a:ext>
            </a:extLst>
          </p:cNvPr>
          <p:cNvSpPr>
            <a:spLocks noGrp="1"/>
          </p:cNvSpPr>
          <p:nvPr/>
        </p:nvSpPr>
        <p:spPr>
          <a:xfrm>
            <a:off x="6419850" y="3686175"/>
            <a:ext cx="51244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0">
                <a:solidFill>
                  <a:srgbClr val="6F7B7F"/>
                </a:solidFill>
              </a:defRPr>
            </a:lvl1pPr>
            <a:lvl2pPr algn="l">
              <a:buNone/>
              <a:defRPr sz="1350" b="0">
                <a:solidFill>
                  <a:srgbClr val="6F7B7F"/>
                </a:solidFill>
              </a:defRPr>
            </a:lvl2pPr>
            <a:lvl3pPr algn="l">
              <a:buNone/>
              <a:defRPr sz="1350" b="0">
                <a:solidFill>
                  <a:srgbClr val="6F7B7F"/>
                </a:solidFill>
              </a:defRPr>
            </a:lvl3pPr>
            <a:lvl4pPr algn="l">
              <a:buNone/>
              <a:defRPr sz="1350" b="0">
                <a:solidFill>
                  <a:srgbClr val="6F7B7F"/>
                </a:solidFill>
              </a:defRPr>
            </a:lvl4pPr>
            <a:lvl5pPr algn="l">
              <a:buNone/>
              <a:defRPr sz="1350" b="0">
                <a:solidFill>
                  <a:srgbClr val="6F7B7F"/>
                </a:solidFill>
              </a:defRPr>
            </a:lvl5pPr>
            <a:lvl6pPr algn="l">
              <a:buNone/>
              <a:defRPr sz="1350" b="0">
                <a:solidFill>
                  <a:srgbClr val="6F7B7F"/>
                </a:solidFill>
              </a:defRPr>
            </a:lvl6pPr>
            <a:lvl7pPr algn="l">
              <a:buNone/>
              <a:defRPr sz="1350" b="0">
                <a:solidFill>
                  <a:srgbClr val="6F7B7F"/>
                </a:solidFill>
              </a:defRPr>
            </a:lvl7pPr>
            <a:lvl8pPr algn="l">
              <a:buNone/>
              <a:defRPr sz="1350" b="0">
                <a:solidFill>
                  <a:srgbClr val="6F7B7F"/>
                </a:solidFill>
              </a:defRPr>
            </a:lvl8pPr>
            <a:lvl9pPr algn="l">
              <a:buNone/>
              <a:defRPr sz="135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6F7B7F"/>
                </a:solidFill>
              </a:defRPr>
            </a:pPr>
            <a:r>
              <a:rPr sz="1350" b="0">
                <a:solidFill>
                  <a:srgbClr val="6F7B7F"/>
                </a:solidFill>
              </a:rPr>
              <a:t>Değerler ve özellik birleşimleri veri dağılımında gerçekçi olmalı.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628D44-D7D7-4DDE-886E-F6CFB4639C54}"/>
              </a:ext>
            </a:extLst>
          </p:cNvPr>
          <p:cNvSpPr>
            <a:spLocks noGrp="1"/>
          </p:cNvSpPr>
          <p:nvPr/>
        </p:nvSpPr>
        <p:spPr>
          <a:xfrm>
            <a:off x="495300" y="51911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E65E3F"/>
                </a:solidFill>
              </a:defRPr>
            </a:lvl1pPr>
            <a:lvl2pPr algn="l">
              <a:buNone/>
              <a:defRPr sz="1350" b="1">
                <a:solidFill>
                  <a:srgbClr val="E65E3F"/>
                </a:solidFill>
              </a:defRPr>
            </a:lvl2pPr>
            <a:lvl3pPr algn="l">
              <a:buNone/>
              <a:defRPr sz="1350" b="1">
                <a:solidFill>
                  <a:srgbClr val="E65E3F"/>
                </a:solidFill>
              </a:defRPr>
            </a:lvl3pPr>
            <a:lvl4pPr algn="l">
              <a:buNone/>
              <a:defRPr sz="1350" b="1">
                <a:solidFill>
                  <a:srgbClr val="E65E3F"/>
                </a:solidFill>
              </a:defRPr>
            </a:lvl4pPr>
            <a:lvl5pPr algn="l">
              <a:buNone/>
              <a:defRPr sz="1350" b="1">
                <a:solidFill>
                  <a:srgbClr val="E65E3F"/>
                </a:solidFill>
              </a:defRPr>
            </a:lvl5pPr>
            <a:lvl6pPr algn="l">
              <a:buNone/>
              <a:defRPr sz="1350" b="1">
                <a:solidFill>
                  <a:srgbClr val="E65E3F"/>
                </a:solidFill>
              </a:defRPr>
            </a:lvl6pPr>
            <a:lvl7pPr algn="l">
              <a:buNone/>
              <a:defRPr sz="1350" b="1">
                <a:solidFill>
                  <a:srgbClr val="E65E3F"/>
                </a:solidFill>
              </a:defRPr>
            </a:lvl7pPr>
            <a:lvl8pPr algn="l">
              <a:buNone/>
              <a:defRPr sz="1350" b="1">
                <a:solidFill>
                  <a:srgbClr val="E65E3F"/>
                </a:solidFill>
              </a:defRPr>
            </a:lvl8pPr>
            <a:lvl9pPr algn="l">
              <a:buNone/>
              <a:defRPr sz="1350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E65E3F"/>
                </a:solidFill>
              </a:defRPr>
            </a:pPr>
            <a:r>
              <a:rPr sz="1350" b="1">
                <a:solidFill>
                  <a:srgbClr val="E65E3F"/>
                </a:solidFill>
              </a:rPr>
              <a:t>Uygulanabilirlik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FE1FC4-3889-4002-81F3-08DE7E0E9548}"/>
              </a:ext>
            </a:extLst>
          </p:cNvPr>
          <p:cNvSpPr>
            <a:spLocks noGrp="1"/>
          </p:cNvSpPr>
          <p:nvPr/>
        </p:nvSpPr>
        <p:spPr>
          <a:xfrm>
            <a:off x="2476500" y="519112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 fontScale="97809"/>
          </a:bodyPr>
          <a:lstStyle>
            <a:lvl1pPr algn="l">
              <a:buNone/>
              <a:defRPr sz="1275" b="0">
                <a:solidFill>
                  <a:srgbClr val="24343C"/>
                </a:solidFill>
              </a:defRPr>
            </a:lvl1pPr>
            <a:lvl2pPr algn="l">
              <a:buNone/>
              <a:defRPr sz="1275" b="0">
                <a:solidFill>
                  <a:srgbClr val="24343C"/>
                </a:solidFill>
              </a:defRPr>
            </a:lvl2pPr>
            <a:lvl3pPr algn="l">
              <a:buNone/>
              <a:defRPr sz="1275" b="0">
                <a:solidFill>
                  <a:srgbClr val="24343C"/>
                </a:solidFill>
              </a:defRPr>
            </a:lvl3pPr>
            <a:lvl4pPr algn="l">
              <a:buNone/>
              <a:defRPr sz="1275" b="0">
                <a:solidFill>
                  <a:srgbClr val="24343C"/>
                </a:solidFill>
              </a:defRPr>
            </a:lvl4pPr>
            <a:lvl5pPr algn="l">
              <a:buNone/>
              <a:defRPr sz="1275" b="0">
                <a:solidFill>
                  <a:srgbClr val="24343C"/>
                </a:solidFill>
              </a:defRPr>
            </a:lvl5pPr>
            <a:lvl6pPr algn="l">
              <a:buNone/>
              <a:defRPr sz="1275" b="0">
                <a:solidFill>
                  <a:srgbClr val="24343C"/>
                </a:solidFill>
              </a:defRPr>
            </a:lvl6pPr>
            <a:lvl7pPr algn="l">
              <a:buNone/>
              <a:defRPr sz="1275" b="0">
                <a:solidFill>
                  <a:srgbClr val="24343C"/>
                </a:solidFill>
              </a:defRPr>
            </a:lvl7pPr>
            <a:lvl8pPr algn="l">
              <a:buNone/>
              <a:defRPr sz="1275" b="0">
                <a:solidFill>
                  <a:srgbClr val="24343C"/>
                </a:solidFill>
              </a:defRPr>
            </a:lvl8pPr>
            <a:lvl9pPr algn="l">
              <a:buNone/>
              <a:defRPr sz="1275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275" b="0">
                <a:solidFill>
                  <a:srgbClr val="24343C"/>
                </a:solidFill>
              </a:defRPr>
            </a:pPr>
            <a:r>
              <a:rPr sz="1275" b="0">
                <a:solidFill>
                  <a:srgbClr val="24343C"/>
                </a:solidFill>
              </a:rPr>
              <a:t>Kullanıcının değiştiremeyeceği özellikleri kısıtla.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562243-6A7B-46A8-BDDF-4C58FD666DAA}"/>
              </a:ext>
            </a:extLst>
          </p:cNvPr>
          <p:cNvSpPr>
            <a:spLocks noGrp="1"/>
          </p:cNvSpPr>
          <p:nvPr/>
        </p:nvSpPr>
        <p:spPr>
          <a:xfrm>
            <a:off x="6191250" y="51911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30424B"/>
                </a:solidFill>
              </a:defRPr>
            </a:lvl1pPr>
            <a:lvl2pPr algn="l">
              <a:buNone/>
              <a:defRPr sz="1350" b="1">
                <a:solidFill>
                  <a:srgbClr val="30424B"/>
                </a:solidFill>
              </a:defRPr>
            </a:lvl2pPr>
            <a:lvl3pPr algn="l">
              <a:buNone/>
              <a:defRPr sz="1350" b="1">
                <a:solidFill>
                  <a:srgbClr val="30424B"/>
                </a:solidFill>
              </a:defRPr>
            </a:lvl3pPr>
            <a:lvl4pPr algn="l">
              <a:buNone/>
              <a:defRPr sz="1350" b="1">
                <a:solidFill>
                  <a:srgbClr val="30424B"/>
                </a:solidFill>
              </a:defRPr>
            </a:lvl4pPr>
            <a:lvl5pPr algn="l">
              <a:buNone/>
              <a:defRPr sz="1350" b="1">
                <a:solidFill>
                  <a:srgbClr val="30424B"/>
                </a:solidFill>
              </a:defRPr>
            </a:lvl5pPr>
            <a:lvl6pPr algn="l">
              <a:buNone/>
              <a:defRPr sz="1350" b="1">
                <a:solidFill>
                  <a:srgbClr val="30424B"/>
                </a:solidFill>
              </a:defRPr>
            </a:lvl6pPr>
            <a:lvl7pPr algn="l">
              <a:buNone/>
              <a:defRPr sz="1350" b="1">
                <a:solidFill>
                  <a:srgbClr val="30424B"/>
                </a:solidFill>
              </a:defRPr>
            </a:lvl7pPr>
            <a:lvl8pPr algn="l">
              <a:buNone/>
              <a:defRPr sz="1350" b="1">
                <a:solidFill>
                  <a:srgbClr val="30424B"/>
                </a:solidFill>
              </a:defRPr>
            </a:lvl8pPr>
            <a:lvl9pPr algn="l">
              <a:buNone/>
              <a:defRPr sz="1350" b="1">
                <a:solidFill>
                  <a:srgbClr val="30424B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30424B"/>
                </a:solidFill>
              </a:defRPr>
            </a:pPr>
            <a:r>
              <a:rPr sz="1350" b="1">
                <a:solidFill>
                  <a:srgbClr val="30424B"/>
                </a:solidFill>
              </a:rPr>
              <a:t>Çeşitlilik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68C356-B5CC-4A29-A71E-45E6202125F6}"/>
              </a:ext>
            </a:extLst>
          </p:cNvPr>
          <p:cNvSpPr>
            <a:spLocks noGrp="1"/>
          </p:cNvSpPr>
          <p:nvPr/>
        </p:nvSpPr>
        <p:spPr>
          <a:xfrm>
            <a:off x="7524750" y="5191125"/>
            <a:ext cx="385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275" b="0">
                <a:solidFill>
                  <a:srgbClr val="24343C"/>
                </a:solidFill>
              </a:defRPr>
            </a:lvl1pPr>
            <a:lvl2pPr algn="l">
              <a:buNone/>
              <a:defRPr sz="1275" b="0">
                <a:solidFill>
                  <a:srgbClr val="24343C"/>
                </a:solidFill>
              </a:defRPr>
            </a:lvl2pPr>
            <a:lvl3pPr algn="l">
              <a:buNone/>
              <a:defRPr sz="1275" b="0">
                <a:solidFill>
                  <a:srgbClr val="24343C"/>
                </a:solidFill>
              </a:defRPr>
            </a:lvl3pPr>
            <a:lvl4pPr algn="l">
              <a:buNone/>
              <a:defRPr sz="1275" b="0">
                <a:solidFill>
                  <a:srgbClr val="24343C"/>
                </a:solidFill>
              </a:defRPr>
            </a:lvl4pPr>
            <a:lvl5pPr algn="l">
              <a:buNone/>
              <a:defRPr sz="1275" b="0">
                <a:solidFill>
                  <a:srgbClr val="24343C"/>
                </a:solidFill>
              </a:defRPr>
            </a:lvl5pPr>
            <a:lvl6pPr algn="l">
              <a:buNone/>
              <a:defRPr sz="1275" b="0">
                <a:solidFill>
                  <a:srgbClr val="24343C"/>
                </a:solidFill>
              </a:defRPr>
            </a:lvl6pPr>
            <a:lvl7pPr algn="l">
              <a:buNone/>
              <a:defRPr sz="1275" b="0">
                <a:solidFill>
                  <a:srgbClr val="24343C"/>
                </a:solidFill>
              </a:defRPr>
            </a:lvl7pPr>
            <a:lvl8pPr algn="l">
              <a:buNone/>
              <a:defRPr sz="1275" b="0">
                <a:solidFill>
                  <a:srgbClr val="24343C"/>
                </a:solidFill>
              </a:defRPr>
            </a:lvl8pPr>
            <a:lvl9pPr algn="l">
              <a:buNone/>
              <a:defRPr sz="1275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275" b="0">
                <a:solidFill>
                  <a:srgbClr val="24343C"/>
                </a:solidFill>
              </a:defRPr>
            </a:pPr>
            <a:r>
              <a:rPr sz="1275" b="0">
                <a:solidFill>
                  <a:srgbClr val="24343C"/>
                </a:solidFill>
              </a:rPr>
              <a:t>Farklı kişiler için farklı uygulanabilir yollar sun.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714DA3-E415-4C70-877E-698BDD1AF60F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24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41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748BCA0-0E8E-414D-B048-7CA96341A1B6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DA400A-873D-40C9-8096-F2694B3DC69D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Optimizasyon yaklaşımı</a:t>
            </a:r>
          </a:p>
        </p:txBody>
      </p:sp>
      <p:cxnSp>
        <p:nvCxnSpPr>
          <p:cNvPr id="34" name="Elbow Connector 33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519F19E-C823-4D09-AAAA-51DFB2ED1692}"/>
              </a:ext>
            </a:extLst>
          </p:cNvPr>
          <p:cNvSpPr>
            <a:spLocks noGrp="1"/>
          </p:cNvSpPr>
          <p:nvPr/>
        </p:nvSpPr>
        <p:spPr>
          <a:xfrm>
            <a:off x="495300" y="121920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650" b="0">
                <a:solidFill>
                  <a:srgbClr val="6F7B7F"/>
                </a:solidFill>
              </a:defRPr>
            </a:lvl1pPr>
            <a:lvl2pPr algn="l">
              <a:buNone/>
              <a:defRPr sz="1650" b="0">
                <a:solidFill>
                  <a:srgbClr val="6F7B7F"/>
                </a:solidFill>
              </a:defRPr>
            </a:lvl2pPr>
            <a:lvl3pPr algn="l">
              <a:buNone/>
              <a:defRPr sz="1650" b="0">
                <a:solidFill>
                  <a:srgbClr val="6F7B7F"/>
                </a:solidFill>
              </a:defRPr>
            </a:lvl3pPr>
            <a:lvl4pPr algn="l">
              <a:buNone/>
              <a:defRPr sz="1650" b="0">
                <a:solidFill>
                  <a:srgbClr val="6F7B7F"/>
                </a:solidFill>
              </a:defRPr>
            </a:lvl4pPr>
            <a:lvl5pPr algn="l">
              <a:buNone/>
              <a:defRPr sz="1650" b="0">
                <a:solidFill>
                  <a:srgbClr val="6F7B7F"/>
                </a:solidFill>
              </a:defRPr>
            </a:lvl5pPr>
            <a:lvl6pPr algn="l">
              <a:buNone/>
              <a:defRPr sz="1650" b="0">
                <a:solidFill>
                  <a:srgbClr val="6F7B7F"/>
                </a:solidFill>
              </a:defRPr>
            </a:lvl6pPr>
            <a:lvl7pPr algn="l">
              <a:buNone/>
              <a:defRPr sz="1650" b="0">
                <a:solidFill>
                  <a:srgbClr val="6F7B7F"/>
                </a:solidFill>
              </a:defRPr>
            </a:lvl7pPr>
            <a:lvl8pPr algn="l">
              <a:buNone/>
              <a:defRPr sz="1650" b="0">
                <a:solidFill>
                  <a:srgbClr val="6F7B7F"/>
                </a:solidFill>
              </a:defRPr>
            </a:lvl8pPr>
            <a:lvl9pPr algn="l">
              <a:buNone/>
              <a:defRPr sz="165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650" b="0">
                <a:solidFill>
                  <a:srgbClr val="6F7B7F"/>
                </a:solidFill>
              </a:defRPr>
            </a:pPr>
            <a:r>
              <a:rPr sz="1650" b="0">
                <a:solidFill>
                  <a:srgbClr val="6F7B7F"/>
                </a:solidFill>
              </a:rPr>
              <a:t>Rastgele deneme yerine kalite ölçütlerini kayıp fonksiyonunda tanımlar ve en iyi karşı-olgusalı ararız.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F23B383-B335-43AB-BA1C-0B3AB0BBE0D7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2000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30424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8162A7-2976-429D-B461-C84A552BAE9F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1771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650" b="1">
                <a:solidFill>
                  <a:srgbClr val="24343C"/>
                </a:solidFill>
              </a:defRPr>
            </a:lvl1pPr>
            <a:lvl2pPr algn="ctr">
              <a:buNone/>
              <a:defRPr sz="1650" b="1">
                <a:solidFill>
                  <a:srgbClr val="24343C"/>
                </a:solidFill>
              </a:defRPr>
            </a:lvl2pPr>
            <a:lvl3pPr algn="ctr">
              <a:buNone/>
              <a:defRPr sz="1650" b="1">
                <a:solidFill>
                  <a:srgbClr val="24343C"/>
                </a:solidFill>
              </a:defRPr>
            </a:lvl3pPr>
            <a:lvl4pPr algn="ctr">
              <a:buNone/>
              <a:defRPr sz="1650" b="1">
                <a:solidFill>
                  <a:srgbClr val="24343C"/>
                </a:solidFill>
              </a:defRPr>
            </a:lvl4pPr>
            <a:lvl5pPr algn="ctr">
              <a:buNone/>
              <a:defRPr sz="1650" b="1">
                <a:solidFill>
                  <a:srgbClr val="24343C"/>
                </a:solidFill>
              </a:defRPr>
            </a:lvl5pPr>
            <a:lvl6pPr algn="ctr">
              <a:buNone/>
              <a:defRPr sz="1650" b="1">
                <a:solidFill>
                  <a:srgbClr val="24343C"/>
                </a:solidFill>
              </a:defRPr>
            </a:lvl6pPr>
            <a:lvl7pPr algn="ctr">
              <a:buNone/>
              <a:defRPr sz="1650" b="1">
                <a:solidFill>
                  <a:srgbClr val="24343C"/>
                </a:solidFill>
              </a:defRPr>
            </a:lvl7pPr>
            <a:lvl8pPr algn="ctr">
              <a:buNone/>
              <a:defRPr sz="1650" b="1">
                <a:solidFill>
                  <a:srgbClr val="24343C"/>
                </a:solidFill>
              </a:defRPr>
            </a:lvl8pPr>
            <a:lvl9pPr algn="ctr">
              <a:buNone/>
              <a:defRPr sz="165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650" b="1">
                <a:solidFill>
                  <a:srgbClr val="24343C"/>
                </a:solidFill>
              </a:defRPr>
            </a:pPr>
            <a:r>
              <a:rPr sz="1650" b="1">
                <a:solidFill>
                  <a:srgbClr val="24343C"/>
                </a:solidFill>
              </a:rPr>
              <a:t>Başlangıç örneği x</a:t>
            </a:r>
          </a:p>
        </p:txBody>
      </p:sp>
      <p:cxnSp>
        <p:nvCxnSpPr>
          <p:cNvPr id="38" name="Elbow Connector 37"/>
          <p:cNvCxnSpPr/>
          <p:nvPr/>
        </p:nvCxnSpPr>
        <p:spPr>
          <a:xfrm>
            <a:off x="2809875" y="3238500"/>
            <a:ext cx="1190625" cy="0"/>
          </a:xfrm>
          <a:prstGeom prst="bentConnector4">
            <a:avLst/>
          </a:prstGeom>
          <a:ln w="28575">
            <a:solidFill>
              <a:srgbClr val="30424B"/>
            </a:solidFill>
            <a:prstDash val="solid"/>
            <a:headEnd type="triangle" w="med" len="med"/>
          </a:ln>
        </p:spPr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73F0484-407D-49A8-855C-9CE884DC4889}"/>
              </a:ext>
            </a:extLst>
          </p:cNvPr>
          <p:cNvSpPr>
            <a:spLocks noGrp="1"/>
          </p:cNvSpPr>
          <p:nvPr/>
        </p:nvSpPr>
        <p:spPr>
          <a:xfrm>
            <a:off x="3381375" y="2667000"/>
            <a:ext cx="2000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30424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487275-A80E-48AB-A2F0-A4B5D234D382}"/>
              </a:ext>
            </a:extLst>
          </p:cNvPr>
          <p:cNvSpPr>
            <a:spLocks noGrp="1"/>
          </p:cNvSpPr>
          <p:nvPr/>
        </p:nvSpPr>
        <p:spPr>
          <a:xfrm>
            <a:off x="3495675" y="2857500"/>
            <a:ext cx="1771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650" b="1">
                <a:solidFill>
                  <a:srgbClr val="24343C"/>
                </a:solidFill>
              </a:defRPr>
            </a:lvl1pPr>
            <a:lvl2pPr algn="ctr">
              <a:buNone/>
              <a:defRPr sz="1650" b="1">
                <a:solidFill>
                  <a:srgbClr val="24343C"/>
                </a:solidFill>
              </a:defRPr>
            </a:lvl2pPr>
            <a:lvl3pPr algn="ctr">
              <a:buNone/>
              <a:defRPr sz="1650" b="1">
                <a:solidFill>
                  <a:srgbClr val="24343C"/>
                </a:solidFill>
              </a:defRPr>
            </a:lvl3pPr>
            <a:lvl4pPr algn="ctr">
              <a:buNone/>
              <a:defRPr sz="1650" b="1">
                <a:solidFill>
                  <a:srgbClr val="24343C"/>
                </a:solidFill>
              </a:defRPr>
            </a:lvl4pPr>
            <a:lvl5pPr algn="ctr">
              <a:buNone/>
              <a:defRPr sz="1650" b="1">
                <a:solidFill>
                  <a:srgbClr val="24343C"/>
                </a:solidFill>
              </a:defRPr>
            </a:lvl5pPr>
            <a:lvl6pPr algn="ctr">
              <a:buNone/>
              <a:defRPr sz="1650" b="1">
                <a:solidFill>
                  <a:srgbClr val="24343C"/>
                </a:solidFill>
              </a:defRPr>
            </a:lvl6pPr>
            <a:lvl7pPr algn="ctr">
              <a:buNone/>
              <a:defRPr sz="1650" b="1">
                <a:solidFill>
                  <a:srgbClr val="24343C"/>
                </a:solidFill>
              </a:defRPr>
            </a:lvl7pPr>
            <a:lvl8pPr algn="ctr">
              <a:buNone/>
              <a:defRPr sz="1650" b="1">
                <a:solidFill>
                  <a:srgbClr val="24343C"/>
                </a:solidFill>
              </a:defRPr>
            </a:lvl8pPr>
            <a:lvl9pPr algn="ctr">
              <a:buNone/>
              <a:defRPr sz="165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650" b="1">
                <a:solidFill>
                  <a:srgbClr val="24343C"/>
                </a:solidFill>
              </a:defRPr>
            </a:pPr>
            <a:r>
              <a:rPr sz="1650" b="1">
                <a:solidFill>
                  <a:srgbClr val="24343C"/>
                </a:solidFill>
              </a:rPr>
              <a:t>Aday karşı-olgusal x′</a:t>
            </a:r>
          </a:p>
        </p:txBody>
      </p:sp>
      <p:cxnSp>
        <p:nvCxnSpPr>
          <p:cNvPr id="41" name="Elbow Connector 40"/>
          <p:cNvCxnSpPr/>
          <p:nvPr/>
        </p:nvCxnSpPr>
        <p:spPr>
          <a:xfrm>
            <a:off x="5429250" y="3238500"/>
            <a:ext cx="1190625" cy="0"/>
          </a:xfrm>
          <a:prstGeom prst="bentConnector4">
            <a:avLst/>
          </a:prstGeom>
          <a:ln w="28575">
            <a:solidFill>
              <a:srgbClr val="30424B"/>
            </a:solidFill>
            <a:prstDash val="solid"/>
            <a:headEnd type="triangle" w="med" len="med"/>
          </a:ln>
        </p:spPr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EE28ECA-3839-40B6-8153-77759BD3AA79}"/>
              </a:ext>
            </a:extLst>
          </p:cNvPr>
          <p:cNvSpPr>
            <a:spLocks noGrp="1"/>
          </p:cNvSpPr>
          <p:nvPr/>
        </p:nvSpPr>
        <p:spPr>
          <a:xfrm>
            <a:off x="6000750" y="2667000"/>
            <a:ext cx="2000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30424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8A3DA6-05D8-4A76-B09D-2E6165D7A95C}"/>
              </a:ext>
            </a:extLst>
          </p:cNvPr>
          <p:cNvSpPr>
            <a:spLocks noGrp="1"/>
          </p:cNvSpPr>
          <p:nvPr/>
        </p:nvSpPr>
        <p:spPr>
          <a:xfrm>
            <a:off x="6115050" y="2857500"/>
            <a:ext cx="1771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650" b="1">
                <a:solidFill>
                  <a:srgbClr val="24343C"/>
                </a:solidFill>
              </a:defRPr>
            </a:lvl1pPr>
            <a:lvl2pPr algn="ctr">
              <a:buNone/>
              <a:defRPr sz="1650" b="1">
                <a:solidFill>
                  <a:srgbClr val="24343C"/>
                </a:solidFill>
              </a:defRPr>
            </a:lvl2pPr>
            <a:lvl3pPr algn="ctr">
              <a:buNone/>
              <a:defRPr sz="1650" b="1">
                <a:solidFill>
                  <a:srgbClr val="24343C"/>
                </a:solidFill>
              </a:defRPr>
            </a:lvl3pPr>
            <a:lvl4pPr algn="ctr">
              <a:buNone/>
              <a:defRPr sz="1650" b="1">
                <a:solidFill>
                  <a:srgbClr val="24343C"/>
                </a:solidFill>
              </a:defRPr>
            </a:lvl4pPr>
            <a:lvl5pPr algn="ctr">
              <a:buNone/>
              <a:defRPr sz="1650" b="1">
                <a:solidFill>
                  <a:srgbClr val="24343C"/>
                </a:solidFill>
              </a:defRPr>
            </a:lvl5pPr>
            <a:lvl6pPr algn="ctr">
              <a:buNone/>
              <a:defRPr sz="1650" b="1">
                <a:solidFill>
                  <a:srgbClr val="24343C"/>
                </a:solidFill>
              </a:defRPr>
            </a:lvl6pPr>
            <a:lvl7pPr algn="ctr">
              <a:buNone/>
              <a:defRPr sz="1650" b="1">
                <a:solidFill>
                  <a:srgbClr val="24343C"/>
                </a:solidFill>
              </a:defRPr>
            </a:lvl7pPr>
            <a:lvl8pPr algn="ctr">
              <a:buNone/>
              <a:defRPr sz="1650" b="1">
                <a:solidFill>
                  <a:srgbClr val="24343C"/>
                </a:solidFill>
              </a:defRPr>
            </a:lvl8pPr>
            <a:lvl9pPr algn="ctr">
              <a:buNone/>
              <a:defRPr sz="165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650" b="1">
                <a:solidFill>
                  <a:srgbClr val="24343C"/>
                </a:solidFill>
              </a:defRPr>
            </a:pPr>
            <a:r>
              <a:rPr sz="1650" b="1">
                <a:solidFill>
                  <a:srgbClr val="24343C"/>
                </a:solidFill>
              </a:rPr>
              <a:t>Kayıp / amaçlar</a:t>
            </a:r>
          </a:p>
        </p:txBody>
      </p:sp>
      <p:cxnSp>
        <p:nvCxnSpPr>
          <p:cNvPr id="44" name="Elbow Connector 43"/>
          <p:cNvCxnSpPr/>
          <p:nvPr/>
        </p:nvCxnSpPr>
        <p:spPr>
          <a:xfrm>
            <a:off x="8048625" y="3238500"/>
            <a:ext cx="1190625" cy="0"/>
          </a:xfrm>
          <a:prstGeom prst="bentConnector4">
            <a:avLst/>
          </a:prstGeom>
          <a:ln w="28575">
            <a:solidFill>
              <a:srgbClr val="30424B"/>
            </a:solidFill>
            <a:prstDash val="solid"/>
            <a:headEnd type="triangle" w="med" len="med"/>
          </a:ln>
        </p:spPr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423C6E6-56FB-405B-BC02-F9410DEF8697}"/>
              </a:ext>
            </a:extLst>
          </p:cNvPr>
          <p:cNvSpPr>
            <a:spLocks noGrp="1"/>
          </p:cNvSpPr>
          <p:nvPr/>
        </p:nvSpPr>
        <p:spPr>
          <a:xfrm>
            <a:off x="8620125" y="2667000"/>
            <a:ext cx="2000250" cy="1143000"/>
          </a:xfrm>
          <a:prstGeom prst="roundRect">
            <a:avLst>
              <a:gd name="adj" fmla="val 6667"/>
            </a:avLst>
          </a:prstGeom>
          <a:solidFill>
            <a:srgbClr val="F8DDD5"/>
          </a:solidFill>
          <a:ln w="9525">
            <a:solidFill>
              <a:srgbClr val="E65E3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96359D-6131-4724-A4EE-5AC0D745D965}"/>
              </a:ext>
            </a:extLst>
          </p:cNvPr>
          <p:cNvSpPr>
            <a:spLocks noGrp="1"/>
          </p:cNvSpPr>
          <p:nvPr/>
        </p:nvSpPr>
        <p:spPr>
          <a:xfrm>
            <a:off x="8734425" y="2857500"/>
            <a:ext cx="1771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650" b="1">
                <a:solidFill>
                  <a:srgbClr val="24343C"/>
                </a:solidFill>
              </a:defRPr>
            </a:lvl1pPr>
            <a:lvl2pPr algn="ctr">
              <a:buNone/>
              <a:defRPr sz="1650" b="1">
                <a:solidFill>
                  <a:srgbClr val="24343C"/>
                </a:solidFill>
              </a:defRPr>
            </a:lvl2pPr>
            <a:lvl3pPr algn="ctr">
              <a:buNone/>
              <a:defRPr sz="1650" b="1">
                <a:solidFill>
                  <a:srgbClr val="24343C"/>
                </a:solidFill>
              </a:defRPr>
            </a:lvl3pPr>
            <a:lvl4pPr algn="ctr">
              <a:buNone/>
              <a:defRPr sz="1650" b="1">
                <a:solidFill>
                  <a:srgbClr val="24343C"/>
                </a:solidFill>
              </a:defRPr>
            </a:lvl4pPr>
            <a:lvl5pPr algn="ctr">
              <a:buNone/>
              <a:defRPr sz="1650" b="1">
                <a:solidFill>
                  <a:srgbClr val="24343C"/>
                </a:solidFill>
              </a:defRPr>
            </a:lvl5pPr>
            <a:lvl6pPr algn="ctr">
              <a:buNone/>
              <a:defRPr sz="1650" b="1">
                <a:solidFill>
                  <a:srgbClr val="24343C"/>
                </a:solidFill>
              </a:defRPr>
            </a:lvl6pPr>
            <a:lvl7pPr algn="ctr">
              <a:buNone/>
              <a:defRPr sz="1650" b="1">
                <a:solidFill>
                  <a:srgbClr val="24343C"/>
                </a:solidFill>
              </a:defRPr>
            </a:lvl7pPr>
            <a:lvl8pPr algn="ctr">
              <a:buNone/>
              <a:defRPr sz="1650" b="1">
                <a:solidFill>
                  <a:srgbClr val="24343C"/>
                </a:solidFill>
              </a:defRPr>
            </a:lvl8pPr>
            <a:lvl9pPr algn="ctr">
              <a:buNone/>
              <a:defRPr sz="165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650" b="1">
                <a:solidFill>
                  <a:srgbClr val="24343C"/>
                </a:solidFill>
              </a:defRPr>
            </a:pPr>
            <a:r>
              <a:rPr sz="1650" b="1">
                <a:solidFill>
                  <a:srgbClr val="24343C"/>
                </a:solidFill>
              </a:rPr>
              <a:t>Optimize edilmiş x′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582FBF-D336-485C-88DA-04C95B8FA32F}"/>
              </a:ext>
            </a:extLst>
          </p:cNvPr>
          <p:cNvSpPr>
            <a:spLocks noGrp="1"/>
          </p:cNvSpPr>
          <p:nvPr/>
        </p:nvSpPr>
        <p:spPr>
          <a:xfrm>
            <a:off x="1952625" y="4762500"/>
            <a:ext cx="8286750" cy="476250"/>
          </a:xfrm>
          <a:prstGeom prst="rect">
            <a:avLst/>
          </a:prstGeom>
          <a:solidFill>
            <a:srgbClr val="E7ECEB"/>
          </a:solidFill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575" b="1">
                <a:solidFill>
                  <a:srgbClr val="24343C"/>
                </a:solidFill>
              </a:defRPr>
            </a:lvl1pPr>
            <a:lvl2pPr algn="ctr">
              <a:buNone/>
              <a:defRPr sz="1575" b="1">
                <a:solidFill>
                  <a:srgbClr val="24343C"/>
                </a:solidFill>
              </a:defRPr>
            </a:lvl2pPr>
            <a:lvl3pPr algn="ctr">
              <a:buNone/>
              <a:defRPr sz="1575" b="1">
                <a:solidFill>
                  <a:srgbClr val="24343C"/>
                </a:solidFill>
              </a:defRPr>
            </a:lvl3pPr>
            <a:lvl4pPr algn="ctr">
              <a:buNone/>
              <a:defRPr sz="1575" b="1">
                <a:solidFill>
                  <a:srgbClr val="24343C"/>
                </a:solidFill>
              </a:defRPr>
            </a:lvl4pPr>
            <a:lvl5pPr algn="ctr">
              <a:buNone/>
              <a:defRPr sz="1575" b="1">
                <a:solidFill>
                  <a:srgbClr val="24343C"/>
                </a:solidFill>
              </a:defRPr>
            </a:lvl5pPr>
            <a:lvl6pPr algn="ctr">
              <a:buNone/>
              <a:defRPr sz="1575" b="1">
                <a:solidFill>
                  <a:srgbClr val="24343C"/>
                </a:solidFill>
              </a:defRPr>
            </a:lvl6pPr>
            <a:lvl7pPr algn="ctr">
              <a:buNone/>
              <a:defRPr sz="1575" b="1">
                <a:solidFill>
                  <a:srgbClr val="24343C"/>
                </a:solidFill>
              </a:defRPr>
            </a:lvl7pPr>
            <a:lvl8pPr algn="ctr">
              <a:buNone/>
              <a:defRPr sz="1575" b="1">
                <a:solidFill>
                  <a:srgbClr val="24343C"/>
                </a:solidFill>
              </a:defRPr>
            </a:lvl8pPr>
            <a:lvl9pPr algn="ctr">
              <a:buNone/>
              <a:defRPr sz="1575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575" b="1">
                <a:solidFill>
                  <a:srgbClr val="24343C"/>
                </a:solidFill>
              </a:defRPr>
            </a:pPr>
            <a:r>
              <a:rPr sz="1575" b="1">
                <a:solidFill>
                  <a:srgbClr val="24343C"/>
                </a:solidFill>
              </a:rPr>
              <a:t>Yöntemler, kaybın tanımı ve arama algoritması bakımından ayrılır.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3C54A1-203E-4D37-BF9E-DD6C82C0C5A5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25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097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91975A1-004B-4160-82CF-1C4066017CCB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C60D3A-9F3A-4B80-AFC1-B07CC84E5001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Wachter yöntemi</a:t>
            </a:r>
          </a:p>
        </p:txBody>
      </p:sp>
      <p:cxnSp>
        <p:nvCxnSpPr>
          <p:cNvPr id="21" name="Elbow Connector 20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7263716-F2C2-40EB-A8A0-006AF62D5195}"/>
              </a:ext>
            </a:extLst>
          </p:cNvPr>
          <p:cNvSpPr>
            <a:spLocks noGrp="1"/>
          </p:cNvSpPr>
          <p:nvPr/>
        </p:nvSpPr>
        <p:spPr>
          <a:xfrm>
            <a:off x="1095375" y="1619250"/>
            <a:ext cx="10001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>
            <a:lvl1pPr algn="ctr">
              <a:buNone/>
              <a:defRPr sz="2550">
                <a:solidFill>
                  <a:srgbClr val="24343C"/>
                </a:solidFill>
              </a:defRPr>
            </a:lvl1pPr>
            <a:lvl2pPr algn="ctr">
              <a:buNone/>
              <a:defRPr sz="2550">
                <a:solidFill>
                  <a:srgbClr val="24343C"/>
                </a:solidFill>
              </a:defRPr>
            </a:lvl2pPr>
            <a:lvl3pPr algn="ctr">
              <a:buNone/>
              <a:defRPr sz="2550">
                <a:solidFill>
                  <a:srgbClr val="24343C"/>
                </a:solidFill>
              </a:defRPr>
            </a:lvl3pPr>
            <a:lvl4pPr algn="ctr">
              <a:buNone/>
              <a:defRPr sz="2550">
                <a:solidFill>
                  <a:srgbClr val="24343C"/>
                </a:solidFill>
              </a:defRPr>
            </a:lvl4pPr>
            <a:lvl5pPr algn="ctr">
              <a:buNone/>
              <a:defRPr sz="2550">
                <a:solidFill>
                  <a:srgbClr val="24343C"/>
                </a:solidFill>
              </a:defRPr>
            </a:lvl5pPr>
            <a:lvl6pPr algn="ctr">
              <a:buNone/>
              <a:defRPr sz="2550">
                <a:solidFill>
                  <a:srgbClr val="24343C"/>
                </a:solidFill>
              </a:defRPr>
            </a:lvl6pPr>
            <a:lvl7pPr algn="ctr">
              <a:buNone/>
              <a:defRPr sz="2550">
                <a:solidFill>
                  <a:srgbClr val="24343C"/>
                </a:solidFill>
              </a:defRPr>
            </a:lvl7pPr>
            <a:lvl8pPr algn="ctr">
              <a:buNone/>
              <a:defRPr sz="2550">
                <a:solidFill>
                  <a:srgbClr val="24343C"/>
                </a:solidFill>
              </a:defRPr>
            </a:lvl8pPr>
            <a:lvl9pPr algn="ctr">
              <a:buNone/>
              <a:defRPr sz="2550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2550">
                <a:solidFill>
                  <a:srgbClr val="24343C"/>
                </a:solidFill>
              </a:defRPr>
            </a:pPr>
            <a:r>
              <a:rPr sz="2550" b="1">
                <a:solidFill>
                  <a:srgbClr val="24343C"/>
                </a:solidFill>
              </a:rPr>
              <a:t>L(x, x′, y′, λ) = λ(f̂(x′) − y′)² + d(x, x′)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904A941-ADA8-4FDC-BED6-D6EAA8D252C8}"/>
              </a:ext>
            </a:extLst>
          </p:cNvPr>
          <p:cNvSpPr>
            <a:spLocks noGrp="1"/>
          </p:cNvSpPr>
          <p:nvPr/>
        </p:nvSpPr>
        <p:spPr>
          <a:xfrm>
            <a:off x="904875" y="2905125"/>
            <a:ext cx="4762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C65BF-32D8-4A88-9653-A3BC0B5B057D}"/>
              </a:ext>
            </a:extLst>
          </p:cNvPr>
          <p:cNvSpPr>
            <a:spLocks noGrp="1"/>
          </p:cNvSpPr>
          <p:nvPr/>
        </p:nvSpPr>
        <p:spPr>
          <a:xfrm>
            <a:off x="904875" y="2905125"/>
            <a:ext cx="85725" cy="1809750"/>
          </a:xfrm>
          <a:prstGeom prst="rect">
            <a:avLst/>
          </a:prstGeom>
          <a:solidFill>
            <a:srgbClr val="E65E3F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F7DDA-F1BC-49BF-BD90-063D7027BAD0}"/>
              </a:ext>
            </a:extLst>
          </p:cNvPr>
          <p:cNvSpPr>
            <a:spLocks noGrp="1"/>
          </p:cNvSpPr>
          <p:nvPr/>
        </p:nvSpPr>
        <p:spPr>
          <a:xfrm>
            <a:off x="1133475" y="3057525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Tahmin kaybı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A8D804-8AEC-4C8B-888E-C14F7DD38544}"/>
              </a:ext>
            </a:extLst>
          </p:cNvPr>
          <p:cNvSpPr>
            <a:spLocks noGrp="1"/>
          </p:cNvSpPr>
          <p:nvPr/>
        </p:nvSpPr>
        <p:spPr>
          <a:xfrm>
            <a:off x="1133475" y="3400425"/>
            <a:ext cx="4381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575" b="0">
                <a:solidFill>
                  <a:srgbClr val="6F7B7F"/>
                </a:solidFill>
              </a:defRPr>
            </a:lvl1pPr>
            <a:lvl2pPr algn="l">
              <a:buNone/>
              <a:defRPr sz="1575" b="0">
                <a:solidFill>
                  <a:srgbClr val="6F7B7F"/>
                </a:solidFill>
              </a:defRPr>
            </a:lvl2pPr>
            <a:lvl3pPr algn="l">
              <a:buNone/>
              <a:defRPr sz="1575" b="0">
                <a:solidFill>
                  <a:srgbClr val="6F7B7F"/>
                </a:solidFill>
              </a:defRPr>
            </a:lvl3pPr>
            <a:lvl4pPr algn="l">
              <a:buNone/>
              <a:defRPr sz="1575" b="0">
                <a:solidFill>
                  <a:srgbClr val="6F7B7F"/>
                </a:solidFill>
              </a:defRPr>
            </a:lvl4pPr>
            <a:lvl5pPr algn="l">
              <a:buNone/>
              <a:defRPr sz="1575" b="0">
                <a:solidFill>
                  <a:srgbClr val="6F7B7F"/>
                </a:solidFill>
              </a:defRPr>
            </a:lvl5pPr>
            <a:lvl6pPr algn="l">
              <a:buNone/>
              <a:defRPr sz="1575" b="0">
                <a:solidFill>
                  <a:srgbClr val="6F7B7F"/>
                </a:solidFill>
              </a:defRPr>
            </a:lvl6pPr>
            <a:lvl7pPr algn="l">
              <a:buNone/>
              <a:defRPr sz="1575" b="0">
                <a:solidFill>
                  <a:srgbClr val="6F7B7F"/>
                </a:solidFill>
              </a:defRPr>
            </a:lvl7pPr>
            <a:lvl8pPr algn="l">
              <a:buNone/>
              <a:defRPr sz="1575" b="0">
                <a:solidFill>
                  <a:srgbClr val="6F7B7F"/>
                </a:solidFill>
              </a:defRPr>
            </a:lvl8pPr>
            <a:lvl9pPr algn="l">
              <a:buNone/>
              <a:defRPr sz="1575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575" b="0">
                <a:solidFill>
                  <a:srgbClr val="6F7B7F"/>
                </a:solidFill>
              </a:defRPr>
            </a:pPr>
            <a:r>
              <a:rPr sz="1575" b="0">
                <a:solidFill>
                  <a:srgbClr val="6F7B7F"/>
                </a:solidFill>
              </a:rPr>
              <a:t>f̂(x′) ile hedef y′ arasındaki karesel uzaklık. λ büyüdükçe hedef tahmine ulaşmak daha baskın hâle gelir.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99D52C-6B69-4A87-8DB0-AC376A06B3DD}"/>
              </a:ext>
            </a:extLst>
          </p:cNvPr>
          <p:cNvSpPr>
            <a:spLocks noGrp="1"/>
          </p:cNvSpPr>
          <p:nvPr/>
        </p:nvSpPr>
        <p:spPr>
          <a:xfrm>
            <a:off x="6524625" y="2905125"/>
            <a:ext cx="4762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D3694D-1E13-4CEB-A813-2127C2D15B5F}"/>
              </a:ext>
            </a:extLst>
          </p:cNvPr>
          <p:cNvSpPr>
            <a:spLocks noGrp="1"/>
          </p:cNvSpPr>
          <p:nvPr/>
        </p:nvSpPr>
        <p:spPr>
          <a:xfrm>
            <a:off x="6524625" y="2905125"/>
            <a:ext cx="85725" cy="1809750"/>
          </a:xfrm>
          <a:prstGeom prst="rect">
            <a:avLst/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74B5F-C073-4DBF-AD09-751077FBD9A8}"/>
              </a:ext>
            </a:extLst>
          </p:cNvPr>
          <p:cNvSpPr>
            <a:spLocks noGrp="1"/>
          </p:cNvSpPr>
          <p:nvPr/>
        </p:nvSpPr>
        <p:spPr>
          <a:xfrm>
            <a:off x="6753225" y="3057525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Özellik uzaklığı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7AB45-2609-4C92-BEE1-3EFEF40FE839}"/>
              </a:ext>
            </a:extLst>
          </p:cNvPr>
          <p:cNvSpPr>
            <a:spLocks noGrp="1"/>
          </p:cNvSpPr>
          <p:nvPr/>
        </p:nvSpPr>
        <p:spPr>
          <a:xfrm>
            <a:off x="6753225" y="3400425"/>
            <a:ext cx="4381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575" b="0">
                <a:solidFill>
                  <a:srgbClr val="6F7B7F"/>
                </a:solidFill>
              </a:defRPr>
            </a:lvl1pPr>
            <a:lvl2pPr algn="l">
              <a:buNone/>
              <a:defRPr sz="1575" b="0">
                <a:solidFill>
                  <a:srgbClr val="6F7B7F"/>
                </a:solidFill>
              </a:defRPr>
            </a:lvl2pPr>
            <a:lvl3pPr algn="l">
              <a:buNone/>
              <a:defRPr sz="1575" b="0">
                <a:solidFill>
                  <a:srgbClr val="6F7B7F"/>
                </a:solidFill>
              </a:defRPr>
            </a:lvl3pPr>
            <a:lvl4pPr algn="l">
              <a:buNone/>
              <a:defRPr sz="1575" b="0">
                <a:solidFill>
                  <a:srgbClr val="6F7B7F"/>
                </a:solidFill>
              </a:defRPr>
            </a:lvl4pPr>
            <a:lvl5pPr algn="l">
              <a:buNone/>
              <a:defRPr sz="1575" b="0">
                <a:solidFill>
                  <a:srgbClr val="6F7B7F"/>
                </a:solidFill>
              </a:defRPr>
            </a:lvl5pPr>
            <a:lvl6pPr algn="l">
              <a:buNone/>
              <a:defRPr sz="1575" b="0">
                <a:solidFill>
                  <a:srgbClr val="6F7B7F"/>
                </a:solidFill>
              </a:defRPr>
            </a:lvl6pPr>
            <a:lvl7pPr algn="l">
              <a:buNone/>
              <a:defRPr sz="1575" b="0">
                <a:solidFill>
                  <a:srgbClr val="6F7B7F"/>
                </a:solidFill>
              </a:defRPr>
            </a:lvl7pPr>
            <a:lvl8pPr algn="l">
              <a:buNone/>
              <a:defRPr sz="1575" b="0">
                <a:solidFill>
                  <a:srgbClr val="6F7B7F"/>
                </a:solidFill>
              </a:defRPr>
            </a:lvl8pPr>
            <a:lvl9pPr algn="l">
              <a:buNone/>
              <a:defRPr sz="1575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575" b="0">
                <a:solidFill>
                  <a:srgbClr val="6F7B7F"/>
                </a:solidFill>
              </a:defRPr>
            </a:pPr>
            <a:r>
              <a:rPr sz="1575" b="0">
                <a:solidFill>
                  <a:srgbClr val="6F7B7F"/>
                </a:solidFill>
              </a:rPr>
              <a:t>x ile x′ arasındaki MAD ile ölçeklenmiş Manhattan uzaklığı. Başlangıç örneğine yakın kalmayı teşvik eder.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C4037A-507E-4C30-A8D9-4A892B18AAF5}"/>
              </a:ext>
            </a:extLst>
          </p:cNvPr>
          <p:cNvSpPr>
            <a:spLocks noGrp="1"/>
          </p:cNvSpPr>
          <p:nvPr/>
        </p:nvSpPr>
        <p:spPr>
          <a:xfrm>
            <a:off x="1524000" y="5238750"/>
            <a:ext cx="9144000" cy="457200"/>
          </a:xfrm>
          <a:prstGeom prst="rect">
            <a:avLst/>
          </a:prstGeom>
          <a:solidFill>
            <a:srgbClr val="F5E6BD"/>
          </a:solidFill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500" b="1">
                <a:solidFill>
                  <a:srgbClr val="24343C"/>
                </a:solidFill>
              </a:defRPr>
            </a:lvl1pPr>
            <a:lvl2pPr algn="ctr">
              <a:buNone/>
              <a:defRPr sz="1500" b="1">
                <a:solidFill>
                  <a:srgbClr val="24343C"/>
                </a:solidFill>
              </a:defRPr>
            </a:lvl2pPr>
            <a:lvl3pPr algn="ctr">
              <a:buNone/>
              <a:defRPr sz="1500" b="1">
                <a:solidFill>
                  <a:srgbClr val="24343C"/>
                </a:solidFill>
              </a:defRPr>
            </a:lvl3pPr>
            <a:lvl4pPr algn="ctr">
              <a:buNone/>
              <a:defRPr sz="1500" b="1">
                <a:solidFill>
                  <a:srgbClr val="24343C"/>
                </a:solidFill>
              </a:defRPr>
            </a:lvl4pPr>
            <a:lvl5pPr algn="ctr">
              <a:buNone/>
              <a:defRPr sz="1500" b="1">
                <a:solidFill>
                  <a:srgbClr val="24343C"/>
                </a:solidFill>
              </a:defRPr>
            </a:lvl5pPr>
            <a:lvl6pPr algn="ctr">
              <a:buNone/>
              <a:defRPr sz="1500" b="1">
                <a:solidFill>
                  <a:srgbClr val="24343C"/>
                </a:solidFill>
              </a:defRPr>
            </a:lvl6pPr>
            <a:lvl7pPr algn="ctr">
              <a:buNone/>
              <a:defRPr sz="1500" b="1">
                <a:solidFill>
                  <a:srgbClr val="24343C"/>
                </a:solidFill>
              </a:defRPr>
            </a:lvl7pPr>
            <a:lvl8pPr algn="ctr">
              <a:buNone/>
              <a:defRPr sz="1500" b="1">
                <a:solidFill>
                  <a:srgbClr val="24343C"/>
                </a:solidFill>
              </a:defRPr>
            </a:lvl8pPr>
            <a:lvl9pPr algn="ctr">
              <a:buNone/>
              <a:defRPr sz="150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500" b="1">
                <a:solidFill>
                  <a:srgbClr val="24343C"/>
                </a:solidFill>
              </a:defRPr>
            </a:pPr>
            <a:r>
              <a:rPr sz="1500" b="1">
                <a:solidFill>
                  <a:srgbClr val="24343C"/>
                </a:solidFill>
              </a:rPr>
              <a:t>Wachter yöntemi hedefe yakınlık ve örneğe benzerliği doğrudan optimize eder.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36F789-3648-41E3-A16F-74F690827E75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26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334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5BE0FF4-BA8E-4311-A6F2-5E97FB9DAA76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AF1194-2C2B-4E25-B33A-B6D773C0F5EB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MAD, λ ve ε</a:t>
            </a:r>
          </a:p>
        </p:txBody>
      </p:sp>
      <p:cxnSp>
        <p:nvCxnSpPr>
          <p:cNvPr id="23" name="Elbow Connector 22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F34F197-55B5-4848-BA65-3889AF88C970}"/>
              </a:ext>
            </a:extLst>
          </p:cNvPr>
          <p:cNvSpPr>
            <a:spLocks noGrp="1"/>
          </p:cNvSpPr>
          <p:nvPr/>
        </p:nvSpPr>
        <p:spPr>
          <a:xfrm>
            <a:off x="495300" y="1381125"/>
            <a:ext cx="5334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A8A282-F42D-4C00-A880-EC604586E5F6}"/>
              </a:ext>
            </a:extLst>
          </p:cNvPr>
          <p:cNvSpPr>
            <a:spLocks noGrp="1"/>
          </p:cNvSpPr>
          <p:nvPr/>
        </p:nvSpPr>
        <p:spPr>
          <a:xfrm>
            <a:off x="495300" y="1381125"/>
            <a:ext cx="85725" cy="1809750"/>
          </a:xfrm>
          <a:prstGeom prst="rect">
            <a:avLst/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AFAF0-CCBB-49C2-89FA-FD3336F01C15}"/>
              </a:ext>
            </a:extLst>
          </p:cNvPr>
          <p:cNvSpPr>
            <a:spLocks noGrp="1"/>
          </p:cNvSpPr>
          <p:nvPr/>
        </p:nvSpPr>
        <p:spPr>
          <a:xfrm>
            <a:off x="723900" y="153352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MAD ile ölçeklenmiş uzaklık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470E5B-76C7-4191-A611-828B1262EA58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4953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500" b="0">
                <a:solidFill>
                  <a:srgbClr val="6F7B7F"/>
                </a:solidFill>
              </a:defRPr>
            </a:lvl1pPr>
            <a:lvl2pPr algn="l">
              <a:buNone/>
              <a:defRPr sz="1500" b="0">
                <a:solidFill>
                  <a:srgbClr val="6F7B7F"/>
                </a:solidFill>
              </a:defRPr>
            </a:lvl2pPr>
            <a:lvl3pPr algn="l">
              <a:buNone/>
              <a:defRPr sz="1500" b="0">
                <a:solidFill>
                  <a:srgbClr val="6F7B7F"/>
                </a:solidFill>
              </a:defRPr>
            </a:lvl3pPr>
            <a:lvl4pPr algn="l">
              <a:buNone/>
              <a:defRPr sz="1500" b="0">
                <a:solidFill>
                  <a:srgbClr val="6F7B7F"/>
                </a:solidFill>
              </a:defRPr>
            </a:lvl4pPr>
            <a:lvl5pPr algn="l">
              <a:buNone/>
              <a:defRPr sz="1500" b="0">
                <a:solidFill>
                  <a:srgbClr val="6F7B7F"/>
                </a:solidFill>
              </a:defRPr>
            </a:lvl5pPr>
            <a:lvl6pPr algn="l">
              <a:buNone/>
              <a:defRPr sz="1500" b="0">
                <a:solidFill>
                  <a:srgbClr val="6F7B7F"/>
                </a:solidFill>
              </a:defRPr>
            </a:lvl6pPr>
            <a:lvl7pPr algn="l">
              <a:buNone/>
              <a:defRPr sz="1500" b="0">
                <a:solidFill>
                  <a:srgbClr val="6F7B7F"/>
                </a:solidFill>
              </a:defRPr>
            </a:lvl7pPr>
            <a:lvl8pPr algn="l">
              <a:buNone/>
              <a:defRPr sz="1500" b="0">
                <a:solidFill>
                  <a:srgbClr val="6F7B7F"/>
                </a:solidFill>
              </a:defRPr>
            </a:lvl8pPr>
            <a:lvl9pPr algn="l">
              <a:buNone/>
              <a:defRPr sz="150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d(x,x′) = Σⱼ |xⱼ − x′ⱼ| / MADⱼ</a:t>
            </a:r>
          </a:p>
          <a:p>
            <a:endParaRPr sz="1500" b="0">
              <a:solidFill>
                <a:srgbClr val="6F7B7F"/>
              </a:solidFill>
            </a:endParaRPr>
          </a:p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Özellikleri ortak ölçeğe getirir ve aykırı değerlere karşı Öklid uzaklığından daha dayanıklıdır.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4080E6D-FA30-498D-838C-3DFFA9F09E91}"/>
              </a:ext>
            </a:extLst>
          </p:cNvPr>
          <p:cNvSpPr>
            <a:spLocks noGrp="1"/>
          </p:cNvSpPr>
          <p:nvPr/>
        </p:nvSpPr>
        <p:spPr>
          <a:xfrm>
            <a:off x="6362700" y="1381125"/>
            <a:ext cx="5334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1D8CB1-23DE-4D72-86A5-85B8BC364B0F}"/>
              </a:ext>
            </a:extLst>
          </p:cNvPr>
          <p:cNvSpPr>
            <a:spLocks noGrp="1"/>
          </p:cNvSpPr>
          <p:nvPr/>
        </p:nvSpPr>
        <p:spPr>
          <a:xfrm>
            <a:off x="6362700" y="1381125"/>
            <a:ext cx="85725" cy="1809750"/>
          </a:xfrm>
          <a:prstGeom prst="rect">
            <a:avLst/>
          </a:prstGeom>
          <a:solidFill>
            <a:srgbClr val="E65E3F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6F77B2-FD69-423D-9AAD-CBE0C6DDD03B}"/>
              </a:ext>
            </a:extLst>
          </p:cNvPr>
          <p:cNvSpPr>
            <a:spLocks noGrp="1"/>
          </p:cNvSpPr>
          <p:nvPr/>
        </p:nvSpPr>
        <p:spPr>
          <a:xfrm>
            <a:off x="6591300" y="153352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λ: denge parametresi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91AE7D-795F-4F17-BEBA-E33EF1D59B77}"/>
              </a:ext>
            </a:extLst>
          </p:cNvPr>
          <p:cNvSpPr>
            <a:spLocks noGrp="1"/>
          </p:cNvSpPr>
          <p:nvPr/>
        </p:nvSpPr>
        <p:spPr>
          <a:xfrm>
            <a:off x="6591300" y="1876425"/>
            <a:ext cx="4953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500" b="0">
                <a:solidFill>
                  <a:srgbClr val="6F7B7F"/>
                </a:solidFill>
              </a:defRPr>
            </a:lvl1pPr>
            <a:lvl2pPr algn="l">
              <a:buNone/>
              <a:defRPr sz="1500" b="0">
                <a:solidFill>
                  <a:srgbClr val="6F7B7F"/>
                </a:solidFill>
              </a:defRPr>
            </a:lvl2pPr>
            <a:lvl3pPr algn="l">
              <a:buNone/>
              <a:defRPr sz="1500" b="0">
                <a:solidFill>
                  <a:srgbClr val="6F7B7F"/>
                </a:solidFill>
              </a:defRPr>
            </a:lvl3pPr>
            <a:lvl4pPr algn="l">
              <a:buNone/>
              <a:defRPr sz="1500" b="0">
                <a:solidFill>
                  <a:srgbClr val="6F7B7F"/>
                </a:solidFill>
              </a:defRPr>
            </a:lvl4pPr>
            <a:lvl5pPr algn="l">
              <a:buNone/>
              <a:defRPr sz="1500" b="0">
                <a:solidFill>
                  <a:srgbClr val="6F7B7F"/>
                </a:solidFill>
              </a:defRPr>
            </a:lvl5pPr>
            <a:lvl6pPr algn="l">
              <a:buNone/>
              <a:defRPr sz="1500" b="0">
                <a:solidFill>
                  <a:srgbClr val="6F7B7F"/>
                </a:solidFill>
              </a:defRPr>
            </a:lvl6pPr>
            <a:lvl7pPr algn="l">
              <a:buNone/>
              <a:defRPr sz="1500" b="0">
                <a:solidFill>
                  <a:srgbClr val="6F7B7F"/>
                </a:solidFill>
              </a:defRPr>
            </a:lvl7pPr>
            <a:lvl8pPr algn="l">
              <a:buNone/>
              <a:defRPr sz="1500" b="0">
                <a:solidFill>
                  <a:srgbClr val="6F7B7F"/>
                </a:solidFill>
              </a:defRPr>
            </a:lvl8pPr>
            <a:lvl9pPr algn="l">
              <a:buNone/>
              <a:defRPr sz="150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Büyük λ, hedef çıktıya yakınlığı öne çıkarır. Küçük λ, x′ değerinin başlangıç örneğine yakın kalmasını öne çıkarır.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0F96E7D-A282-4AC2-8DD8-442BF03547D5}"/>
              </a:ext>
            </a:extLst>
          </p:cNvPr>
          <p:cNvSpPr>
            <a:spLocks noGrp="1"/>
          </p:cNvSpPr>
          <p:nvPr/>
        </p:nvSpPr>
        <p:spPr>
          <a:xfrm>
            <a:off x="1714500" y="3810000"/>
            <a:ext cx="8763000" cy="1333500"/>
          </a:xfrm>
          <a:prstGeom prst="roundRect">
            <a:avLst>
              <a:gd name="adj" fmla="val 5714"/>
            </a:avLst>
          </a:prstGeom>
          <a:solidFill>
            <a:srgbClr val="F8DDD5"/>
          </a:solidFill>
          <a:ln w="9525">
            <a:solidFill>
              <a:srgbClr val="E65E3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8A2DCC-381B-43A3-AADD-7364BD255566}"/>
              </a:ext>
            </a:extLst>
          </p:cNvPr>
          <p:cNvSpPr>
            <a:spLocks noGrp="1"/>
          </p:cNvSpPr>
          <p:nvPr/>
        </p:nvSpPr>
        <p:spPr>
          <a:xfrm>
            <a:off x="2190750" y="4048125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ctr">
              <a:buNone/>
              <a:defRPr sz="2325" b="1">
                <a:solidFill>
                  <a:srgbClr val="E65E3F"/>
                </a:solidFill>
              </a:defRPr>
            </a:lvl1pPr>
            <a:lvl2pPr algn="ctr">
              <a:buNone/>
              <a:defRPr sz="2325" b="1">
                <a:solidFill>
                  <a:srgbClr val="E65E3F"/>
                </a:solidFill>
              </a:defRPr>
            </a:lvl2pPr>
            <a:lvl3pPr algn="ctr">
              <a:buNone/>
              <a:defRPr sz="2325" b="1">
                <a:solidFill>
                  <a:srgbClr val="E65E3F"/>
                </a:solidFill>
              </a:defRPr>
            </a:lvl3pPr>
            <a:lvl4pPr algn="ctr">
              <a:buNone/>
              <a:defRPr sz="2325" b="1">
                <a:solidFill>
                  <a:srgbClr val="E65E3F"/>
                </a:solidFill>
              </a:defRPr>
            </a:lvl4pPr>
            <a:lvl5pPr algn="ctr">
              <a:buNone/>
              <a:defRPr sz="2325" b="1">
                <a:solidFill>
                  <a:srgbClr val="E65E3F"/>
                </a:solidFill>
              </a:defRPr>
            </a:lvl5pPr>
            <a:lvl6pPr algn="ctr">
              <a:buNone/>
              <a:defRPr sz="2325" b="1">
                <a:solidFill>
                  <a:srgbClr val="E65E3F"/>
                </a:solidFill>
              </a:defRPr>
            </a:lvl6pPr>
            <a:lvl7pPr algn="ctr">
              <a:buNone/>
              <a:defRPr sz="2325" b="1">
                <a:solidFill>
                  <a:srgbClr val="E65E3F"/>
                </a:solidFill>
              </a:defRPr>
            </a:lvl7pPr>
            <a:lvl8pPr algn="ctr">
              <a:buNone/>
              <a:defRPr sz="2325" b="1">
                <a:solidFill>
                  <a:srgbClr val="E65E3F"/>
                </a:solidFill>
              </a:defRPr>
            </a:lvl8pPr>
            <a:lvl9pPr algn="ctr">
              <a:buNone/>
              <a:defRPr sz="2325" b="1">
                <a:solidFill>
                  <a:srgbClr val="E65E3F"/>
                </a:solidFill>
              </a:defRPr>
            </a:lvl9pPr>
          </a:lstStyle>
          <a:p>
            <a:pPr algn="ctr">
              <a:buNone/>
              <a:defRPr sz="2325" b="1">
                <a:solidFill>
                  <a:srgbClr val="E65E3F"/>
                </a:solidFill>
              </a:defRPr>
            </a:pPr>
            <a:r>
              <a:rPr sz="2325" b="1">
                <a:solidFill>
                  <a:srgbClr val="E65E3F"/>
                </a:solidFill>
              </a:rPr>
              <a:t>|f̂(x′) − y′| ≤ 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A30097-B9AD-4837-BD6C-AD4B31654D58}"/>
              </a:ext>
            </a:extLst>
          </p:cNvPr>
          <p:cNvSpPr>
            <a:spLocks noGrp="1"/>
          </p:cNvSpPr>
          <p:nvPr/>
        </p:nvSpPr>
        <p:spPr>
          <a:xfrm>
            <a:off x="2190750" y="4591050"/>
            <a:ext cx="781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ctr">
              <a:buNone/>
              <a:defRPr sz="1425" b="0">
                <a:solidFill>
                  <a:srgbClr val="24343C"/>
                </a:solidFill>
              </a:defRPr>
            </a:lvl1pPr>
            <a:lvl2pPr algn="ctr">
              <a:buNone/>
              <a:defRPr sz="1425" b="0">
                <a:solidFill>
                  <a:srgbClr val="24343C"/>
                </a:solidFill>
              </a:defRPr>
            </a:lvl2pPr>
            <a:lvl3pPr algn="ctr">
              <a:buNone/>
              <a:defRPr sz="1425" b="0">
                <a:solidFill>
                  <a:srgbClr val="24343C"/>
                </a:solidFill>
              </a:defRPr>
            </a:lvl3pPr>
            <a:lvl4pPr algn="ctr">
              <a:buNone/>
              <a:defRPr sz="1425" b="0">
                <a:solidFill>
                  <a:srgbClr val="24343C"/>
                </a:solidFill>
              </a:defRPr>
            </a:lvl4pPr>
            <a:lvl5pPr algn="ctr">
              <a:buNone/>
              <a:defRPr sz="1425" b="0">
                <a:solidFill>
                  <a:srgbClr val="24343C"/>
                </a:solidFill>
              </a:defRPr>
            </a:lvl5pPr>
            <a:lvl6pPr algn="ctr">
              <a:buNone/>
              <a:defRPr sz="1425" b="0">
                <a:solidFill>
                  <a:srgbClr val="24343C"/>
                </a:solidFill>
              </a:defRPr>
            </a:lvl6pPr>
            <a:lvl7pPr algn="ctr">
              <a:buNone/>
              <a:defRPr sz="1425" b="0">
                <a:solidFill>
                  <a:srgbClr val="24343C"/>
                </a:solidFill>
              </a:defRPr>
            </a:lvl7pPr>
            <a:lvl8pPr algn="ctr">
              <a:buNone/>
              <a:defRPr sz="1425" b="0">
                <a:solidFill>
                  <a:srgbClr val="24343C"/>
                </a:solidFill>
              </a:defRPr>
            </a:lvl8pPr>
            <a:lvl9pPr algn="ctr">
              <a:buNone/>
              <a:defRPr sz="1425" b="0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425" b="0">
                <a:solidFill>
                  <a:srgbClr val="24343C"/>
                </a:solidFill>
              </a:defRPr>
            </a:pPr>
            <a:r>
              <a:rPr sz="1425" b="0">
                <a:solidFill>
                  <a:srgbClr val="24343C"/>
                </a:solidFill>
              </a:rPr>
              <a:t>ε, hedef tahminden izin verilen sapmayı belirler. λ, çözüm bu toleransa girene kadar artırılır.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D2885B-5F36-4E6C-B5AC-A9741DE5F63A}"/>
              </a:ext>
            </a:extLst>
          </p:cNvPr>
          <p:cNvSpPr>
            <a:spLocks noGrp="1"/>
          </p:cNvSpPr>
          <p:nvPr/>
        </p:nvSpPr>
        <p:spPr>
          <a:xfrm>
            <a:off x="2857500" y="5476875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ctr">
              <a:buNone/>
              <a:defRPr sz="1425" b="0">
                <a:solidFill>
                  <a:srgbClr val="6F7B7F"/>
                </a:solidFill>
              </a:defRPr>
            </a:lvl1pPr>
            <a:lvl2pPr algn="ctr">
              <a:buNone/>
              <a:defRPr sz="1425" b="0">
                <a:solidFill>
                  <a:srgbClr val="6F7B7F"/>
                </a:solidFill>
              </a:defRPr>
            </a:lvl2pPr>
            <a:lvl3pPr algn="ctr">
              <a:buNone/>
              <a:defRPr sz="1425" b="0">
                <a:solidFill>
                  <a:srgbClr val="6F7B7F"/>
                </a:solidFill>
              </a:defRPr>
            </a:lvl3pPr>
            <a:lvl4pPr algn="ctr">
              <a:buNone/>
              <a:defRPr sz="1425" b="0">
                <a:solidFill>
                  <a:srgbClr val="6F7B7F"/>
                </a:solidFill>
              </a:defRPr>
            </a:lvl4pPr>
            <a:lvl5pPr algn="ctr">
              <a:buNone/>
              <a:defRPr sz="1425" b="0">
                <a:solidFill>
                  <a:srgbClr val="6F7B7F"/>
                </a:solidFill>
              </a:defRPr>
            </a:lvl5pPr>
            <a:lvl6pPr algn="ctr">
              <a:buNone/>
              <a:defRPr sz="1425" b="0">
                <a:solidFill>
                  <a:srgbClr val="6F7B7F"/>
                </a:solidFill>
              </a:defRPr>
            </a:lvl6pPr>
            <a:lvl7pPr algn="ctr">
              <a:buNone/>
              <a:defRPr sz="1425" b="0">
                <a:solidFill>
                  <a:srgbClr val="6F7B7F"/>
                </a:solidFill>
              </a:defRPr>
            </a:lvl7pPr>
            <a:lvl8pPr algn="ctr">
              <a:buNone/>
              <a:defRPr sz="1425" b="0">
                <a:solidFill>
                  <a:srgbClr val="6F7B7F"/>
                </a:solidFill>
              </a:defRPr>
            </a:lvl8pPr>
            <a:lvl9pPr algn="ctr">
              <a:buNone/>
              <a:defRPr sz="1425" b="0">
                <a:solidFill>
                  <a:srgbClr val="6F7B7F"/>
                </a:solidFill>
              </a:defRPr>
            </a:lvl9pPr>
          </a:lstStyle>
          <a:p>
            <a:pPr algn="ctr">
              <a:buNone/>
              <a:defRPr sz="1425" b="0">
                <a:solidFill>
                  <a:srgbClr val="6F7B7F"/>
                </a:solidFill>
              </a:defRPr>
            </a:pPr>
            <a:r>
              <a:rPr sz="1425" b="0">
                <a:solidFill>
                  <a:srgbClr val="6F7B7F"/>
                </a:solidFill>
              </a:rPr>
              <a:t>MADⱼ = medianᵢ |xⱼ⁽ⁱ⁾ − medianₗ(xⱼ⁽ˡ⁾)|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3F604B-B577-49EC-AFBF-A26EBD1FD8B4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27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183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5B77EFC-E2E6-4C73-8B86-BFC4CA610688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2ED63F-0EA6-47AF-9E9A-55545CC77388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Wachter algoritmasının adımları</a:t>
            </a:r>
          </a:p>
        </p:txBody>
      </p:sp>
      <p:cxnSp>
        <p:nvCxnSpPr>
          <p:cNvPr id="47" name="Elbow Connector 46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E76FF2E-0C2E-434A-A8F0-451092A2496F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666750" cy="571500"/>
          </a:xfrm>
          <a:prstGeom prst="roundRect">
            <a:avLst>
              <a:gd name="adj" fmla="val 13333"/>
            </a:avLst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9ED75-7194-4BE0-A7E1-656C00F49F39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875" b="1">
                <a:solidFill>
                  <a:srgbClr val="FFFFFF"/>
                </a:solidFill>
              </a:defRPr>
            </a:lvl1pPr>
            <a:lvl2pPr algn="ctr">
              <a:buNone/>
              <a:defRPr sz="1875" b="1">
                <a:solidFill>
                  <a:srgbClr val="FFFFFF"/>
                </a:solidFill>
              </a:defRPr>
            </a:lvl2pPr>
            <a:lvl3pPr algn="ctr">
              <a:buNone/>
              <a:defRPr sz="1875" b="1">
                <a:solidFill>
                  <a:srgbClr val="FFFFFF"/>
                </a:solidFill>
              </a:defRPr>
            </a:lvl3pPr>
            <a:lvl4pPr algn="ctr">
              <a:buNone/>
              <a:defRPr sz="1875" b="1">
                <a:solidFill>
                  <a:srgbClr val="FFFFFF"/>
                </a:solidFill>
              </a:defRPr>
            </a:lvl4pPr>
            <a:lvl5pPr algn="ctr">
              <a:buNone/>
              <a:defRPr sz="1875" b="1">
                <a:solidFill>
                  <a:srgbClr val="FFFFFF"/>
                </a:solidFill>
              </a:defRPr>
            </a:lvl5pPr>
            <a:lvl6pPr algn="ctr">
              <a:buNone/>
              <a:defRPr sz="1875" b="1">
                <a:solidFill>
                  <a:srgbClr val="FFFFFF"/>
                </a:solidFill>
              </a:defRPr>
            </a:lvl6pPr>
            <a:lvl7pPr algn="ctr">
              <a:buNone/>
              <a:defRPr sz="1875" b="1">
                <a:solidFill>
                  <a:srgbClr val="FFFFFF"/>
                </a:solidFill>
              </a:defRPr>
            </a:lvl7pPr>
            <a:lvl8pPr algn="ctr">
              <a:buNone/>
              <a:defRPr sz="1875" b="1">
                <a:solidFill>
                  <a:srgbClr val="FFFFFF"/>
                </a:solidFill>
              </a:defRPr>
            </a:lvl8pPr>
            <a:lvl9pPr algn="ctr">
              <a:buNone/>
              <a:defRPr sz="1875" b="1">
                <a:solidFill>
                  <a:srgbClr val="FFFFFF"/>
                </a:solidFill>
              </a:defRPr>
            </a:lvl9pPr>
          </a:lstStyle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BC003-F23C-43A3-BB8B-BFE99BA24CC3}"/>
              </a:ext>
            </a:extLst>
          </p:cNvPr>
          <p:cNvSpPr>
            <a:spLocks noGrp="1"/>
          </p:cNvSpPr>
          <p:nvPr/>
        </p:nvSpPr>
        <p:spPr>
          <a:xfrm>
            <a:off x="1714500" y="1381125"/>
            <a:ext cx="9334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l">
              <a:buNone/>
              <a:defRPr sz="1500" b="0">
                <a:solidFill>
                  <a:srgbClr val="24343C"/>
                </a:solidFill>
              </a:defRPr>
            </a:lvl1pPr>
            <a:lvl2pPr algn="l">
              <a:buNone/>
              <a:defRPr sz="1500" b="0">
                <a:solidFill>
                  <a:srgbClr val="24343C"/>
                </a:solidFill>
              </a:defRPr>
            </a:lvl2pPr>
            <a:lvl3pPr algn="l">
              <a:buNone/>
              <a:defRPr sz="1500" b="0">
                <a:solidFill>
                  <a:srgbClr val="24343C"/>
                </a:solidFill>
              </a:defRPr>
            </a:lvl3pPr>
            <a:lvl4pPr algn="l">
              <a:buNone/>
              <a:defRPr sz="1500" b="0">
                <a:solidFill>
                  <a:srgbClr val="24343C"/>
                </a:solidFill>
              </a:defRPr>
            </a:lvl4pPr>
            <a:lvl5pPr algn="l">
              <a:buNone/>
              <a:defRPr sz="1500" b="0">
                <a:solidFill>
                  <a:srgbClr val="24343C"/>
                </a:solidFill>
              </a:defRPr>
            </a:lvl5pPr>
            <a:lvl6pPr algn="l">
              <a:buNone/>
              <a:defRPr sz="1500" b="0">
                <a:solidFill>
                  <a:srgbClr val="24343C"/>
                </a:solidFill>
              </a:defRPr>
            </a:lvl6pPr>
            <a:lvl7pPr algn="l">
              <a:buNone/>
              <a:defRPr sz="1500" b="0">
                <a:solidFill>
                  <a:srgbClr val="24343C"/>
                </a:solidFill>
              </a:defRPr>
            </a:lvl7pPr>
            <a:lvl8pPr algn="l">
              <a:buNone/>
              <a:defRPr sz="1500" b="0">
                <a:solidFill>
                  <a:srgbClr val="24343C"/>
                </a:solidFill>
              </a:defRPr>
            </a:lvl8pPr>
            <a:lvl9pPr algn="l">
              <a:buNone/>
              <a:defRPr sz="1500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500" b="0">
                <a:solidFill>
                  <a:srgbClr val="24343C"/>
                </a:solidFill>
              </a:defRPr>
            </a:pPr>
            <a:r>
              <a:rPr sz="1500" b="0">
                <a:solidFill>
                  <a:srgbClr val="24343C"/>
                </a:solidFill>
              </a:rPr>
              <a:t>x, hedef y′, tolerans ε ve düşük bir λ seç</a:t>
            </a:r>
          </a:p>
        </p:txBody>
      </p:sp>
      <p:cxnSp>
        <p:nvCxnSpPr>
          <p:cNvPr id="51" name="Elbow Connector 50"/>
          <p:cNvCxnSpPr/>
          <p:nvPr/>
        </p:nvCxnSpPr>
        <p:spPr>
          <a:xfrm>
            <a:off x="1095375" y="1971675"/>
            <a:ext cx="0" cy="26670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E5E2366-6BD1-4A1A-A5F3-9CD3312B9FF1}"/>
              </a:ext>
            </a:extLst>
          </p:cNvPr>
          <p:cNvSpPr>
            <a:spLocks noGrp="1"/>
          </p:cNvSpPr>
          <p:nvPr/>
        </p:nvSpPr>
        <p:spPr>
          <a:xfrm>
            <a:off x="762000" y="2257425"/>
            <a:ext cx="666750" cy="571500"/>
          </a:xfrm>
          <a:prstGeom prst="roundRect">
            <a:avLst>
              <a:gd name="adj" fmla="val 13333"/>
            </a:avLst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30C182-C296-4099-A11E-2BFDB96B3F54}"/>
              </a:ext>
            </a:extLst>
          </p:cNvPr>
          <p:cNvSpPr>
            <a:spLocks noGrp="1"/>
          </p:cNvSpPr>
          <p:nvPr/>
        </p:nvSpPr>
        <p:spPr>
          <a:xfrm>
            <a:off x="762000" y="2257425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875" b="1">
                <a:solidFill>
                  <a:srgbClr val="FFFFFF"/>
                </a:solidFill>
              </a:defRPr>
            </a:lvl1pPr>
            <a:lvl2pPr algn="ctr">
              <a:buNone/>
              <a:defRPr sz="1875" b="1">
                <a:solidFill>
                  <a:srgbClr val="FFFFFF"/>
                </a:solidFill>
              </a:defRPr>
            </a:lvl2pPr>
            <a:lvl3pPr algn="ctr">
              <a:buNone/>
              <a:defRPr sz="1875" b="1">
                <a:solidFill>
                  <a:srgbClr val="FFFFFF"/>
                </a:solidFill>
              </a:defRPr>
            </a:lvl3pPr>
            <a:lvl4pPr algn="ctr">
              <a:buNone/>
              <a:defRPr sz="1875" b="1">
                <a:solidFill>
                  <a:srgbClr val="FFFFFF"/>
                </a:solidFill>
              </a:defRPr>
            </a:lvl4pPr>
            <a:lvl5pPr algn="ctr">
              <a:buNone/>
              <a:defRPr sz="1875" b="1">
                <a:solidFill>
                  <a:srgbClr val="FFFFFF"/>
                </a:solidFill>
              </a:defRPr>
            </a:lvl5pPr>
            <a:lvl6pPr algn="ctr">
              <a:buNone/>
              <a:defRPr sz="1875" b="1">
                <a:solidFill>
                  <a:srgbClr val="FFFFFF"/>
                </a:solidFill>
              </a:defRPr>
            </a:lvl6pPr>
            <a:lvl7pPr algn="ctr">
              <a:buNone/>
              <a:defRPr sz="1875" b="1">
                <a:solidFill>
                  <a:srgbClr val="FFFFFF"/>
                </a:solidFill>
              </a:defRPr>
            </a:lvl7pPr>
            <a:lvl8pPr algn="ctr">
              <a:buNone/>
              <a:defRPr sz="1875" b="1">
                <a:solidFill>
                  <a:srgbClr val="FFFFFF"/>
                </a:solidFill>
              </a:defRPr>
            </a:lvl8pPr>
            <a:lvl9pPr algn="ctr">
              <a:buNone/>
              <a:defRPr sz="1875" b="1">
                <a:solidFill>
                  <a:srgbClr val="FFFFFF"/>
                </a:solidFill>
              </a:defRPr>
            </a:lvl9pPr>
          </a:lstStyle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35804C-1DAA-42BA-877A-59D9BD773E01}"/>
              </a:ext>
            </a:extLst>
          </p:cNvPr>
          <p:cNvSpPr>
            <a:spLocks noGrp="1"/>
          </p:cNvSpPr>
          <p:nvPr/>
        </p:nvSpPr>
        <p:spPr>
          <a:xfrm>
            <a:off x="1714500" y="2257425"/>
            <a:ext cx="9334500" cy="571500"/>
          </a:xfrm>
          <a:prstGeom prst="rect">
            <a:avLst/>
          </a:prstGeom>
          <a:solidFill>
            <a:srgbClr val="E7ECEB"/>
          </a:solidFill>
          <a:ln w="9525">
            <a:solidFill>
              <a:srgbClr val="C8D0D1"/>
            </a:solidFill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l">
              <a:buNone/>
              <a:defRPr sz="1500" b="0">
                <a:solidFill>
                  <a:srgbClr val="24343C"/>
                </a:solidFill>
              </a:defRPr>
            </a:lvl1pPr>
            <a:lvl2pPr algn="l">
              <a:buNone/>
              <a:defRPr sz="1500" b="0">
                <a:solidFill>
                  <a:srgbClr val="24343C"/>
                </a:solidFill>
              </a:defRPr>
            </a:lvl2pPr>
            <a:lvl3pPr algn="l">
              <a:buNone/>
              <a:defRPr sz="1500" b="0">
                <a:solidFill>
                  <a:srgbClr val="24343C"/>
                </a:solidFill>
              </a:defRPr>
            </a:lvl3pPr>
            <a:lvl4pPr algn="l">
              <a:buNone/>
              <a:defRPr sz="1500" b="0">
                <a:solidFill>
                  <a:srgbClr val="24343C"/>
                </a:solidFill>
              </a:defRPr>
            </a:lvl4pPr>
            <a:lvl5pPr algn="l">
              <a:buNone/>
              <a:defRPr sz="1500" b="0">
                <a:solidFill>
                  <a:srgbClr val="24343C"/>
                </a:solidFill>
              </a:defRPr>
            </a:lvl5pPr>
            <a:lvl6pPr algn="l">
              <a:buNone/>
              <a:defRPr sz="1500" b="0">
                <a:solidFill>
                  <a:srgbClr val="24343C"/>
                </a:solidFill>
              </a:defRPr>
            </a:lvl6pPr>
            <a:lvl7pPr algn="l">
              <a:buNone/>
              <a:defRPr sz="1500" b="0">
                <a:solidFill>
                  <a:srgbClr val="24343C"/>
                </a:solidFill>
              </a:defRPr>
            </a:lvl7pPr>
            <a:lvl8pPr algn="l">
              <a:buNone/>
              <a:defRPr sz="1500" b="0">
                <a:solidFill>
                  <a:srgbClr val="24343C"/>
                </a:solidFill>
              </a:defRPr>
            </a:lvl8pPr>
            <a:lvl9pPr algn="l">
              <a:buNone/>
              <a:defRPr sz="1500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500" b="0">
                <a:solidFill>
                  <a:srgbClr val="24343C"/>
                </a:solidFill>
              </a:defRPr>
            </a:pPr>
            <a:r>
              <a:rPr sz="1500" b="0">
                <a:solidFill>
                  <a:srgbClr val="24343C"/>
                </a:solidFill>
              </a:rPr>
              <a:t>Rastgele bir başlangıç karşı-olgusalı oluştur</a:t>
            </a:r>
          </a:p>
        </p:txBody>
      </p:sp>
      <p:cxnSp>
        <p:nvCxnSpPr>
          <p:cNvPr id="55" name="Elbow Connector 54"/>
          <p:cNvCxnSpPr/>
          <p:nvPr/>
        </p:nvCxnSpPr>
        <p:spPr>
          <a:xfrm>
            <a:off x="1095375" y="2847975"/>
            <a:ext cx="0" cy="26670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08D66EB-43F6-4EF0-9753-A20DEC02BB73}"/>
              </a:ext>
            </a:extLst>
          </p:cNvPr>
          <p:cNvSpPr>
            <a:spLocks noGrp="1"/>
          </p:cNvSpPr>
          <p:nvPr/>
        </p:nvSpPr>
        <p:spPr>
          <a:xfrm>
            <a:off x="762000" y="3133725"/>
            <a:ext cx="666750" cy="571500"/>
          </a:xfrm>
          <a:prstGeom prst="roundRect">
            <a:avLst>
              <a:gd name="adj" fmla="val 13333"/>
            </a:avLst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A5E57A-5ADF-42BC-BBB0-47A3868D329E}"/>
              </a:ext>
            </a:extLst>
          </p:cNvPr>
          <p:cNvSpPr>
            <a:spLocks noGrp="1"/>
          </p:cNvSpPr>
          <p:nvPr/>
        </p:nvSpPr>
        <p:spPr>
          <a:xfrm>
            <a:off x="762000" y="3133725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875" b="1">
                <a:solidFill>
                  <a:srgbClr val="FFFFFF"/>
                </a:solidFill>
              </a:defRPr>
            </a:lvl1pPr>
            <a:lvl2pPr algn="ctr">
              <a:buNone/>
              <a:defRPr sz="1875" b="1">
                <a:solidFill>
                  <a:srgbClr val="FFFFFF"/>
                </a:solidFill>
              </a:defRPr>
            </a:lvl2pPr>
            <a:lvl3pPr algn="ctr">
              <a:buNone/>
              <a:defRPr sz="1875" b="1">
                <a:solidFill>
                  <a:srgbClr val="FFFFFF"/>
                </a:solidFill>
              </a:defRPr>
            </a:lvl3pPr>
            <a:lvl4pPr algn="ctr">
              <a:buNone/>
              <a:defRPr sz="1875" b="1">
                <a:solidFill>
                  <a:srgbClr val="FFFFFF"/>
                </a:solidFill>
              </a:defRPr>
            </a:lvl4pPr>
            <a:lvl5pPr algn="ctr">
              <a:buNone/>
              <a:defRPr sz="1875" b="1">
                <a:solidFill>
                  <a:srgbClr val="FFFFFF"/>
                </a:solidFill>
              </a:defRPr>
            </a:lvl5pPr>
            <a:lvl6pPr algn="ctr">
              <a:buNone/>
              <a:defRPr sz="1875" b="1">
                <a:solidFill>
                  <a:srgbClr val="FFFFFF"/>
                </a:solidFill>
              </a:defRPr>
            </a:lvl6pPr>
            <a:lvl7pPr algn="ctr">
              <a:buNone/>
              <a:defRPr sz="1875" b="1">
                <a:solidFill>
                  <a:srgbClr val="FFFFFF"/>
                </a:solidFill>
              </a:defRPr>
            </a:lvl7pPr>
            <a:lvl8pPr algn="ctr">
              <a:buNone/>
              <a:defRPr sz="1875" b="1">
                <a:solidFill>
                  <a:srgbClr val="FFFFFF"/>
                </a:solidFill>
              </a:defRPr>
            </a:lvl8pPr>
            <a:lvl9pPr algn="ctr">
              <a:buNone/>
              <a:defRPr sz="1875" b="1">
                <a:solidFill>
                  <a:srgbClr val="FFFFFF"/>
                </a:solidFill>
              </a:defRPr>
            </a:lvl9pPr>
          </a:lstStyle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EB8D9B-559A-4650-8171-2121D43AE465}"/>
              </a:ext>
            </a:extLst>
          </p:cNvPr>
          <p:cNvSpPr>
            <a:spLocks noGrp="1"/>
          </p:cNvSpPr>
          <p:nvPr/>
        </p:nvSpPr>
        <p:spPr>
          <a:xfrm>
            <a:off x="1714500" y="3133725"/>
            <a:ext cx="9334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l">
              <a:buNone/>
              <a:defRPr sz="1500" b="0">
                <a:solidFill>
                  <a:srgbClr val="24343C"/>
                </a:solidFill>
              </a:defRPr>
            </a:lvl1pPr>
            <a:lvl2pPr algn="l">
              <a:buNone/>
              <a:defRPr sz="1500" b="0">
                <a:solidFill>
                  <a:srgbClr val="24343C"/>
                </a:solidFill>
              </a:defRPr>
            </a:lvl2pPr>
            <a:lvl3pPr algn="l">
              <a:buNone/>
              <a:defRPr sz="1500" b="0">
                <a:solidFill>
                  <a:srgbClr val="24343C"/>
                </a:solidFill>
              </a:defRPr>
            </a:lvl3pPr>
            <a:lvl4pPr algn="l">
              <a:buNone/>
              <a:defRPr sz="1500" b="0">
                <a:solidFill>
                  <a:srgbClr val="24343C"/>
                </a:solidFill>
              </a:defRPr>
            </a:lvl4pPr>
            <a:lvl5pPr algn="l">
              <a:buNone/>
              <a:defRPr sz="1500" b="0">
                <a:solidFill>
                  <a:srgbClr val="24343C"/>
                </a:solidFill>
              </a:defRPr>
            </a:lvl5pPr>
            <a:lvl6pPr algn="l">
              <a:buNone/>
              <a:defRPr sz="1500" b="0">
                <a:solidFill>
                  <a:srgbClr val="24343C"/>
                </a:solidFill>
              </a:defRPr>
            </a:lvl6pPr>
            <a:lvl7pPr algn="l">
              <a:buNone/>
              <a:defRPr sz="1500" b="0">
                <a:solidFill>
                  <a:srgbClr val="24343C"/>
                </a:solidFill>
              </a:defRPr>
            </a:lvl7pPr>
            <a:lvl8pPr algn="l">
              <a:buNone/>
              <a:defRPr sz="1500" b="0">
                <a:solidFill>
                  <a:srgbClr val="24343C"/>
                </a:solidFill>
              </a:defRPr>
            </a:lvl8pPr>
            <a:lvl9pPr algn="l">
              <a:buNone/>
              <a:defRPr sz="1500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500" b="0">
                <a:solidFill>
                  <a:srgbClr val="24343C"/>
                </a:solidFill>
              </a:defRPr>
            </a:pPr>
            <a:r>
              <a:rPr sz="1500" b="0">
                <a:solidFill>
                  <a:srgbClr val="24343C"/>
                </a:solidFill>
              </a:rPr>
              <a:t>Kaybı x′ için optimize et</a:t>
            </a:r>
          </a:p>
        </p:txBody>
      </p:sp>
      <p:cxnSp>
        <p:nvCxnSpPr>
          <p:cNvPr id="59" name="Elbow Connector 58"/>
          <p:cNvCxnSpPr/>
          <p:nvPr/>
        </p:nvCxnSpPr>
        <p:spPr>
          <a:xfrm>
            <a:off x="1095375" y="3724275"/>
            <a:ext cx="0" cy="26670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25C8389-3EA7-4471-84AF-EDFC0F3F72CF}"/>
              </a:ext>
            </a:extLst>
          </p:cNvPr>
          <p:cNvSpPr>
            <a:spLocks noGrp="1"/>
          </p:cNvSpPr>
          <p:nvPr/>
        </p:nvSpPr>
        <p:spPr>
          <a:xfrm>
            <a:off x="762000" y="4010025"/>
            <a:ext cx="666750" cy="571500"/>
          </a:xfrm>
          <a:prstGeom prst="roundRect">
            <a:avLst>
              <a:gd name="adj" fmla="val 13333"/>
            </a:avLst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B89A08-6043-4DA8-8A48-46B7E98D146E}"/>
              </a:ext>
            </a:extLst>
          </p:cNvPr>
          <p:cNvSpPr>
            <a:spLocks noGrp="1"/>
          </p:cNvSpPr>
          <p:nvPr/>
        </p:nvSpPr>
        <p:spPr>
          <a:xfrm>
            <a:off x="762000" y="4010025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875" b="1">
                <a:solidFill>
                  <a:srgbClr val="FFFFFF"/>
                </a:solidFill>
              </a:defRPr>
            </a:lvl1pPr>
            <a:lvl2pPr algn="ctr">
              <a:buNone/>
              <a:defRPr sz="1875" b="1">
                <a:solidFill>
                  <a:srgbClr val="FFFFFF"/>
                </a:solidFill>
              </a:defRPr>
            </a:lvl2pPr>
            <a:lvl3pPr algn="ctr">
              <a:buNone/>
              <a:defRPr sz="1875" b="1">
                <a:solidFill>
                  <a:srgbClr val="FFFFFF"/>
                </a:solidFill>
              </a:defRPr>
            </a:lvl3pPr>
            <a:lvl4pPr algn="ctr">
              <a:buNone/>
              <a:defRPr sz="1875" b="1">
                <a:solidFill>
                  <a:srgbClr val="FFFFFF"/>
                </a:solidFill>
              </a:defRPr>
            </a:lvl4pPr>
            <a:lvl5pPr algn="ctr">
              <a:buNone/>
              <a:defRPr sz="1875" b="1">
                <a:solidFill>
                  <a:srgbClr val="FFFFFF"/>
                </a:solidFill>
              </a:defRPr>
            </a:lvl5pPr>
            <a:lvl6pPr algn="ctr">
              <a:buNone/>
              <a:defRPr sz="1875" b="1">
                <a:solidFill>
                  <a:srgbClr val="FFFFFF"/>
                </a:solidFill>
              </a:defRPr>
            </a:lvl6pPr>
            <a:lvl7pPr algn="ctr">
              <a:buNone/>
              <a:defRPr sz="1875" b="1">
                <a:solidFill>
                  <a:srgbClr val="FFFFFF"/>
                </a:solidFill>
              </a:defRPr>
            </a:lvl7pPr>
            <a:lvl8pPr algn="ctr">
              <a:buNone/>
              <a:defRPr sz="1875" b="1">
                <a:solidFill>
                  <a:srgbClr val="FFFFFF"/>
                </a:solidFill>
              </a:defRPr>
            </a:lvl8pPr>
            <a:lvl9pPr algn="ctr">
              <a:buNone/>
              <a:defRPr sz="1875" b="1">
                <a:solidFill>
                  <a:srgbClr val="FFFFFF"/>
                </a:solidFill>
              </a:defRPr>
            </a:lvl9pPr>
          </a:lstStyle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3249A8-C8AE-4259-B47D-FFA2E2ADEB09}"/>
              </a:ext>
            </a:extLst>
          </p:cNvPr>
          <p:cNvSpPr>
            <a:spLocks noGrp="1"/>
          </p:cNvSpPr>
          <p:nvPr/>
        </p:nvSpPr>
        <p:spPr>
          <a:xfrm>
            <a:off x="1714500" y="4010025"/>
            <a:ext cx="9334500" cy="571500"/>
          </a:xfrm>
          <a:prstGeom prst="rect">
            <a:avLst/>
          </a:prstGeom>
          <a:solidFill>
            <a:srgbClr val="E7ECEB"/>
          </a:solidFill>
          <a:ln w="9525">
            <a:solidFill>
              <a:srgbClr val="C8D0D1"/>
            </a:solidFill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l">
              <a:buNone/>
              <a:defRPr sz="1500" b="0">
                <a:solidFill>
                  <a:srgbClr val="24343C"/>
                </a:solidFill>
              </a:defRPr>
            </a:lvl1pPr>
            <a:lvl2pPr algn="l">
              <a:buNone/>
              <a:defRPr sz="1500" b="0">
                <a:solidFill>
                  <a:srgbClr val="24343C"/>
                </a:solidFill>
              </a:defRPr>
            </a:lvl2pPr>
            <a:lvl3pPr algn="l">
              <a:buNone/>
              <a:defRPr sz="1500" b="0">
                <a:solidFill>
                  <a:srgbClr val="24343C"/>
                </a:solidFill>
              </a:defRPr>
            </a:lvl3pPr>
            <a:lvl4pPr algn="l">
              <a:buNone/>
              <a:defRPr sz="1500" b="0">
                <a:solidFill>
                  <a:srgbClr val="24343C"/>
                </a:solidFill>
              </a:defRPr>
            </a:lvl4pPr>
            <a:lvl5pPr algn="l">
              <a:buNone/>
              <a:defRPr sz="1500" b="0">
                <a:solidFill>
                  <a:srgbClr val="24343C"/>
                </a:solidFill>
              </a:defRPr>
            </a:lvl5pPr>
            <a:lvl6pPr algn="l">
              <a:buNone/>
              <a:defRPr sz="1500" b="0">
                <a:solidFill>
                  <a:srgbClr val="24343C"/>
                </a:solidFill>
              </a:defRPr>
            </a:lvl6pPr>
            <a:lvl7pPr algn="l">
              <a:buNone/>
              <a:defRPr sz="1500" b="0">
                <a:solidFill>
                  <a:srgbClr val="24343C"/>
                </a:solidFill>
              </a:defRPr>
            </a:lvl7pPr>
            <a:lvl8pPr algn="l">
              <a:buNone/>
              <a:defRPr sz="1500" b="0">
                <a:solidFill>
                  <a:srgbClr val="24343C"/>
                </a:solidFill>
              </a:defRPr>
            </a:lvl8pPr>
            <a:lvl9pPr algn="l">
              <a:buNone/>
              <a:defRPr sz="1500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500" b="0">
                <a:solidFill>
                  <a:srgbClr val="24343C"/>
                </a:solidFill>
              </a:defRPr>
            </a:pPr>
            <a:r>
              <a:rPr sz="1500" b="0">
                <a:solidFill>
                  <a:srgbClr val="24343C"/>
                </a:solidFill>
              </a:rPr>
              <a:t>Hata ε’den büyükse λ’yı artır ve yeniden optimize et</a:t>
            </a:r>
          </a:p>
        </p:txBody>
      </p:sp>
      <p:cxnSp>
        <p:nvCxnSpPr>
          <p:cNvPr id="63" name="Elbow Connector 62"/>
          <p:cNvCxnSpPr/>
          <p:nvPr/>
        </p:nvCxnSpPr>
        <p:spPr>
          <a:xfrm>
            <a:off x="1095375" y="4600575"/>
            <a:ext cx="0" cy="26670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38883BA-8877-4367-840D-8676540685AC}"/>
              </a:ext>
            </a:extLst>
          </p:cNvPr>
          <p:cNvSpPr>
            <a:spLocks noGrp="1"/>
          </p:cNvSpPr>
          <p:nvPr/>
        </p:nvSpPr>
        <p:spPr>
          <a:xfrm>
            <a:off x="762000" y="4886325"/>
            <a:ext cx="666750" cy="571500"/>
          </a:xfrm>
          <a:prstGeom prst="roundRect">
            <a:avLst>
              <a:gd name="adj" fmla="val 13333"/>
            </a:avLst>
          </a:prstGeom>
          <a:solidFill>
            <a:srgbClr val="E65E3F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83FC25-D76D-44F3-A62D-DC8208417670}"/>
              </a:ext>
            </a:extLst>
          </p:cNvPr>
          <p:cNvSpPr>
            <a:spLocks noGrp="1"/>
          </p:cNvSpPr>
          <p:nvPr/>
        </p:nvSpPr>
        <p:spPr>
          <a:xfrm>
            <a:off x="762000" y="4886325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875" b="1">
                <a:solidFill>
                  <a:srgbClr val="FFFFFF"/>
                </a:solidFill>
              </a:defRPr>
            </a:lvl1pPr>
            <a:lvl2pPr algn="ctr">
              <a:buNone/>
              <a:defRPr sz="1875" b="1">
                <a:solidFill>
                  <a:srgbClr val="FFFFFF"/>
                </a:solidFill>
              </a:defRPr>
            </a:lvl2pPr>
            <a:lvl3pPr algn="ctr">
              <a:buNone/>
              <a:defRPr sz="1875" b="1">
                <a:solidFill>
                  <a:srgbClr val="FFFFFF"/>
                </a:solidFill>
              </a:defRPr>
            </a:lvl3pPr>
            <a:lvl4pPr algn="ctr">
              <a:buNone/>
              <a:defRPr sz="1875" b="1">
                <a:solidFill>
                  <a:srgbClr val="FFFFFF"/>
                </a:solidFill>
              </a:defRPr>
            </a:lvl4pPr>
            <a:lvl5pPr algn="ctr">
              <a:buNone/>
              <a:defRPr sz="1875" b="1">
                <a:solidFill>
                  <a:srgbClr val="FFFFFF"/>
                </a:solidFill>
              </a:defRPr>
            </a:lvl5pPr>
            <a:lvl6pPr algn="ctr">
              <a:buNone/>
              <a:defRPr sz="1875" b="1">
                <a:solidFill>
                  <a:srgbClr val="FFFFFF"/>
                </a:solidFill>
              </a:defRPr>
            </a:lvl6pPr>
            <a:lvl7pPr algn="ctr">
              <a:buNone/>
              <a:defRPr sz="1875" b="1">
                <a:solidFill>
                  <a:srgbClr val="FFFFFF"/>
                </a:solidFill>
              </a:defRPr>
            </a:lvl7pPr>
            <a:lvl8pPr algn="ctr">
              <a:buNone/>
              <a:defRPr sz="1875" b="1">
                <a:solidFill>
                  <a:srgbClr val="FFFFFF"/>
                </a:solidFill>
              </a:defRPr>
            </a:lvl8pPr>
            <a:lvl9pPr algn="ctr">
              <a:buNone/>
              <a:defRPr sz="1875" b="1">
                <a:solidFill>
                  <a:srgbClr val="FFFFFF"/>
                </a:solidFill>
              </a:defRPr>
            </a:lvl9pPr>
          </a:lstStyle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B2F918-726D-462A-A735-0FF237AB0290}"/>
              </a:ext>
            </a:extLst>
          </p:cNvPr>
          <p:cNvSpPr>
            <a:spLocks noGrp="1"/>
          </p:cNvSpPr>
          <p:nvPr/>
        </p:nvSpPr>
        <p:spPr>
          <a:xfrm>
            <a:off x="1714500" y="4886325"/>
            <a:ext cx="9334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l">
              <a:buNone/>
              <a:defRPr sz="1500" b="1">
                <a:solidFill>
                  <a:srgbClr val="24343C"/>
                </a:solidFill>
              </a:defRPr>
            </a:lvl1pPr>
            <a:lvl2pPr algn="l">
              <a:buNone/>
              <a:defRPr sz="1500" b="1">
                <a:solidFill>
                  <a:srgbClr val="24343C"/>
                </a:solidFill>
              </a:defRPr>
            </a:lvl2pPr>
            <a:lvl3pPr algn="l">
              <a:buNone/>
              <a:defRPr sz="1500" b="1">
                <a:solidFill>
                  <a:srgbClr val="24343C"/>
                </a:solidFill>
              </a:defRPr>
            </a:lvl3pPr>
            <a:lvl4pPr algn="l">
              <a:buNone/>
              <a:defRPr sz="1500" b="1">
                <a:solidFill>
                  <a:srgbClr val="24343C"/>
                </a:solidFill>
              </a:defRPr>
            </a:lvl4pPr>
            <a:lvl5pPr algn="l">
              <a:buNone/>
              <a:defRPr sz="1500" b="1">
                <a:solidFill>
                  <a:srgbClr val="24343C"/>
                </a:solidFill>
              </a:defRPr>
            </a:lvl5pPr>
            <a:lvl6pPr algn="l">
              <a:buNone/>
              <a:defRPr sz="1500" b="1">
                <a:solidFill>
                  <a:srgbClr val="24343C"/>
                </a:solidFill>
              </a:defRPr>
            </a:lvl6pPr>
            <a:lvl7pPr algn="l">
              <a:buNone/>
              <a:defRPr sz="1500" b="1">
                <a:solidFill>
                  <a:srgbClr val="24343C"/>
                </a:solidFill>
              </a:defRPr>
            </a:lvl7pPr>
            <a:lvl8pPr algn="l">
              <a:buNone/>
              <a:defRPr sz="1500" b="1">
                <a:solidFill>
                  <a:srgbClr val="24343C"/>
                </a:solidFill>
              </a:defRPr>
            </a:lvl8pPr>
            <a:lvl9pPr algn="l">
              <a:buNone/>
              <a:defRPr sz="15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500" b="1">
                <a:solidFill>
                  <a:srgbClr val="24343C"/>
                </a:solidFill>
              </a:defRPr>
            </a:pPr>
            <a:r>
              <a:rPr sz="1500" b="1">
                <a:solidFill>
                  <a:srgbClr val="24343C"/>
                </a:solidFill>
              </a:rPr>
              <a:t>Birden çok başlangıçla tekrarla, en iyi çözümü döndür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134725-B7FD-43B4-9650-A4E7A643C402}"/>
              </a:ext>
            </a:extLst>
          </p:cNvPr>
          <p:cNvSpPr>
            <a:spLocks noGrp="1"/>
          </p:cNvSpPr>
          <p:nvPr/>
        </p:nvSpPr>
        <p:spPr>
          <a:xfrm>
            <a:off x="7429500" y="5953125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 fontScale="99732"/>
          </a:bodyPr>
          <a:lstStyle>
            <a:lvl1pPr algn="r">
              <a:buNone/>
              <a:defRPr sz="1050" b="0">
                <a:solidFill>
                  <a:srgbClr val="6F7B7F"/>
                </a:solidFill>
              </a:defRPr>
            </a:lvl1pPr>
            <a:lvl2pPr algn="r">
              <a:buNone/>
              <a:defRPr sz="1050" b="0">
                <a:solidFill>
                  <a:srgbClr val="6F7B7F"/>
                </a:solidFill>
              </a:defRPr>
            </a:lvl2pPr>
            <a:lvl3pPr algn="r">
              <a:buNone/>
              <a:defRPr sz="1050" b="0">
                <a:solidFill>
                  <a:srgbClr val="6F7B7F"/>
                </a:solidFill>
              </a:defRPr>
            </a:lvl3pPr>
            <a:lvl4pPr algn="r">
              <a:buNone/>
              <a:defRPr sz="1050" b="0">
                <a:solidFill>
                  <a:srgbClr val="6F7B7F"/>
                </a:solidFill>
              </a:defRPr>
            </a:lvl4pPr>
            <a:lvl5pPr algn="r">
              <a:buNone/>
              <a:defRPr sz="1050" b="0">
                <a:solidFill>
                  <a:srgbClr val="6F7B7F"/>
                </a:solidFill>
              </a:defRPr>
            </a:lvl5pPr>
            <a:lvl6pPr algn="r">
              <a:buNone/>
              <a:defRPr sz="1050" b="0">
                <a:solidFill>
                  <a:srgbClr val="6F7B7F"/>
                </a:solidFill>
              </a:defRPr>
            </a:lvl6pPr>
            <a:lvl7pPr algn="r">
              <a:buNone/>
              <a:defRPr sz="1050" b="0">
                <a:solidFill>
                  <a:srgbClr val="6F7B7F"/>
                </a:solidFill>
              </a:defRPr>
            </a:lvl7pPr>
            <a:lvl8pPr algn="r">
              <a:buNone/>
              <a:defRPr sz="1050" b="0">
                <a:solidFill>
                  <a:srgbClr val="6F7B7F"/>
                </a:solidFill>
              </a:defRPr>
            </a:lvl8pPr>
            <a:lvl9pPr algn="r">
              <a:buNone/>
              <a:defRPr sz="10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1050" b="0">
                <a:solidFill>
                  <a:srgbClr val="6F7B7F"/>
                </a:solidFill>
              </a:defRPr>
            </a:pPr>
            <a:r>
              <a:rPr sz="1050" b="0">
                <a:solidFill>
                  <a:srgbClr val="6F7B7F"/>
                </a:solidFill>
              </a:rPr>
              <a:t>Optimizasyon: Nelder–Mead; model gradyanları varsa ADAM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31DF9F-FEB4-4DEB-9A37-3080CBFB032B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28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988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2982C15-1A11-4F4F-B5A9-FF1B4E5749C7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BD0478-930A-4913-A1FE-92944797518E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Dandl yöntemi: dört amaçlı optimizasyon</a:t>
            </a:r>
          </a:p>
        </p:txBody>
      </p:sp>
      <p:cxnSp>
        <p:nvCxnSpPr>
          <p:cNvPr id="29" name="Elbow Connector 28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181E38C-27FF-4B02-87DA-6D02B4730156}"/>
              </a:ext>
            </a:extLst>
          </p:cNvPr>
          <p:cNvSpPr>
            <a:spLocks noGrp="1"/>
          </p:cNvSpPr>
          <p:nvPr/>
        </p:nvSpPr>
        <p:spPr>
          <a:xfrm>
            <a:off x="495300" y="1219200"/>
            <a:ext cx="11201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ctr">
              <a:buNone/>
              <a:defRPr sz="2250" b="1">
                <a:solidFill>
                  <a:srgbClr val="24343C"/>
                </a:solidFill>
              </a:defRPr>
            </a:lvl1pPr>
            <a:lvl2pPr algn="ctr">
              <a:buNone/>
              <a:defRPr sz="2250" b="1">
                <a:solidFill>
                  <a:srgbClr val="24343C"/>
                </a:solidFill>
              </a:defRPr>
            </a:lvl2pPr>
            <a:lvl3pPr algn="ctr">
              <a:buNone/>
              <a:defRPr sz="2250" b="1">
                <a:solidFill>
                  <a:srgbClr val="24343C"/>
                </a:solidFill>
              </a:defRPr>
            </a:lvl3pPr>
            <a:lvl4pPr algn="ctr">
              <a:buNone/>
              <a:defRPr sz="2250" b="1">
                <a:solidFill>
                  <a:srgbClr val="24343C"/>
                </a:solidFill>
              </a:defRPr>
            </a:lvl4pPr>
            <a:lvl5pPr algn="ctr">
              <a:buNone/>
              <a:defRPr sz="2250" b="1">
                <a:solidFill>
                  <a:srgbClr val="24343C"/>
                </a:solidFill>
              </a:defRPr>
            </a:lvl5pPr>
            <a:lvl6pPr algn="ctr">
              <a:buNone/>
              <a:defRPr sz="2250" b="1">
                <a:solidFill>
                  <a:srgbClr val="24343C"/>
                </a:solidFill>
              </a:defRPr>
            </a:lvl6pPr>
            <a:lvl7pPr algn="ctr">
              <a:buNone/>
              <a:defRPr sz="2250" b="1">
                <a:solidFill>
                  <a:srgbClr val="24343C"/>
                </a:solidFill>
              </a:defRPr>
            </a:lvl7pPr>
            <a:lvl8pPr algn="ctr">
              <a:buNone/>
              <a:defRPr sz="2250" b="1">
                <a:solidFill>
                  <a:srgbClr val="24343C"/>
                </a:solidFill>
              </a:defRPr>
            </a:lvl8pPr>
            <a:lvl9pPr algn="ctr">
              <a:buNone/>
              <a:defRPr sz="225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2250" b="1">
                <a:solidFill>
                  <a:srgbClr val="24343C"/>
                </a:solidFill>
              </a:defRPr>
            </a:pPr>
            <a:r>
              <a:rPr sz="2250" b="1">
                <a:solidFill>
                  <a:srgbClr val="24343C"/>
                </a:solidFill>
              </a:rPr>
              <a:t>L(x,x′,y′,Xobs) = (o₁, o₂, o₃, o₄)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25E7F9-37E3-4E33-B853-ADE81CB3079D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55054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E4DDD2-699E-4B96-B1DE-4E358141BEEB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85725" cy="1333500"/>
          </a:xfrm>
          <a:prstGeom prst="rect">
            <a:avLst/>
          </a:prstGeom>
          <a:solidFill>
            <a:srgbClr val="E65E3F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5338E4-5751-47EF-B245-E14CA4ED269D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512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o₁  Hedef geçerliliği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0243DE-6FBE-431C-9686-0EF693380371}"/>
              </a:ext>
            </a:extLst>
          </p:cNvPr>
          <p:cNvSpPr>
            <a:spLocks noGrp="1"/>
          </p:cNvSpPr>
          <p:nvPr/>
        </p:nvSpPr>
        <p:spPr>
          <a:xfrm>
            <a:off x="723900" y="2638425"/>
            <a:ext cx="5124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0">
                <a:solidFill>
                  <a:srgbClr val="6F7B7F"/>
                </a:solidFill>
              </a:defRPr>
            </a:lvl1pPr>
            <a:lvl2pPr algn="l">
              <a:buNone/>
              <a:defRPr sz="1350" b="0">
                <a:solidFill>
                  <a:srgbClr val="6F7B7F"/>
                </a:solidFill>
              </a:defRPr>
            </a:lvl2pPr>
            <a:lvl3pPr algn="l">
              <a:buNone/>
              <a:defRPr sz="1350" b="0">
                <a:solidFill>
                  <a:srgbClr val="6F7B7F"/>
                </a:solidFill>
              </a:defRPr>
            </a:lvl3pPr>
            <a:lvl4pPr algn="l">
              <a:buNone/>
              <a:defRPr sz="1350" b="0">
                <a:solidFill>
                  <a:srgbClr val="6F7B7F"/>
                </a:solidFill>
              </a:defRPr>
            </a:lvl4pPr>
            <a:lvl5pPr algn="l">
              <a:buNone/>
              <a:defRPr sz="1350" b="0">
                <a:solidFill>
                  <a:srgbClr val="6F7B7F"/>
                </a:solidFill>
              </a:defRPr>
            </a:lvl5pPr>
            <a:lvl6pPr algn="l">
              <a:buNone/>
              <a:defRPr sz="1350" b="0">
                <a:solidFill>
                  <a:srgbClr val="6F7B7F"/>
                </a:solidFill>
              </a:defRPr>
            </a:lvl6pPr>
            <a:lvl7pPr algn="l">
              <a:buNone/>
              <a:defRPr sz="1350" b="0">
                <a:solidFill>
                  <a:srgbClr val="6F7B7F"/>
                </a:solidFill>
              </a:defRPr>
            </a:lvl7pPr>
            <a:lvl8pPr algn="l">
              <a:buNone/>
              <a:defRPr sz="1350" b="0">
                <a:solidFill>
                  <a:srgbClr val="6F7B7F"/>
                </a:solidFill>
              </a:defRPr>
            </a:lvl8pPr>
            <a:lvl9pPr algn="l">
              <a:buNone/>
              <a:defRPr sz="135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6F7B7F"/>
                </a:solidFill>
              </a:defRPr>
            </a:pPr>
            <a:r>
              <a:rPr sz="1350" b="0">
                <a:solidFill>
                  <a:srgbClr val="6F7B7F"/>
                </a:solidFill>
              </a:rPr>
              <a:t>Tahmin hedef aralığın içindeyse 0; değilse hedefe uzaklık.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5DE1D05-0713-4032-9234-57F4455258F3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55054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3126F5-D283-4FFA-A499-01C40C939C2D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85725" cy="1333500"/>
          </a:xfrm>
          <a:prstGeom prst="rect">
            <a:avLst/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9D6DBE-5F49-4CC9-938F-14128169EBF6}"/>
              </a:ext>
            </a:extLst>
          </p:cNvPr>
          <p:cNvSpPr>
            <a:spLocks noGrp="1"/>
          </p:cNvSpPr>
          <p:nvPr/>
        </p:nvSpPr>
        <p:spPr>
          <a:xfrm>
            <a:off x="6419850" y="2295525"/>
            <a:ext cx="512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o₂  Benzerlik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C8693D-EE1A-4817-82A5-63C085A47E4F}"/>
              </a:ext>
            </a:extLst>
          </p:cNvPr>
          <p:cNvSpPr>
            <a:spLocks noGrp="1"/>
          </p:cNvSpPr>
          <p:nvPr/>
        </p:nvSpPr>
        <p:spPr>
          <a:xfrm>
            <a:off x="6419850" y="2638425"/>
            <a:ext cx="5124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0">
                <a:solidFill>
                  <a:srgbClr val="6F7B7F"/>
                </a:solidFill>
              </a:defRPr>
            </a:lvl1pPr>
            <a:lvl2pPr algn="l">
              <a:buNone/>
              <a:defRPr sz="1350" b="0">
                <a:solidFill>
                  <a:srgbClr val="6F7B7F"/>
                </a:solidFill>
              </a:defRPr>
            </a:lvl2pPr>
            <a:lvl3pPr algn="l">
              <a:buNone/>
              <a:defRPr sz="1350" b="0">
                <a:solidFill>
                  <a:srgbClr val="6F7B7F"/>
                </a:solidFill>
              </a:defRPr>
            </a:lvl3pPr>
            <a:lvl4pPr algn="l">
              <a:buNone/>
              <a:defRPr sz="1350" b="0">
                <a:solidFill>
                  <a:srgbClr val="6F7B7F"/>
                </a:solidFill>
              </a:defRPr>
            </a:lvl4pPr>
            <a:lvl5pPr algn="l">
              <a:buNone/>
              <a:defRPr sz="1350" b="0">
                <a:solidFill>
                  <a:srgbClr val="6F7B7F"/>
                </a:solidFill>
              </a:defRPr>
            </a:lvl5pPr>
            <a:lvl6pPr algn="l">
              <a:buNone/>
              <a:defRPr sz="1350" b="0">
                <a:solidFill>
                  <a:srgbClr val="6F7B7F"/>
                </a:solidFill>
              </a:defRPr>
            </a:lvl6pPr>
            <a:lvl7pPr algn="l">
              <a:buNone/>
              <a:defRPr sz="1350" b="0">
                <a:solidFill>
                  <a:srgbClr val="6F7B7F"/>
                </a:solidFill>
              </a:defRPr>
            </a:lvl7pPr>
            <a:lvl8pPr algn="l">
              <a:buNone/>
              <a:defRPr sz="1350" b="0">
                <a:solidFill>
                  <a:srgbClr val="6F7B7F"/>
                </a:solidFill>
              </a:defRPr>
            </a:lvl8pPr>
            <a:lvl9pPr algn="l">
              <a:buNone/>
              <a:defRPr sz="135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6F7B7F"/>
                </a:solidFill>
              </a:defRPr>
            </a:pPr>
            <a:r>
              <a:rPr sz="1350" b="0">
                <a:solidFill>
                  <a:srgbClr val="6F7B7F"/>
                </a:solidFill>
              </a:rPr>
              <a:t>Sayısal ve kategorik özellikleri destekleyen Gower uzaklığı.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E6A6357-E781-474D-B8CB-BF59B3CF4867}"/>
              </a:ext>
            </a:extLst>
          </p:cNvPr>
          <p:cNvSpPr>
            <a:spLocks noGrp="1"/>
          </p:cNvSpPr>
          <p:nvPr/>
        </p:nvSpPr>
        <p:spPr>
          <a:xfrm>
            <a:off x="495300" y="3857625"/>
            <a:ext cx="55054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C0807-433F-42FF-89EC-3B93CE052765}"/>
              </a:ext>
            </a:extLst>
          </p:cNvPr>
          <p:cNvSpPr>
            <a:spLocks noGrp="1"/>
          </p:cNvSpPr>
          <p:nvPr/>
        </p:nvSpPr>
        <p:spPr>
          <a:xfrm>
            <a:off x="495300" y="3857625"/>
            <a:ext cx="85725" cy="1333500"/>
          </a:xfrm>
          <a:prstGeom prst="rect">
            <a:avLst/>
          </a:prstGeom>
          <a:solidFill>
            <a:srgbClr val="E6B85C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071229-8EA7-43AE-95A8-E7DA6B8A7598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512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o₃  Seyreklik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3831A0-E3DD-4A00-B5FD-2369432F2BDC}"/>
              </a:ext>
            </a:extLst>
          </p:cNvPr>
          <p:cNvSpPr>
            <a:spLocks noGrp="1"/>
          </p:cNvSpPr>
          <p:nvPr/>
        </p:nvSpPr>
        <p:spPr>
          <a:xfrm>
            <a:off x="723900" y="4352925"/>
            <a:ext cx="5124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0">
                <a:solidFill>
                  <a:srgbClr val="6F7B7F"/>
                </a:solidFill>
              </a:defRPr>
            </a:lvl1pPr>
            <a:lvl2pPr algn="l">
              <a:buNone/>
              <a:defRPr sz="1350" b="0">
                <a:solidFill>
                  <a:srgbClr val="6F7B7F"/>
                </a:solidFill>
              </a:defRPr>
            </a:lvl2pPr>
            <a:lvl3pPr algn="l">
              <a:buNone/>
              <a:defRPr sz="1350" b="0">
                <a:solidFill>
                  <a:srgbClr val="6F7B7F"/>
                </a:solidFill>
              </a:defRPr>
            </a:lvl3pPr>
            <a:lvl4pPr algn="l">
              <a:buNone/>
              <a:defRPr sz="1350" b="0">
                <a:solidFill>
                  <a:srgbClr val="6F7B7F"/>
                </a:solidFill>
              </a:defRPr>
            </a:lvl4pPr>
            <a:lvl5pPr algn="l">
              <a:buNone/>
              <a:defRPr sz="1350" b="0">
                <a:solidFill>
                  <a:srgbClr val="6F7B7F"/>
                </a:solidFill>
              </a:defRPr>
            </a:lvl5pPr>
            <a:lvl6pPr algn="l">
              <a:buNone/>
              <a:defRPr sz="1350" b="0">
                <a:solidFill>
                  <a:srgbClr val="6F7B7F"/>
                </a:solidFill>
              </a:defRPr>
            </a:lvl6pPr>
            <a:lvl7pPr algn="l">
              <a:buNone/>
              <a:defRPr sz="1350" b="0">
                <a:solidFill>
                  <a:srgbClr val="6F7B7F"/>
                </a:solidFill>
              </a:defRPr>
            </a:lvl7pPr>
            <a:lvl8pPr algn="l">
              <a:buNone/>
              <a:defRPr sz="1350" b="0">
                <a:solidFill>
                  <a:srgbClr val="6F7B7F"/>
                </a:solidFill>
              </a:defRPr>
            </a:lvl8pPr>
            <a:lvl9pPr algn="l">
              <a:buNone/>
              <a:defRPr sz="135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6F7B7F"/>
                </a:solidFill>
              </a:defRPr>
            </a:pPr>
            <a:r>
              <a:rPr sz="1350" b="0">
                <a:solidFill>
                  <a:srgbClr val="6F7B7F"/>
                </a:solidFill>
              </a:rPr>
              <a:t>L₀ normu ile değişen özelliklerin sayısı.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144436-5F18-4AB3-B6A9-CB9BB21AE2D7}"/>
              </a:ext>
            </a:extLst>
          </p:cNvPr>
          <p:cNvSpPr>
            <a:spLocks noGrp="1"/>
          </p:cNvSpPr>
          <p:nvPr/>
        </p:nvSpPr>
        <p:spPr>
          <a:xfrm>
            <a:off x="6191250" y="3857625"/>
            <a:ext cx="55054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88DDAE-3603-45D9-B2FA-C115693B766A}"/>
              </a:ext>
            </a:extLst>
          </p:cNvPr>
          <p:cNvSpPr>
            <a:spLocks noGrp="1"/>
          </p:cNvSpPr>
          <p:nvPr/>
        </p:nvSpPr>
        <p:spPr>
          <a:xfrm>
            <a:off x="6191250" y="3857625"/>
            <a:ext cx="85725" cy="1333500"/>
          </a:xfrm>
          <a:prstGeom prst="rect">
            <a:avLst/>
          </a:prstGeom>
          <a:solidFill>
            <a:srgbClr val="B9C8CD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6712EB-2B39-4503-AE57-89AAC3D8D0BA}"/>
              </a:ext>
            </a:extLst>
          </p:cNvPr>
          <p:cNvSpPr>
            <a:spLocks noGrp="1"/>
          </p:cNvSpPr>
          <p:nvPr/>
        </p:nvSpPr>
        <p:spPr>
          <a:xfrm>
            <a:off x="6419850" y="4010025"/>
            <a:ext cx="512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o₄  Olasılık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561EE9-3BFA-4C7A-B22B-3139B3EAF0EB}"/>
              </a:ext>
            </a:extLst>
          </p:cNvPr>
          <p:cNvSpPr>
            <a:spLocks noGrp="1"/>
          </p:cNvSpPr>
          <p:nvPr/>
        </p:nvSpPr>
        <p:spPr>
          <a:xfrm>
            <a:off x="6419850" y="4352925"/>
            <a:ext cx="5124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0">
                <a:solidFill>
                  <a:srgbClr val="6F7B7F"/>
                </a:solidFill>
              </a:defRPr>
            </a:lvl1pPr>
            <a:lvl2pPr algn="l">
              <a:buNone/>
              <a:defRPr sz="1350" b="0">
                <a:solidFill>
                  <a:srgbClr val="6F7B7F"/>
                </a:solidFill>
              </a:defRPr>
            </a:lvl2pPr>
            <a:lvl3pPr algn="l">
              <a:buNone/>
              <a:defRPr sz="1350" b="0">
                <a:solidFill>
                  <a:srgbClr val="6F7B7F"/>
                </a:solidFill>
              </a:defRPr>
            </a:lvl3pPr>
            <a:lvl4pPr algn="l">
              <a:buNone/>
              <a:defRPr sz="1350" b="0">
                <a:solidFill>
                  <a:srgbClr val="6F7B7F"/>
                </a:solidFill>
              </a:defRPr>
            </a:lvl4pPr>
            <a:lvl5pPr algn="l">
              <a:buNone/>
              <a:defRPr sz="1350" b="0">
                <a:solidFill>
                  <a:srgbClr val="6F7B7F"/>
                </a:solidFill>
              </a:defRPr>
            </a:lvl5pPr>
            <a:lvl6pPr algn="l">
              <a:buNone/>
              <a:defRPr sz="1350" b="0">
                <a:solidFill>
                  <a:srgbClr val="6F7B7F"/>
                </a:solidFill>
              </a:defRPr>
            </a:lvl6pPr>
            <a:lvl7pPr algn="l">
              <a:buNone/>
              <a:defRPr sz="1350" b="0">
                <a:solidFill>
                  <a:srgbClr val="6F7B7F"/>
                </a:solidFill>
              </a:defRPr>
            </a:lvl7pPr>
            <a:lvl8pPr algn="l">
              <a:buNone/>
              <a:defRPr sz="1350" b="0">
                <a:solidFill>
                  <a:srgbClr val="6F7B7F"/>
                </a:solidFill>
              </a:defRPr>
            </a:lvl8pPr>
            <a:lvl9pPr algn="l">
              <a:buNone/>
              <a:defRPr sz="135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6F7B7F"/>
                </a:solidFill>
              </a:defRPr>
            </a:pPr>
            <a:r>
              <a:rPr sz="1350" b="0">
                <a:solidFill>
                  <a:srgbClr val="6F7B7F"/>
                </a:solidFill>
              </a:rPr>
              <a:t>x′ ile gözlenen en yakın veri noktası arasındaki Gower uzaklığı.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6DE9D5-2032-41F1-AD96-C0742D35EB6B}"/>
              </a:ext>
            </a:extLst>
          </p:cNvPr>
          <p:cNvSpPr>
            <a:spLocks noGrp="1"/>
          </p:cNvSpPr>
          <p:nvPr/>
        </p:nvSpPr>
        <p:spPr>
          <a:xfrm>
            <a:off x="1619250" y="5619750"/>
            <a:ext cx="8953500" cy="400050"/>
          </a:xfrm>
          <a:prstGeom prst="rect">
            <a:avLst/>
          </a:prstGeom>
          <a:solidFill>
            <a:srgbClr val="F8DDD5"/>
          </a:solidFill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500" b="1">
                <a:solidFill>
                  <a:srgbClr val="24343C"/>
                </a:solidFill>
              </a:defRPr>
            </a:lvl1pPr>
            <a:lvl2pPr algn="ctr">
              <a:buNone/>
              <a:defRPr sz="1500" b="1">
                <a:solidFill>
                  <a:srgbClr val="24343C"/>
                </a:solidFill>
              </a:defRPr>
            </a:lvl2pPr>
            <a:lvl3pPr algn="ctr">
              <a:buNone/>
              <a:defRPr sz="1500" b="1">
                <a:solidFill>
                  <a:srgbClr val="24343C"/>
                </a:solidFill>
              </a:defRPr>
            </a:lvl3pPr>
            <a:lvl4pPr algn="ctr">
              <a:buNone/>
              <a:defRPr sz="1500" b="1">
                <a:solidFill>
                  <a:srgbClr val="24343C"/>
                </a:solidFill>
              </a:defRPr>
            </a:lvl4pPr>
            <a:lvl5pPr algn="ctr">
              <a:buNone/>
              <a:defRPr sz="1500" b="1">
                <a:solidFill>
                  <a:srgbClr val="24343C"/>
                </a:solidFill>
              </a:defRPr>
            </a:lvl5pPr>
            <a:lvl6pPr algn="ctr">
              <a:buNone/>
              <a:defRPr sz="1500" b="1">
                <a:solidFill>
                  <a:srgbClr val="24343C"/>
                </a:solidFill>
              </a:defRPr>
            </a:lvl6pPr>
            <a:lvl7pPr algn="ctr">
              <a:buNone/>
              <a:defRPr sz="1500" b="1">
                <a:solidFill>
                  <a:srgbClr val="24343C"/>
                </a:solidFill>
              </a:defRPr>
            </a:lvl7pPr>
            <a:lvl8pPr algn="ctr">
              <a:buNone/>
              <a:defRPr sz="1500" b="1">
                <a:solidFill>
                  <a:srgbClr val="24343C"/>
                </a:solidFill>
              </a:defRPr>
            </a:lvl8pPr>
            <a:lvl9pPr algn="ctr">
              <a:buNone/>
              <a:defRPr sz="150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500" b="1">
                <a:solidFill>
                  <a:srgbClr val="24343C"/>
                </a:solidFill>
              </a:defRPr>
            </a:pPr>
            <a:r>
              <a:rPr sz="1500" b="1">
                <a:solidFill>
                  <a:srgbClr val="24343C"/>
                </a:solidFill>
              </a:rPr>
              <a:t>Amaçlar ağırlıklı toplamla tek sayıya indirgenmez; eş zamanlı optimize edilir.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220F6D-2C74-4EB8-9E09-CB483B086EE9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29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351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1C5442A-60FA-4B70-B6EF-472BB16AB5F8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58CA7E-DFA8-4AA8-B5F3-8255C17ECE23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NSGA-II ile çok amaçlı arama</a:t>
            </a:r>
          </a:p>
        </p:txBody>
      </p:sp>
      <p:cxnSp>
        <p:nvCxnSpPr>
          <p:cNvPr id="43" name="Elbow Connector 42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76828FC-357B-48CE-A1BE-891AB70CA3EB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30</a:t>
            </a:r>
            <a:endParaRPr sz="750" b="0" dirty="0">
              <a:solidFill>
                <a:srgbClr val="6F7B7F"/>
              </a:solidFill>
            </a:endParaRP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2368" y="1280160"/>
            <a:ext cx="8967263" cy="43434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1179B8E-0032-42F2-ACC9-02A6CBFCDECF}"/>
              </a:ext>
            </a:extLst>
          </p:cNvPr>
          <p:cNvSpPr>
            <a:spLocks noGrp="1"/>
          </p:cNvSpPr>
          <p:nvPr/>
        </p:nvSpPr>
        <p:spPr>
          <a:xfrm>
            <a:off x="1200150" y="5806440"/>
            <a:ext cx="9791700" cy="438150"/>
          </a:xfrm>
          <a:prstGeom prst="rect">
            <a:avLst/>
          </a:prstGeom>
          <a:solidFill>
            <a:srgbClr val="FFF2C7"/>
          </a:solidFill>
          <a:ln w="0">
            <a:solidFill>
              <a:srgbClr val="FFF2C7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DFD7CC-E547-43CB-B67F-298C11D2D1B2}"/>
              </a:ext>
            </a:extLst>
          </p:cNvPr>
          <p:cNvSpPr>
            <a:spLocks noGrp="1"/>
          </p:cNvSpPr>
          <p:nvPr/>
        </p:nvSpPr>
        <p:spPr>
          <a:xfrm>
            <a:off x="1428750" y="5879592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050" b="1">
                <a:solidFill>
                  <a:srgbClr val="1F3038"/>
                </a:solidFill>
              </a:defRPr>
            </a:lvl1pPr>
            <a:lvl2pPr algn="ctr">
              <a:buNone/>
              <a:defRPr sz="1050" b="1">
                <a:solidFill>
                  <a:srgbClr val="1F3038"/>
                </a:solidFill>
              </a:defRPr>
            </a:lvl2pPr>
            <a:lvl3pPr algn="ctr">
              <a:buNone/>
              <a:defRPr sz="1050" b="1">
                <a:solidFill>
                  <a:srgbClr val="1F3038"/>
                </a:solidFill>
              </a:defRPr>
            </a:lvl3pPr>
            <a:lvl4pPr algn="ctr">
              <a:buNone/>
              <a:defRPr sz="1050" b="1">
                <a:solidFill>
                  <a:srgbClr val="1F3038"/>
                </a:solidFill>
              </a:defRPr>
            </a:lvl4pPr>
            <a:lvl5pPr algn="ctr">
              <a:buNone/>
              <a:defRPr sz="1050" b="1">
                <a:solidFill>
                  <a:srgbClr val="1F3038"/>
                </a:solidFill>
              </a:defRPr>
            </a:lvl5pPr>
            <a:lvl6pPr algn="ctr">
              <a:buNone/>
              <a:defRPr sz="1050" b="1">
                <a:solidFill>
                  <a:srgbClr val="1F3038"/>
                </a:solidFill>
              </a:defRPr>
            </a:lvl6pPr>
            <a:lvl7pPr algn="ctr">
              <a:buNone/>
              <a:defRPr sz="1050" b="1">
                <a:solidFill>
                  <a:srgbClr val="1F3038"/>
                </a:solidFill>
              </a:defRPr>
            </a:lvl7pPr>
            <a:lvl8pPr algn="ctr">
              <a:buNone/>
              <a:defRPr sz="1050" b="1">
                <a:solidFill>
                  <a:srgbClr val="1F3038"/>
                </a:solidFill>
              </a:defRPr>
            </a:lvl8pPr>
            <a:lvl9pPr algn="ctr">
              <a:buNone/>
              <a:defRPr sz="1050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1050" b="1">
                <a:solidFill>
                  <a:srgbClr val="1F3038"/>
                </a:solidFill>
              </a:defRPr>
            </a:pPr>
            <a:r>
              <a:rPr sz="1050" b="1">
                <a:solidFill>
                  <a:srgbClr val="1F3038"/>
                </a:solidFill>
              </a:rPr>
              <a:t>Önce baskınlık düzeyi, sonra çeşitliliği koruyan yığılma uzaklığı. Sonuç: yaklaşık Pareto-optimal adaylar kümesi.</a:t>
            </a:r>
          </a:p>
        </p:txBody>
      </p:sp>
    </p:spTree>
    <p:extLst>
      <p:ext uri="{BB962C8B-B14F-4D97-AF65-F5344CB8AC3E}">
        <p14:creationId xmlns:p14="http://schemas.microsoft.com/office/powerpoint/2010/main" val="10585762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CA22534-7260-408E-BE2C-DF74268467A3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5CB4B7-E8BF-465A-A1C8-6BA08BFF7DF1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Yöntemlerin karşılaştırması</a:t>
            </a:r>
          </a:p>
        </p:txBody>
      </p:sp>
      <p:cxnSp>
        <p:nvCxnSpPr>
          <p:cNvPr id="15" name="Elbow Connector 14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graphicFrame>
        <p:nvGraphicFramePr>
          <p:cNvPr id="16" name="Table 15"/>
          <p:cNvGraphicFramePr/>
          <p:nvPr/>
        </p:nvGraphicFramePr>
        <p:xfrm>
          <a:off x="666750" y="1428750"/>
          <a:ext cx="10858500" cy="4095749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>
                      <a:solidFill>
                        <a:srgbClr val="C8D0D1"/>
                      </a:solidFill>
                      <a:prstDash val="soli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304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</a:rPr>
                        <a:t>Wachter vd. (2018)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>
                      <a:solidFill>
                        <a:srgbClr val="C8D0D1"/>
                      </a:solidFill>
                      <a:prstDash val="soli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304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</a:rPr>
                        <a:t>Dandl vd. (2020)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>
                      <a:solidFill>
                        <a:srgbClr val="C8D0D1"/>
                      </a:solidFill>
                      <a:prstDash val="soli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304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343C"/>
                          </a:solidFill>
                        </a:rPr>
                        <a:t>Hedefe ulaşma</a:t>
                      </a:r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43C"/>
                          </a:solidFill>
                        </a:rPr>
                        <a:t>✓  Karesel kayıp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43C"/>
                          </a:solidFill>
                        </a:rPr>
                        <a:t>✓  o₁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343C"/>
                          </a:solidFill>
                        </a:rPr>
                        <a:t>Örneğe benzerlik</a:t>
                      </a:r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43C"/>
                          </a:solidFill>
                        </a:rPr>
                        <a:t>✓  MAD-Manhattan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43C"/>
                          </a:solidFill>
                        </a:rPr>
                        <a:t>✓  Gower, o₂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343C"/>
                          </a:solidFill>
                        </a:rPr>
                        <a:t>Seyreklik</a:t>
                      </a:r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43C"/>
                          </a:solidFill>
                        </a:rPr>
                        <a:t>Sınırlı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43C"/>
                          </a:solidFill>
                        </a:rPr>
                        <a:t>✓  L₀, o₃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343C"/>
                          </a:solidFill>
                        </a:rPr>
                        <a:t>Olasılık / gerçekçilik</a:t>
                      </a:r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43C"/>
                          </a:solidFill>
                        </a:rPr>
                        <a:t>Yok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43C"/>
                          </a:solidFill>
                        </a:rPr>
                        <a:t>✓  En yakın gözlem, o₄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343C"/>
                          </a:solidFill>
                        </a:rPr>
                        <a:t>Kategorik özellikler</a:t>
                      </a:r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43C"/>
                          </a:solidFill>
                        </a:rPr>
                        <a:t>Zor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43C"/>
                          </a:solidFill>
                        </a:rPr>
                        <a:t>Doğal destek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343C"/>
                          </a:solidFill>
                        </a:rPr>
                        <a:t>Çıktı</a:t>
                      </a:r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43C"/>
                          </a:solidFill>
                        </a:rPr>
                        <a:t>Tek çözüm odaklı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43C"/>
                          </a:solidFill>
                        </a:rPr>
                        <a:t>Pareto çözüm kümesi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68DB426-D506-41A3-B7F6-38637C8236E3}"/>
              </a:ext>
            </a:extLst>
          </p:cNvPr>
          <p:cNvSpPr>
            <a:spLocks noGrp="1"/>
          </p:cNvSpPr>
          <p:nvPr/>
        </p:nvSpPr>
        <p:spPr>
          <a:xfrm>
            <a:off x="1619250" y="5810250"/>
            <a:ext cx="8953500" cy="400050"/>
          </a:xfrm>
          <a:prstGeom prst="rect">
            <a:avLst/>
          </a:prstGeom>
          <a:solidFill>
            <a:srgbClr val="F5E6BD"/>
          </a:solidFill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425" b="1">
                <a:solidFill>
                  <a:srgbClr val="24343C"/>
                </a:solidFill>
              </a:defRPr>
            </a:lvl1pPr>
            <a:lvl2pPr algn="ctr">
              <a:buNone/>
              <a:defRPr sz="1425" b="1">
                <a:solidFill>
                  <a:srgbClr val="24343C"/>
                </a:solidFill>
              </a:defRPr>
            </a:lvl2pPr>
            <a:lvl3pPr algn="ctr">
              <a:buNone/>
              <a:defRPr sz="1425" b="1">
                <a:solidFill>
                  <a:srgbClr val="24343C"/>
                </a:solidFill>
              </a:defRPr>
            </a:lvl3pPr>
            <a:lvl4pPr algn="ctr">
              <a:buNone/>
              <a:defRPr sz="1425" b="1">
                <a:solidFill>
                  <a:srgbClr val="24343C"/>
                </a:solidFill>
              </a:defRPr>
            </a:lvl4pPr>
            <a:lvl5pPr algn="ctr">
              <a:buNone/>
              <a:defRPr sz="1425" b="1">
                <a:solidFill>
                  <a:srgbClr val="24343C"/>
                </a:solidFill>
              </a:defRPr>
            </a:lvl5pPr>
            <a:lvl6pPr algn="ctr">
              <a:buNone/>
              <a:defRPr sz="1425" b="1">
                <a:solidFill>
                  <a:srgbClr val="24343C"/>
                </a:solidFill>
              </a:defRPr>
            </a:lvl6pPr>
            <a:lvl7pPr algn="ctr">
              <a:buNone/>
              <a:defRPr sz="1425" b="1">
                <a:solidFill>
                  <a:srgbClr val="24343C"/>
                </a:solidFill>
              </a:defRPr>
            </a:lvl7pPr>
            <a:lvl8pPr algn="ctr">
              <a:buNone/>
              <a:defRPr sz="1425" b="1">
                <a:solidFill>
                  <a:srgbClr val="24343C"/>
                </a:solidFill>
              </a:defRPr>
            </a:lvl8pPr>
            <a:lvl9pPr algn="ctr">
              <a:buNone/>
              <a:defRPr sz="1425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425" b="1">
                <a:solidFill>
                  <a:srgbClr val="24343C"/>
                </a:solidFill>
              </a:defRPr>
            </a:pPr>
            <a:r>
              <a:rPr sz="1425" b="1">
                <a:solidFill>
                  <a:srgbClr val="24343C"/>
                </a:solidFill>
              </a:rPr>
              <a:t>Wachter daha yalın; Dandl daha kapsamlı ve çeşitli çözüm üretmeye uygundur.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9FA339-8FC8-4702-98C8-98FAA47F0FC2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31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95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DB1509C-FC43-4F19-AB0D-24EFCF751BE5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7C5B01-6E12-4632-BE13-82362BFF9DC1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German Credit Risk örneği</a:t>
            </a:r>
          </a:p>
        </p:txBody>
      </p:sp>
      <p:cxnSp>
        <p:nvCxnSpPr>
          <p:cNvPr id="35" name="Elbow Connector 34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7D32A1-A290-46A7-B030-48B1B8FECA4B}"/>
              </a:ext>
            </a:extLst>
          </p:cNvPr>
          <p:cNvSpPr>
            <a:spLocks noGrp="1"/>
          </p:cNvSpPr>
          <p:nvPr/>
        </p:nvSpPr>
        <p:spPr>
          <a:xfrm>
            <a:off x="495300" y="1381125"/>
            <a:ext cx="3429000" cy="376237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8F874A-AB0D-4920-A631-F08D80C46D84}"/>
              </a:ext>
            </a:extLst>
          </p:cNvPr>
          <p:cNvSpPr>
            <a:spLocks noGrp="1"/>
          </p:cNvSpPr>
          <p:nvPr/>
        </p:nvSpPr>
        <p:spPr>
          <a:xfrm>
            <a:off x="495300" y="1381125"/>
            <a:ext cx="85725" cy="3762375"/>
          </a:xfrm>
          <a:prstGeom prst="rect">
            <a:avLst/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625D9C-3731-44C3-A00D-4719A53F89D2}"/>
              </a:ext>
            </a:extLst>
          </p:cNvPr>
          <p:cNvSpPr>
            <a:spLocks noGrp="1"/>
          </p:cNvSpPr>
          <p:nvPr/>
        </p:nvSpPr>
        <p:spPr>
          <a:xfrm>
            <a:off x="723900" y="153352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Müşteri profili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5080B2-03B4-4BDD-A779-3FB835AABC5A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3048000" cy="3152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500" b="0">
                <a:solidFill>
                  <a:srgbClr val="6F7B7F"/>
                </a:solidFill>
              </a:defRPr>
            </a:lvl1pPr>
            <a:lvl2pPr algn="l">
              <a:buNone/>
              <a:defRPr sz="1500" b="0">
                <a:solidFill>
                  <a:srgbClr val="6F7B7F"/>
                </a:solidFill>
              </a:defRPr>
            </a:lvl2pPr>
            <a:lvl3pPr algn="l">
              <a:buNone/>
              <a:defRPr sz="1500" b="0">
                <a:solidFill>
                  <a:srgbClr val="6F7B7F"/>
                </a:solidFill>
              </a:defRPr>
            </a:lvl3pPr>
            <a:lvl4pPr algn="l">
              <a:buNone/>
              <a:defRPr sz="1500" b="0">
                <a:solidFill>
                  <a:srgbClr val="6F7B7F"/>
                </a:solidFill>
              </a:defRPr>
            </a:lvl4pPr>
            <a:lvl5pPr algn="l">
              <a:buNone/>
              <a:defRPr sz="1500" b="0">
                <a:solidFill>
                  <a:srgbClr val="6F7B7F"/>
                </a:solidFill>
              </a:defRPr>
            </a:lvl5pPr>
            <a:lvl6pPr algn="l">
              <a:buNone/>
              <a:defRPr sz="1500" b="0">
                <a:solidFill>
                  <a:srgbClr val="6F7B7F"/>
                </a:solidFill>
              </a:defRPr>
            </a:lvl6pPr>
            <a:lvl7pPr algn="l">
              <a:buNone/>
              <a:defRPr sz="1500" b="0">
                <a:solidFill>
                  <a:srgbClr val="6F7B7F"/>
                </a:solidFill>
              </a:defRPr>
            </a:lvl7pPr>
            <a:lvl8pPr algn="l">
              <a:buNone/>
              <a:defRPr sz="1500" b="0">
                <a:solidFill>
                  <a:srgbClr val="6F7B7F"/>
                </a:solidFill>
              </a:defRPr>
            </a:lvl8pPr>
            <a:lvl9pPr algn="l">
              <a:buNone/>
              <a:defRPr sz="150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Yaş: 58</a:t>
            </a:r>
          </a:p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Cinsiyet: kadın</a:t>
            </a:r>
          </a:p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İş: vasıfsız</a:t>
            </a:r>
          </a:p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Konut: bedelsiz</a:t>
            </a:r>
          </a:p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Birikim: az</a:t>
            </a:r>
          </a:p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Kredi tutarı: 6.143</a:t>
            </a:r>
          </a:p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Süre: 48 ay</a:t>
            </a:r>
          </a:p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Amaç: otomobil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BD10F5F-2505-45A2-9FAF-2C370DF2206D}"/>
              </a:ext>
            </a:extLst>
          </p:cNvPr>
          <p:cNvSpPr>
            <a:spLocks noGrp="1"/>
          </p:cNvSpPr>
          <p:nvPr/>
        </p:nvSpPr>
        <p:spPr>
          <a:xfrm>
            <a:off x="4524375" y="1381125"/>
            <a:ext cx="7172325" cy="3762375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595A77-982C-4CCD-836A-CBB1B5C20A65}"/>
              </a:ext>
            </a:extLst>
          </p:cNvPr>
          <p:cNvSpPr>
            <a:spLocks noGrp="1"/>
          </p:cNvSpPr>
          <p:nvPr/>
        </p:nvSpPr>
        <p:spPr>
          <a:xfrm>
            <a:off x="4810125" y="1619250"/>
            <a:ext cx="657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650" b="1">
                <a:solidFill>
                  <a:srgbClr val="24343C"/>
                </a:solidFill>
              </a:defRPr>
            </a:lvl1pPr>
            <a:lvl2pPr algn="l">
              <a:buNone/>
              <a:defRPr sz="1650" b="1">
                <a:solidFill>
                  <a:srgbClr val="24343C"/>
                </a:solidFill>
              </a:defRPr>
            </a:lvl2pPr>
            <a:lvl3pPr algn="l">
              <a:buNone/>
              <a:defRPr sz="1650" b="1">
                <a:solidFill>
                  <a:srgbClr val="24343C"/>
                </a:solidFill>
              </a:defRPr>
            </a:lvl3pPr>
            <a:lvl4pPr algn="l">
              <a:buNone/>
              <a:defRPr sz="1650" b="1">
                <a:solidFill>
                  <a:srgbClr val="24343C"/>
                </a:solidFill>
              </a:defRPr>
            </a:lvl4pPr>
            <a:lvl5pPr algn="l">
              <a:buNone/>
              <a:defRPr sz="1650" b="1">
                <a:solidFill>
                  <a:srgbClr val="24343C"/>
                </a:solidFill>
              </a:defRPr>
            </a:lvl5pPr>
            <a:lvl6pPr algn="l">
              <a:buNone/>
              <a:defRPr sz="1650" b="1">
                <a:solidFill>
                  <a:srgbClr val="24343C"/>
                </a:solidFill>
              </a:defRPr>
            </a:lvl6pPr>
            <a:lvl7pPr algn="l">
              <a:buNone/>
              <a:defRPr sz="1650" b="1">
                <a:solidFill>
                  <a:srgbClr val="24343C"/>
                </a:solidFill>
              </a:defRPr>
            </a:lvl7pPr>
            <a:lvl8pPr algn="l">
              <a:buNone/>
              <a:defRPr sz="1650" b="1">
                <a:solidFill>
                  <a:srgbClr val="24343C"/>
                </a:solidFill>
              </a:defRPr>
            </a:lvl8pPr>
            <a:lvl9pPr algn="l">
              <a:buNone/>
              <a:defRPr sz="16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650" b="1">
                <a:solidFill>
                  <a:srgbClr val="24343C"/>
                </a:solidFill>
              </a:defRPr>
            </a:pPr>
            <a:r>
              <a:rPr sz="1650" b="1">
                <a:solidFill>
                  <a:srgbClr val="24343C"/>
                </a:solidFill>
              </a:rPr>
              <a:t>Model ve hedef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943651-1015-42C8-90D0-8C1767178222}"/>
              </a:ext>
            </a:extLst>
          </p:cNvPr>
          <p:cNvSpPr>
            <a:spLocks noGrp="1"/>
          </p:cNvSpPr>
          <p:nvPr/>
        </p:nvSpPr>
        <p:spPr>
          <a:xfrm>
            <a:off x="4810125" y="2238375"/>
            <a:ext cx="285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650" b="0">
                <a:solidFill>
                  <a:srgbClr val="6F7B7F"/>
                </a:solidFill>
              </a:defRPr>
            </a:lvl1pPr>
            <a:lvl2pPr algn="l">
              <a:buNone/>
              <a:defRPr sz="1650" b="0">
                <a:solidFill>
                  <a:srgbClr val="6F7B7F"/>
                </a:solidFill>
              </a:defRPr>
            </a:lvl2pPr>
            <a:lvl3pPr algn="l">
              <a:buNone/>
              <a:defRPr sz="1650" b="0">
                <a:solidFill>
                  <a:srgbClr val="6F7B7F"/>
                </a:solidFill>
              </a:defRPr>
            </a:lvl3pPr>
            <a:lvl4pPr algn="l">
              <a:buNone/>
              <a:defRPr sz="1650" b="0">
                <a:solidFill>
                  <a:srgbClr val="6F7B7F"/>
                </a:solidFill>
              </a:defRPr>
            </a:lvl4pPr>
            <a:lvl5pPr algn="l">
              <a:buNone/>
              <a:defRPr sz="1650" b="0">
                <a:solidFill>
                  <a:srgbClr val="6F7B7F"/>
                </a:solidFill>
              </a:defRPr>
            </a:lvl5pPr>
            <a:lvl6pPr algn="l">
              <a:buNone/>
              <a:defRPr sz="1650" b="0">
                <a:solidFill>
                  <a:srgbClr val="6F7B7F"/>
                </a:solidFill>
              </a:defRPr>
            </a:lvl6pPr>
            <a:lvl7pPr algn="l">
              <a:buNone/>
              <a:defRPr sz="1650" b="0">
                <a:solidFill>
                  <a:srgbClr val="6F7B7F"/>
                </a:solidFill>
              </a:defRPr>
            </a:lvl7pPr>
            <a:lvl8pPr algn="l">
              <a:buNone/>
              <a:defRPr sz="1650" b="0">
                <a:solidFill>
                  <a:srgbClr val="6F7B7F"/>
                </a:solidFill>
              </a:defRPr>
            </a:lvl8pPr>
            <a:lvl9pPr algn="l">
              <a:buNone/>
              <a:defRPr sz="165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650" b="0">
                <a:solidFill>
                  <a:srgbClr val="6F7B7F"/>
                </a:solidFill>
              </a:defRPr>
            </a:pPr>
            <a:r>
              <a:rPr sz="1650" b="0">
                <a:solidFill>
                  <a:srgbClr val="6F7B7F"/>
                </a:solidFill>
              </a:rPr>
              <a:t>522 eksiksiz gözlem</a:t>
            </a:r>
          </a:p>
          <a:p>
            <a:pPr algn="l">
              <a:buNone/>
              <a:defRPr sz="1650" b="0">
                <a:solidFill>
                  <a:srgbClr val="6F7B7F"/>
                </a:solidFill>
              </a:defRPr>
            </a:pPr>
            <a:r>
              <a:rPr sz="1650" b="0">
                <a:solidFill>
                  <a:srgbClr val="6F7B7F"/>
                </a:solidFill>
              </a:rPr>
              <a:t>9 özellik</a:t>
            </a:r>
          </a:p>
          <a:p>
            <a:pPr algn="l">
              <a:buNone/>
              <a:defRPr sz="1650" b="0">
                <a:solidFill>
                  <a:srgbClr val="6F7B7F"/>
                </a:solidFill>
              </a:defRPr>
            </a:pPr>
            <a:r>
              <a:rPr sz="1650" b="0">
                <a:solidFill>
                  <a:srgbClr val="6F7B7F"/>
                </a:solidFill>
              </a:rPr>
              <a:t>Radyal tabanlı çekirdekli SVM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7C27B80-D338-4D8A-99EE-C8E9EA1C65F9}"/>
              </a:ext>
            </a:extLst>
          </p:cNvPr>
          <p:cNvSpPr>
            <a:spLocks noGrp="1"/>
          </p:cNvSpPr>
          <p:nvPr/>
        </p:nvSpPr>
        <p:spPr>
          <a:xfrm>
            <a:off x="8096250" y="2143125"/>
            <a:ext cx="2714625" cy="1524000"/>
          </a:xfrm>
          <a:prstGeom prst="roundRect">
            <a:avLst>
              <a:gd name="adj" fmla="val 5000"/>
            </a:avLst>
          </a:prstGeom>
          <a:solidFill>
            <a:srgbClr val="F8DDD5"/>
          </a:solidFill>
          <a:ln w="9525">
            <a:solidFill>
              <a:srgbClr val="E65E3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625214-2082-40C2-9075-DE937D93D6FC}"/>
              </a:ext>
            </a:extLst>
          </p:cNvPr>
          <p:cNvSpPr>
            <a:spLocks noGrp="1"/>
          </p:cNvSpPr>
          <p:nvPr/>
        </p:nvSpPr>
        <p:spPr>
          <a:xfrm>
            <a:off x="8239125" y="2333625"/>
            <a:ext cx="2428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ctr">
              <a:buNone/>
              <a:defRPr sz="3150" b="1">
                <a:solidFill>
                  <a:srgbClr val="E65E3F"/>
                </a:solidFill>
              </a:defRPr>
            </a:lvl1pPr>
            <a:lvl2pPr algn="ctr">
              <a:buNone/>
              <a:defRPr sz="3150" b="1">
                <a:solidFill>
                  <a:srgbClr val="E65E3F"/>
                </a:solidFill>
              </a:defRPr>
            </a:lvl2pPr>
            <a:lvl3pPr algn="ctr">
              <a:buNone/>
              <a:defRPr sz="3150" b="1">
                <a:solidFill>
                  <a:srgbClr val="E65E3F"/>
                </a:solidFill>
              </a:defRPr>
            </a:lvl3pPr>
            <a:lvl4pPr algn="ctr">
              <a:buNone/>
              <a:defRPr sz="3150" b="1">
                <a:solidFill>
                  <a:srgbClr val="E65E3F"/>
                </a:solidFill>
              </a:defRPr>
            </a:lvl4pPr>
            <a:lvl5pPr algn="ctr">
              <a:buNone/>
              <a:defRPr sz="3150" b="1">
                <a:solidFill>
                  <a:srgbClr val="E65E3F"/>
                </a:solidFill>
              </a:defRPr>
            </a:lvl5pPr>
            <a:lvl6pPr algn="ctr">
              <a:buNone/>
              <a:defRPr sz="3150" b="1">
                <a:solidFill>
                  <a:srgbClr val="E65E3F"/>
                </a:solidFill>
              </a:defRPr>
            </a:lvl6pPr>
            <a:lvl7pPr algn="ctr">
              <a:buNone/>
              <a:defRPr sz="3150" b="1">
                <a:solidFill>
                  <a:srgbClr val="E65E3F"/>
                </a:solidFill>
              </a:defRPr>
            </a:lvl7pPr>
            <a:lvl8pPr algn="ctr">
              <a:buNone/>
              <a:defRPr sz="3150" b="1">
                <a:solidFill>
                  <a:srgbClr val="E65E3F"/>
                </a:solidFill>
              </a:defRPr>
            </a:lvl8pPr>
            <a:lvl9pPr algn="ctr">
              <a:buNone/>
              <a:defRPr sz="3150" b="1">
                <a:solidFill>
                  <a:srgbClr val="E65E3F"/>
                </a:solidFill>
              </a:defRPr>
            </a:lvl9pPr>
          </a:lstStyle>
          <a:p>
            <a:pPr algn="ctr">
              <a:buNone/>
              <a:defRPr sz="3150" b="1">
                <a:solidFill>
                  <a:srgbClr val="E65E3F"/>
                </a:solidFill>
              </a:defRPr>
            </a:pPr>
            <a:r>
              <a:rPr sz="3150" b="1">
                <a:solidFill>
                  <a:srgbClr val="E65E3F"/>
                </a:solidFill>
              </a:rPr>
              <a:t>%24,2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CE6EF4-BEEE-4E0D-BEF5-E32C40771D5D}"/>
              </a:ext>
            </a:extLst>
          </p:cNvPr>
          <p:cNvSpPr>
            <a:spLocks noGrp="1"/>
          </p:cNvSpPr>
          <p:nvPr/>
        </p:nvSpPr>
        <p:spPr>
          <a:xfrm>
            <a:off x="8239125" y="2952750"/>
            <a:ext cx="2428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ctr">
              <a:buNone/>
              <a:defRPr sz="1275" b="0">
                <a:solidFill>
                  <a:srgbClr val="24343C"/>
                </a:solidFill>
              </a:defRPr>
            </a:lvl1pPr>
            <a:lvl2pPr algn="ctr">
              <a:buNone/>
              <a:defRPr sz="1275" b="0">
                <a:solidFill>
                  <a:srgbClr val="24343C"/>
                </a:solidFill>
              </a:defRPr>
            </a:lvl2pPr>
            <a:lvl3pPr algn="ctr">
              <a:buNone/>
              <a:defRPr sz="1275" b="0">
                <a:solidFill>
                  <a:srgbClr val="24343C"/>
                </a:solidFill>
              </a:defRPr>
            </a:lvl3pPr>
            <a:lvl4pPr algn="ctr">
              <a:buNone/>
              <a:defRPr sz="1275" b="0">
                <a:solidFill>
                  <a:srgbClr val="24343C"/>
                </a:solidFill>
              </a:defRPr>
            </a:lvl4pPr>
            <a:lvl5pPr algn="ctr">
              <a:buNone/>
              <a:defRPr sz="1275" b="0">
                <a:solidFill>
                  <a:srgbClr val="24343C"/>
                </a:solidFill>
              </a:defRPr>
            </a:lvl5pPr>
            <a:lvl6pPr algn="ctr">
              <a:buNone/>
              <a:defRPr sz="1275" b="0">
                <a:solidFill>
                  <a:srgbClr val="24343C"/>
                </a:solidFill>
              </a:defRPr>
            </a:lvl6pPr>
            <a:lvl7pPr algn="ctr">
              <a:buNone/>
              <a:defRPr sz="1275" b="0">
                <a:solidFill>
                  <a:srgbClr val="24343C"/>
                </a:solidFill>
              </a:defRPr>
            </a:lvl7pPr>
            <a:lvl8pPr algn="ctr">
              <a:buNone/>
              <a:defRPr sz="1275" b="0">
                <a:solidFill>
                  <a:srgbClr val="24343C"/>
                </a:solidFill>
              </a:defRPr>
            </a:lvl8pPr>
            <a:lvl9pPr algn="ctr">
              <a:buNone/>
              <a:defRPr sz="1275" b="0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275" b="0">
                <a:solidFill>
                  <a:srgbClr val="24343C"/>
                </a:solidFill>
              </a:defRPr>
            </a:pPr>
            <a:r>
              <a:rPr sz="1275" b="0">
                <a:solidFill>
                  <a:srgbClr val="24343C"/>
                </a:solidFill>
              </a:rPr>
              <a:t>iyi kredi riski olasılığı</a:t>
            </a:r>
          </a:p>
        </p:txBody>
      </p:sp>
      <p:cxnSp>
        <p:nvCxnSpPr>
          <p:cNvPr id="46" name="Elbow Connector 45"/>
          <p:cNvCxnSpPr/>
          <p:nvPr/>
        </p:nvCxnSpPr>
        <p:spPr>
          <a:xfrm>
            <a:off x="7239000" y="4191000"/>
            <a:ext cx="1809750" cy="0"/>
          </a:xfrm>
          <a:prstGeom prst="bentConnector4">
            <a:avLst/>
          </a:prstGeom>
          <a:ln w="38100">
            <a:solidFill>
              <a:srgbClr val="30424B"/>
            </a:solidFill>
            <a:prstDash val="solid"/>
            <a:headEnd type="triangle" w="med" len="med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479C56A-4F9B-4623-90EE-2E6E3834249A}"/>
              </a:ext>
            </a:extLst>
          </p:cNvPr>
          <p:cNvSpPr>
            <a:spLocks noGrp="1"/>
          </p:cNvSpPr>
          <p:nvPr/>
        </p:nvSpPr>
        <p:spPr>
          <a:xfrm>
            <a:off x="9048750" y="4000500"/>
            <a:ext cx="2143125" cy="400050"/>
          </a:xfrm>
          <a:prstGeom prst="rect">
            <a:avLst/>
          </a:prstGeom>
          <a:solidFill>
            <a:srgbClr val="E7ECEB"/>
          </a:solidFill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350" b="1">
                <a:solidFill>
                  <a:srgbClr val="30424B"/>
                </a:solidFill>
              </a:defRPr>
            </a:lvl1pPr>
            <a:lvl2pPr algn="ctr">
              <a:buNone/>
              <a:defRPr sz="1350" b="1">
                <a:solidFill>
                  <a:srgbClr val="30424B"/>
                </a:solidFill>
              </a:defRPr>
            </a:lvl2pPr>
            <a:lvl3pPr algn="ctr">
              <a:buNone/>
              <a:defRPr sz="1350" b="1">
                <a:solidFill>
                  <a:srgbClr val="30424B"/>
                </a:solidFill>
              </a:defRPr>
            </a:lvl3pPr>
            <a:lvl4pPr algn="ctr">
              <a:buNone/>
              <a:defRPr sz="1350" b="1">
                <a:solidFill>
                  <a:srgbClr val="30424B"/>
                </a:solidFill>
              </a:defRPr>
            </a:lvl4pPr>
            <a:lvl5pPr algn="ctr">
              <a:buNone/>
              <a:defRPr sz="1350" b="1">
                <a:solidFill>
                  <a:srgbClr val="30424B"/>
                </a:solidFill>
              </a:defRPr>
            </a:lvl5pPr>
            <a:lvl6pPr algn="ctr">
              <a:buNone/>
              <a:defRPr sz="1350" b="1">
                <a:solidFill>
                  <a:srgbClr val="30424B"/>
                </a:solidFill>
              </a:defRPr>
            </a:lvl6pPr>
            <a:lvl7pPr algn="ctr">
              <a:buNone/>
              <a:defRPr sz="1350" b="1">
                <a:solidFill>
                  <a:srgbClr val="30424B"/>
                </a:solidFill>
              </a:defRPr>
            </a:lvl7pPr>
            <a:lvl8pPr algn="ctr">
              <a:buNone/>
              <a:defRPr sz="1350" b="1">
                <a:solidFill>
                  <a:srgbClr val="30424B"/>
                </a:solidFill>
              </a:defRPr>
            </a:lvl8pPr>
            <a:lvl9pPr algn="ctr">
              <a:buNone/>
              <a:defRPr sz="1350" b="1">
                <a:solidFill>
                  <a:srgbClr val="30424B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30424B"/>
                </a:solidFill>
              </a:defRPr>
            </a:pPr>
            <a:r>
              <a:rPr sz="1350" b="1">
                <a:solidFill>
                  <a:srgbClr val="30424B"/>
                </a:solidFill>
              </a:rPr>
              <a:t>hedef: %50’nin üzeri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AB4106-384F-41FA-8149-3545C7154BA6}"/>
              </a:ext>
            </a:extLst>
          </p:cNvPr>
          <p:cNvSpPr>
            <a:spLocks noGrp="1"/>
          </p:cNvSpPr>
          <p:nvPr/>
        </p:nvSpPr>
        <p:spPr>
          <a:xfrm>
            <a:off x="1476375" y="5572125"/>
            <a:ext cx="9239250" cy="457200"/>
          </a:xfrm>
          <a:prstGeom prst="rect">
            <a:avLst/>
          </a:prstGeom>
          <a:solidFill>
            <a:srgbClr val="F5E6BD"/>
          </a:solidFill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575" b="1">
                <a:solidFill>
                  <a:srgbClr val="24343C"/>
                </a:solidFill>
              </a:defRPr>
            </a:lvl1pPr>
            <a:lvl2pPr algn="ctr">
              <a:buNone/>
              <a:defRPr sz="1575" b="1">
                <a:solidFill>
                  <a:srgbClr val="24343C"/>
                </a:solidFill>
              </a:defRPr>
            </a:lvl2pPr>
            <a:lvl3pPr algn="ctr">
              <a:buNone/>
              <a:defRPr sz="1575" b="1">
                <a:solidFill>
                  <a:srgbClr val="24343C"/>
                </a:solidFill>
              </a:defRPr>
            </a:lvl3pPr>
            <a:lvl4pPr algn="ctr">
              <a:buNone/>
              <a:defRPr sz="1575" b="1">
                <a:solidFill>
                  <a:srgbClr val="24343C"/>
                </a:solidFill>
              </a:defRPr>
            </a:lvl4pPr>
            <a:lvl5pPr algn="ctr">
              <a:buNone/>
              <a:defRPr sz="1575" b="1">
                <a:solidFill>
                  <a:srgbClr val="24343C"/>
                </a:solidFill>
              </a:defRPr>
            </a:lvl5pPr>
            <a:lvl6pPr algn="ctr">
              <a:buNone/>
              <a:defRPr sz="1575" b="1">
                <a:solidFill>
                  <a:srgbClr val="24343C"/>
                </a:solidFill>
              </a:defRPr>
            </a:lvl6pPr>
            <a:lvl7pPr algn="ctr">
              <a:buNone/>
              <a:defRPr sz="1575" b="1">
                <a:solidFill>
                  <a:srgbClr val="24343C"/>
                </a:solidFill>
              </a:defRPr>
            </a:lvl7pPr>
            <a:lvl8pPr algn="ctr">
              <a:buNone/>
              <a:defRPr sz="1575" b="1">
                <a:solidFill>
                  <a:srgbClr val="24343C"/>
                </a:solidFill>
              </a:defRPr>
            </a:lvl8pPr>
            <a:lvl9pPr algn="ctr">
              <a:buNone/>
              <a:defRPr sz="1575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575" b="1">
                <a:solidFill>
                  <a:srgbClr val="24343C"/>
                </a:solidFill>
              </a:defRPr>
            </a:pPr>
            <a:r>
              <a:rPr sz="1575" b="1">
                <a:solidFill>
                  <a:srgbClr val="24343C"/>
                </a:solidFill>
              </a:rPr>
              <a:t>Soru: Tahmini %50’nin üzerine çıkarmak için hangi özellikler değişmeli?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64F204-D671-49E2-9340-BFAC5F9176D4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32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181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BCA1E5-18F2-4E78-935B-AFC31D3C783D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F36C4A-454E-47D1-8883-F4E14A70ADBB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Örnek karşı-olgusal sonuçlar</a:t>
            </a:r>
          </a:p>
        </p:txBody>
      </p:sp>
      <p:cxnSp>
        <p:nvCxnSpPr>
          <p:cNvPr id="15" name="Elbow Connector 14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graphicFrame>
        <p:nvGraphicFramePr>
          <p:cNvPr id="16" name="Table 15"/>
          <p:cNvGraphicFramePr/>
          <p:nvPr/>
        </p:nvGraphicFramePr>
        <p:xfrm>
          <a:off x="400050" y="1381125"/>
          <a:ext cx="8667750" cy="381000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</a:rPr>
                        <a:t>Yaş Δ</a:t>
                      </a:r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>
                      <a:solidFill>
                        <a:srgbClr val="C8D0D1"/>
                      </a:solidFill>
                      <a:prstDash val="soli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304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</a:rPr>
                        <a:t>Cinsiyet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>
                      <a:solidFill>
                        <a:srgbClr val="C8D0D1"/>
                      </a:solidFill>
                      <a:prstDash val="soli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304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</a:rPr>
                        <a:t>İş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>
                      <a:solidFill>
                        <a:srgbClr val="C8D0D1"/>
                      </a:solidFill>
                      <a:prstDash val="soli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304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</a:rPr>
                        <a:t>Tutar 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>
                      <a:solidFill>
                        <a:srgbClr val="C8D0D1"/>
                      </a:solidFill>
                      <a:prstDash val="soli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304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</a:rPr>
                        <a:t>Süre 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>
                      <a:solidFill>
                        <a:srgbClr val="C8D0D1"/>
                      </a:solidFill>
                      <a:prstDash val="soli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304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</a:rPr>
                        <a:t>o₂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>
                      <a:solidFill>
                        <a:srgbClr val="C8D0D1"/>
                      </a:solidFill>
                      <a:prstDash val="soli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304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</a:rPr>
                        <a:t>o₃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>
                      <a:solidFill>
                        <a:srgbClr val="C8D0D1"/>
                      </a:solidFill>
                      <a:prstDash val="soli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304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</a:rPr>
                        <a:t>o₄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>
                      <a:solidFill>
                        <a:srgbClr val="C8D0D1"/>
                      </a:solidFill>
                      <a:prstDash val="soli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304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</a:rPr>
                        <a:t>f(x′)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>
                      <a:solidFill>
                        <a:srgbClr val="C8D0D1"/>
                      </a:solidFill>
                      <a:prstDash val="soli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304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vasıflı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−20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0,108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0,036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E65E3F"/>
                          </a:solidFill>
                        </a:rPr>
                        <a:t>0,501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vasıflı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−24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0,114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0,029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E65E3F"/>
                          </a:solidFill>
                        </a:rPr>
                        <a:t>0,525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vasıflı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−22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0,111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0,033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E65E3F"/>
                          </a:solidFill>
                        </a:rPr>
                        <a:t>0,513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−6</a:t>
                      </a:r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vasıflı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−24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0,126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0,018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E65E3F"/>
                          </a:solidFill>
                        </a:rPr>
                        <a:t>0,505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−3</a:t>
                      </a:r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erkek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−24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0,195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0,012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E65E3F"/>
                          </a:solidFill>
                        </a:rPr>
                        <a:t>0,501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−30</a:t>
                      </a:r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erkek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vasıflı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−24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0,285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0,005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E65E3F"/>
                          </a:solidFill>
                        </a:rPr>
                        <a:t>0,590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E7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−4</a:t>
                      </a:r>
                    </a:p>
                  </a:txBody>
                  <a:tcPr anchor="ctr">
                    <a:lnL w="9525">
                      <a:solidFill>
                        <a:srgbClr val="C8D0D1"/>
                      </a:solidFill>
                      <a:prstDash val="soli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erkek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−1.254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−24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0,204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24343C"/>
                          </a:solidFill>
                        </a:rPr>
                        <a:t>0,002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E65E3F"/>
                          </a:solidFill>
                        </a:rPr>
                        <a:t>0,506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0D1"/>
                      </a:solidFill>
                      <a:prstDash val="solid"/>
                    </a:lnR>
                    <a:lnT w="9525" cap="flat" cmpd="sng" algn="ctr">
                      <a:solidFill>
                        <a:srgbClr val="C8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0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AB46CEF-390C-4017-A240-09B6F9C40664}"/>
              </a:ext>
            </a:extLst>
          </p:cNvPr>
          <p:cNvSpPr>
            <a:spLocks noGrp="1"/>
          </p:cNvSpPr>
          <p:nvPr/>
        </p:nvSpPr>
        <p:spPr>
          <a:xfrm>
            <a:off x="952500" y="5524500"/>
            <a:ext cx="10287000" cy="495300"/>
          </a:xfrm>
          <a:prstGeom prst="rect">
            <a:avLst/>
          </a:prstGeom>
          <a:solidFill>
            <a:srgbClr val="F8DDD5"/>
          </a:solidFill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425" b="1">
                <a:solidFill>
                  <a:srgbClr val="24343C"/>
                </a:solidFill>
              </a:defRPr>
            </a:lvl1pPr>
            <a:lvl2pPr algn="ctr">
              <a:buNone/>
              <a:defRPr sz="1425" b="1">
                <a:solidFill>
                  <a:srgbClr val="24343C"/>
                </a:solidFill>
              </a:defRPr>
            </a:lvl2pPr>
            <a:lvl3pPr algn="ctr">
              <a:buNone/>
              <a:defRPr sz="1425" b="1">
                <a:solidFill>
                  <a:srgbClr val="24343C"/>
                </a:solidFill>
              </a:defRPr>
            </a:lvl3pPr>
            <a:lvl4pPr algn="ctr">
              <a:buNone/>
              <a:defRPr sz="1425" b="1">
                <a:solidFill>
                  <a:srgbClr val="24343C"/>
                </a:solidFill>
              </a:defRPr>
            </a:lvl4pPr>
            <a:lvl5pPr algn="ctr">
              <a:buNone/>
              <a:defRPr sz="1425" b="1">
                <a:solidFill>
                  <a:srgbClr val="24343C"/>
                </a:solidFill>
              </a:defRPr>
            </a:lvl5pPr>
            <a:lvl6pPr algn="ctr">
              <a:buNone/>
              <a:defRPr sz="1425" b="1">
                <a:solidFill>
                  <a:srgbClr val="24343C"/>
                </a:solidFill>
              </a:defRPr>
            </a:lvl6pPr>
            <a:lvl7pPr algn="ctr">
              <a:buNone/>
              <a:defRPr sz="1425" b="1">
                <a:solidFill>
                  <a:srgbClr val="24343C"/>
                </a:solidFill>
              </a:defRPr>
            </a:lvl7pPr>
            <a:lvl8pPr algn="ctr">
              <a:buNone/>
              <a:defRPr sz="1425" b="1">
                <a:solidFill>
                  <a:srgbClr val="24343C"/>
                </a:solidFill>
              </a:defRPr>
            </a:lvl8pPr>
            <a:lvl9pPr algn="ctr">
              <a:buNone/>
              <a:defRPr sz="1425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425" b="1">
                <a:solidFill>
                  <a:srgbClr val="24343C"/>
                </a:solidFill>
              </a:defRPr>
            </a:pPr>
            <a:r>
              <a:rPr sz="1425" b="1">
                <a:solidFill>
                  <a:srgbClr val="24343C"/>
                </a:solidFill>
              </a:rPr>
              <a:t>Tüm adaylar hedefi karşılar: o₁ = 0 ve f(x′) &gt; 0,50. Hiçbiri tüm amaçlarda diğerlerine baskın değildir.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7D84C-F86B-4463-83C7-7E637D1E9C5E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33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2040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A23CBB0-AED5-4586-B3BB-E3F2B0EE5E22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954FA6-3019-435C-B4E2-E2E641C2F2D1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Sonuçların yorumu ve yanlılık sinyali</a:t>
            </a:r>
          </a:p>
        </p:txBody>
      </p:sp>
      <p:cxnSp>
        <p:nvCxnSpPr>
          <p:cNvPr id="23" name="Elbow Connector 22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9246FCD-828D-435A-99FD-CFFA7DC4021B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53340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976102-720D-4BF3-A12B-0538B977E6E9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85725" cy="1571625"/>
          </a:xfrm>
          <a:prstGeom prst="rect">
            <a:avLst/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4275E-39A0-492F-915A-F0056B5F4A50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Tutarlı öneri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88A6F0-60F8-4342-863B-33A8FF26B354}"/>
              </a:ext>
            </a:extLst>
          </p:cNvPr>
          <p:cNvSpPr>
            <a:spLocks noGrp="1"/>
          </p:cNvSpPr>
          <p:nvPr/>
        </p:nvSpPr>
        <p:spPr>
          <a:xfrm>
            <a:off x="723900" y="1924050"/>
            <a:ext cx="495300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575" b="0">
                <a:solidFill>
                  <a:srgbClr val="6F7B7F"/>
                </a:solidFill>
              </a:defRPr>
            </a:lvl1pPr>
            <a:lvl2pPr algn="l">
              <a:buNone/>
              <a:defRPr sz="1575" b="0">
                <a:solidFill>
                  <a:srgbClr val="6F7B7F"/>
                </a:solidFill>
              </a:defRPr>
            </a:lvl2pPr>
            <a:lvl3pPr algn="l">
              <a:buNone/>
              <a:defRPr sz="1575" b="0">
                <a:solidFill>
                  <a:srgbClr val="6F7B7F"/>
                </a:solidFill>
              </a:defRPr>
            </a:lvl3pPr>
            <a:lvl4pPr algn="l">
              <a:buNone/>
              <a:defRPr sz="1575" b="0">
                <a:solidFill>
                  <a:srgbClr val="6F7B7F"/>
                </a:solidFill>
              </a:defRPr>
            </a:lvl4pPr>
            <a:lvl5pPr algn="l">
              <a:buNone/>
              <a:defRPr sz="1575" b="0">
                <a:solidFill>
                  <a:srgbClr val="6F7B7F"/>
                </a:solidFill>
              </a:defRPr>
            </a:lvl5pPr>
            <a:lvl6pPr algn="l">
              <a:buNone/>
              <a:defRPr sz="1575" b="0">
                <a:solidFill>
                  <a:srgbClr val="6F7B7F"/>
                </a:solidFill>
              </a:defRPr>
            </a:lvl6pPr>
            <a:lvl7pPr algn="l">
              <a:buNone/>
              <a:defRPr sz="1575" b="0">
                <a:solidFill>
                  <a:srgbClr val="6F7B7F"/>
                </a:solidFill>
              </a:defRPr>
            </a:lvl7pPr>
            <a:lvl8pPr algn="l">
              <a:buNone/>
              <a:defRPr sz="1575" b="0">
                <a:solidFill>
                  <a:srgbClr val="6F7B7F"/>
                </a:solidFill>
              </a:defRPr>
            </a:lvl8pPr>
            <a:lvl9pPr algn="l">
              <a:buNone/>
              <a:defRPr sz="1575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575" b="0">
                <a:solidFill>
                  <a:srgbClr val="6F7B7F"/>
                </a:solidFill>
              </a:defRPr>
            </a:pPr>
            <a:r>
              <a:rPr sz="1575" b="0">
                <a:solidFill>
                  <a:srgbClr val="6F7B7F"/>
                </a:solidFill>
              </a:rPr>
              <a:t>Tüm karşı-olgusallar kredi süresinin en az 20 ay kısaltılmasını (48 aydan en fazla 28 aya) önerir.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D804097-C184-4615-B3EE-D256F797AC05}"/>
              </a:ext>
            </a:extLst>
          </p:cNvPr>
          <p:cNvSpPr>
            <a:spLocks noGrp="1"/>
          </p:cNvSpPr>
          <p:nvPr/>
        </p:nvSpPr>
        <p:spPr>
          <a:xfrm>
            <a:off x="6362700" y="1428750"/>
            <a:ext cx="53340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8CE7C1-52C2-45CA-B8CD-54C5A45F875E}"/>
              </a:ext>
            </a:extLst>
          </p:cNvPr>
          <p:cNvSpPr>
            <a:spLocks noGrp="1"/>
          </p:cNvSpPr>
          <p:nvPr/>
        </p:nvSpPr>
        <p:spPr>
          <a:xfrm>
            <a:off x="6362700" y="1428750"/>
            <a:ext cx="85725" cy="1571625"/>
          </a:xfrm>
          <a:prstGeom prst="rect">
            <a:avLst/>
          </a:prstGeom>
          <a:solidFill>
            <a:srgbClr val="E6B85C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ED0849-4206-42D4-ABA3-4D48BB1F99D1}"/>
              </a:ext>
            </a:extLst>
          </p:cNvPr>
          <p:cNvSpPr>
            <a:spLocks noGrp="1"/>
          </p:cNvSpPr>
          <p:nvPr/>
        </p:nvSpPr>
        <p:spPr>
          <a:xfrm>
            <a:off x="6591300" y="15811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İş durumu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AFBAFE-5E03-4CDB-A9B5-07B6F7521159}"/>
              </a:ext>
            </a:extLst>
          </p:cNvPr>
          <p:cNvSpPr>
            <a:spLocks noGrp="1"/>
          </p:cNvSpPr>
          <p:nvPr/>
        </p:nvSpPr>
        <p:spPr>
          <a:xfrm>
            <a:off x="6591300" y="1924050"/>
            <a:ext cx="495300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575" b="0">
                <a:solidFill>
                  <a:srgbClr val="6F7B7F"/>
                </a:solidFill>
              </a:defRPr>
            </a:lvl1pPr>
            <a:lvl2pPr algn="l">
              <a:buNone/>
              <a:defRPr sz="1575" b="0">
                <a:solidFill>
                  <a:srgbClr val="6F7B7F"/>
                </a:solidFill>
              </a:defRPr>
            </a:lvl2pPr>
            <a:lvl3pPr algn="l">
              <a:buNone/>
              <a:defRPr sz="1575" b="0">
                <a:solidFill>
                  <a:srgbClr val="6F7B7F"/>
                </a:solidFill>
              </a:defRPr>
            </a:lvl3pPr>
            <a:lvl4pPr algn="l">
              <a:buNone/>
              <a:defRPr sz="1575" b="0">
                <a:solidFill>
                  <a:srgbClr val="6F7B7F"/>
                </a:solidFill>
              </a:defRPr>
            </a:lvl4pPr>
            <a:lvl5pPr algn="l">
              <a:buNone/>
              <a:defRPr sz="1575" b="0">
                <a:solidFill>
                  <a:srgbClr val="6F7B7F"/>
                </a:solidFill>
              </a:defRPr>
            </a:lvl5pPr>
            <a:lvl6pPr algn="l">
              <a:buNone/>
              <a:defRPr sz="1575" b="0">
                <a:solidFill>
                  <a:srgbClr val="6F7B7F"/>
                </a:solidFill>
              </a:defRPr>
            </a:lvl6pPr>
            <a:lvl7pPr algn="l">
              <a:buNone/>
              <a:defRPr sz="1575" b="0">
                <a:solidFill>
                  <a:srgbClr val="6F7B7F"/>
                </a:solidFill>
              </a:defRPr>
            </a:lvl7pPr>
            <a:lvl8pPr algn="l">
              <a:buNone/>
              <a:defRPr sz="1575" b="0">
                <a:solidFill>
                  <a:srgbClr val="6F7B7F"/>
                </a:solidFill>
              </a:defRPr>
            </a:lvl8pPr>
            <a:lvl9pPr algn="l">
              <a:buNone/>
              <a:defRPr sz="1575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575" b="0">
                <a:solidFill>
                  <a:srgbClr val="6F7B7F"/>
                </a:solidFill>
              </a:defRPr>
            </a:pPr>
            <a:r>
              <a:rPr sz="1575" b="0">
                <a:solidFill>
                  <a:srgbClr val="6F7B7F"/>
                </a:solidFill>
              </a:rPr>
              <a:t>Bazı çözümler, iş durumunun “vasıfsız”dan “vasıflı”ya değişmesini önerir.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2B18B0-C3E9-4C52-BC9B-90D9DEC9534F}"/>
              </a:ext>
            </a:extLst>
          </p:cNvPr>
          <p:cNvSpPr>
            <a:spLocks noGrp="1"/>
          </p:cNvSpPr>
          <p:nvPr/>
        </p:nvSpPr>
        <p:spPr>
          <a:xfrm>
            <a:off x="1714500" y="3571875"/>
            <a:ext cx="8763000" cy="1666875"/>
          </a:xfrm>
          <a:prstGeom prst="roundRect">
            <a:avLst>
              <a:gd name="adj" fmla="val 4571"/>
            </a:avLst>
          </a:prstGeom>
          <a:solidFill>
            <a:srgbClr val="F8DDD5"/>
          </a:solidFill>
          <a:ln w="9525">
            <a:solidFill>
              <a:srgbClr val="E65E3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F717AD-2331-47B3-BA67-BB044E65CB00}"/>
              </a:ext>
            </a:extLst>
          </p:cNvPr>
          <p:cNvSpPr>
            <a:spLocks noGrp="1"/>
          </p:cNvSpPr>
          <p:nvPr/>
        </p:nvSpPr>
        <p:spPr>
          <a:xfrm>
            <a:off x="2095500" y="3810000"/>
            <a:ext cx="800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ctr">
              <a:buNone/>
              <a:defRPr sz="1875" b="1">
                <a:solidFill>
                  <a:srgbClr val="E65E3F"/>
                </a:solidFill>
              </a:defRPr>
            </a:lvl1pPr>
            <a:lvl2pPr algn="ctr">
              <a:buNone/>
              <a:defRPr sz="1875" b="1">
                <a:solidFill>
                  <a:srgbClr val="E65E3F"/>
                </a:solidFill>
              </a:defRPr>
            </a:lvl2pPr>
            <a:lvl3pPr algn="ctr">
              <a:buNone/>
              <a:defRPr sz="1875" b="1">
                <a:solidFill>
                  <a:srgbClr val="E65E3F"/>
                </a:solidFill>
              </a:defRPr>
            </a:lvl3pPr>
            <a:lvl4pPr algn="ctr">
              <a:buNone/>
              <a:defRPr sz="1875" b="1">
                <a:solidFill>
                  <a:srgbClr val="E65E3F"/>
                </a:solidFill>
              </a:defRPr>
            </a:lvl4pPr>
            <a:lvl5pPr algn="ctr">
              <a:buNone/>
              <a:defRPr sz="1875" b="1">
                <a:solidFill>
                  <a:srgbClr val="E65E3F"/>
                </a:solidFill>
              </a:defRPr>
            </a:lvl5pPr>
            <a:lvl6pPr algn="ctr">
              <a:buNone/>
              <a:defRPr sz="1875" b="1">
                <a:solidFill>
                  <a:srgbClr val="E65E3F"/>
                </a:solidFill>
              </a:defRPr>
            </a:lvl6pPr>
            <a:lvl7pPr algn="ctr">
              <a:buNone/>
              <a:defRPr sz="1875" b="1">
                <a:solidFill>
                  <a:srgbClr val="E65E3F"/>
                </a:solidFill>
              </a:defRPr>
            </a:lvl7pPr>
            <a:lvl8pPr algn="ctr">
              <a:buNone/>
              <a:defRPr sz="1875" b="1">
                <a:solidFill>
                  <a:srgbClr val="E65E3F"/>
                </a:solidFill>
              </a:defRPr>
            </a:lvl8pPr>
            <a:lvl9pPr algn="ctr">
              <a:buNone/>
              <a:defRPr sz="1875" b="1">
                <a:solidFill>
                  <a:srgbClr val="E65E3F"/>
                </a:solidFill>
              </a:defRPr>
            </a:lvl9pPr>
          </a:lstStyle>
          <a:p>
            <a:pPr algn="ctr">
              <a:buNone/>
              <a:defRPr sz="1875" b="1">
                <a:solidFill>
                  <a:srgbClr val="E65E3F"/>
                </a:solidFill>
              </a:defRPr>
            </a:pPr>
            <a:r>
              <a:rPr sz="1875" b="1">
                <a:solidFill>
                  <a:srgbClr val="E65E3F"/>
                </a:solidFill>
              </a:rPr>
              <a:t>Cinsiyet değişikliği bir eylem önerisi değildir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B035F5-985A-4203-AF38-D36CCB58B61D}"/>
              </a:ext>
            </a:extLst>
          </p:cNvPr>
          <p:cNvSpPr>
            <a:spLocks noGrp="1"/>
          </p:cNvSpPr>
          <p:nvPr/>
        </p:nvSpPr>
        <p:spPr>
          <a:xfrm>
            <a:off x="2286000" y="4333875"/>
            <a:ext cx="7620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ctr">
              <a:buNone/>
              <a:defRPr sz="1500" b="0">
                <a:solidFill>
                  <a:srgbClr val="24343C"/>
                </a:solidFill>
              </a:defRPr>
            </a:lvl1pPr>
            <a:lvl2pPr algn="ctr">
              <a:buNone/>
              <a:defRPr sz="1500" b="0">
                <a:solidFill>
                  <a:srgbClr val="24343C"/>
                </a:solidFill>
              </a:defRPr>
            </a:lvl2pPr>
            <a:lvl3pPr algn="ctr">
              <a:buNone/>
              <a:defRPr sz="1500" b="0">
                <a:solidFill>
                  <a:srgbClr val="24343C"/>
                </a:solidFill>
              </a:defRPr>
            </a:lvl3pPr>
            <a:lvl4pPr algn="ctr">
              <a:buNone/>
              <a:defRPr sz="1500" b="0">
                <a:solidFill>
                  <a:srgbClr val="24343C"/>
                </a:solidFill>
              </a:defRPr>
            </a:lvl4pPr>
            <a:lvl5pPr algn="ctr">
              <a:buNone/>
              <a:defRPr sz="1500" b="0">
                <a:solidFill>
                  <a:srgbClr val="24343C"/>
                </a:solidFill>
              </a:defRPr>
            </a:lvl5pPr>
            <a:lvl6pPr algn="ctr">
              <a:buNone/>
              <a:defRPr sz="1500" b="0">
                <a:solidFill>
                  <a:srgbClr val="24343C"/>
                </a:solidFill>
              </a:defRPr>
            </a:lvl6pPr>
            <a:lvl7pPr algn="ctr">
              <a:buNone/>
              <a:defRPr sz="1500" b="0">
                <a:solidFill>
                  <a:srgbClr val="24343C"/>
                </a:solidFill>
              </a:defRPr>
            </a:lvl7pPr>
            <a:lvl8pPr algn="ctr">
              <a:buNone/>
              <a:defRPr sz="1500" b="0">
                <a:solidFill>
                  <a:srgbClr val="24343C"/>
                </a:solidFill>
              </a:defRPr>
            </a:lvl8pPr>
            <a:lvl9pPr algn="ctr">
              <a:buNone/>
              <a:defRPr sz="1500" b="0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500" b="0">
                <a:solidFill>
                  <a:srgbClr val="24343C"/>
                </a:solidFill>
              </a:defRPr>
            </a:pPr>
            <a:r>
              <a:rPr sz="1500" b="0">
                <a:solidFill>
                  <a:srgbClr val="24343C"/>
                </a:solidFill>
              </a:rPr>
              <a:t>Bazı çözümlerin “kadın” yerine “erkek” önermesi modelde olası cinsiyet yanlılığına işaret eder. Değiştirilemez ya da etik dışı özellikler uygulanabilirlik kısıtıyla sabitlenmelidir.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E96E37-5ED1-45CE-A3E8-2F4E04CA4DB6}"/>
              </a:ext>
            </a:extLst>
          </p:cNvPr>
          <p:cNvSpPr>
            <a:spLocks noGrp="1"/>
          </p:cNvSpPr>
          <p:nvPr/>
        </p:nvSpPr>
        <p:spPr>
          <a:xfrm>
            <a:off x="1190625" y="5619750"/>
            <a:ext cx="9810750" cy="428625"/>
          </a:xfrm>
          <a:prstGeom prst="rect">
            <a:avLst/>
          </a:prstGeom>
          <a:solidFill>
            <a:srgbClr val="E7ECEB"/>
          </a:solidFill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500" b="1">
                <a:solidFill>
                  <a:srgbClr val="24343C"/>
                </a:solidFill>
              </a:defRPr>
            </a:lvl1pPr>
            <a:lvl2pPr algn="ctr">
              <a:buNone/>
              <a:defRPr sz="1500" b="1">
                <a:solidFill>
                  <a:srgbClr val="24343C"/>
                </a:solidFill>
              </a:defRPr>
            </a:lvl2pPr>
            <a:lvl3pPr algn="ctr">
              <a:buNone/>
              <a:defRPr sz="1500" b="1">
                <a:solidFill>
                  <a:srgbClr val="24343C"/>
                </a:solidFill>
              </a:defRPr>
            </a:lvl3pPr>
            <a:lvl4pPr algn="ctr">
              <a:buNone/>
              <a:defRPr sz="1500" b="1">
                <a:solidFill>
                  <a:srgbClr val="24343C"/>
                </a:solidFill>
              </a:defRPr>
            </a:lvl4pPr>
            <a:lvl5pPr algn="ctr">
              <a:buNone/>
              <a:defRPr sz="1500" b="1">
                <a:solidFill>
                  <a:srgbClr val="24343C"/>
                </a:solidFill>
              </a:defRPr>
            </a:lvl5pPr>
            <a:lvl6pPr algn="ctr">
              <a:buNone/>
              <a:defRPr sz="1500" b="1">
                <a:solidFill>
                  <a:srgbClr val="24343C"/>
                </a:solidFill>
              </a:defRPr>
            </a:lvl6pPr>
            <a:lvl7pPr algn="ctr">
              <a:buNone/>
              <a:defRPr sz="1500" b="1">
                <a:solidFill>
                  <a:srgbClr val="24343C"/>
                </a:solidFill>
              </a:defRPr>
            </a:lvl7pPr>
            <a:lvl8pPr algn="ctr">
              <a:buNone/>
              <a:defRPr sz="1500" b="1">
                <a:solidFill>
                  <a:srgbClr val="24343C"/>
                </a:solidFill>
              </a:defRPr>
            </a:lvl8pPr>
            <a:lvl9pPr algn="ctr">
              <a:buNone/>
              <a:defRPr sz="150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500" b="1">
                <a:solidFill>
                  <a:srgbClr val="24343C"/>
                </a:solidFill>
              </a:defRPr>
            </a:pPr>
            <a:r>
              <a:rPr sz="1500" b="1">
                <a:solidFill>
                  <a:srgbClr val="24343C"/>
                </a:solidFill>
              </a:rPr>
              <a:t>Karşı-olgusallar, modeldeki sorunları görünür kılabilir; otomatik olarak adil karar üretmez.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BDE6AA-33C8-4C8A-976C-6F8D9676196E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34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561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35A5D45-C77A-4A46-81AD-D4C09AEC2618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59BE55-1B6E-4E1A-888B-ECEB59A612E8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Güçlü yönler</a:t>
            </a:r>
          </a:p>
        </p:txBody>
      </p:sp>
      <p:cxnSp>
        <p:nvCxnSpPr>
          <p:cNvPr id="28" name="Elbow Connector 27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C0BC91E-3EC6-496E-AA09-88CD56303BAA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5505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2159C6-CBF9-4244-848F-B552D76585C9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85725" cy="1619250"/>
          </a:xfrm>
          <a:prstGeom prst="rect">
            <a:avLst/>
          </a:prstGeom>
          <a:solidFill>
            <a:srgbClr val="E65E3F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E984CA-07E0-49CF-9859-EB98F57A0CF6}"/>
              </a:ext>
            </a:extLst>
          </p:cNvPr>
          <p:cNvSpPr>
            <a:spLocks noGrp="1"/>
          </p:cNvSpPr>
          <p:nvPr/>
        </p:nvSpPr>
        <p:spPr>
          <a:xfrm>
            <a:off x="723900" y="1628775"/>
            <a:ext cx="512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Şeffaf ve seçici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10A1DE-FCEC-48A3-BADA-14D7C185956B}"/>
              </a:ext>
            </a:extLst>
          </p:cNvPr>
          <p:cNvSpPr>
            <a:spLocks noGrp="1"/>
          </p:cNvSpPr>
          <p:nvPr/>
        </p:nvSpPr>
        <p:spPr>
          <a:xfrm>
            <a:off x="723900" y="1971675"/>
            <a:ext cx="51244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500" b="0">
                <a:solidFill>
                  <a:srgbClr val="6F7B7F"/>
                </a:solidFill>
              </a:defRPr>
            </a:lvl1pPr>
            <a:lvl2pPr algn="l">
              <a:buNone/>
              <a:defRPr sz="1500" b="0">
                <a:solidFill>
                  <a:srgbClr val="6F7B7F"/>
                </a:solidFill>
              </a:defRPr>
            </a:lvl2pPr>
            <a:lvl3pPr algn="l">
              <a:buNone/>
              <a:defRPr sz="1500" b="0">
                <a:solidFill>
                  <a:srgbClr val="6F7B7F"/>
                </a:solidFill>
              </a:defRPr>
            </a:lvl3pPr>
            <a:lvl4pPr algn="l">
              <a:buNone/>
              <a:defRPr sz="1500" b="0">
                <a:solidFill>
                  <a:srgbClr val="6F7B7F"/>
                </a:solidFill>
              </a:defRPr>
            </a:lvl4pPr>
            <a:lvl5pPr algn="l">
              <a:buNone/>
              <a:defRPr sz="1500" b="0">
                <a:solidFill>
                  <a:srgbClr val="6F7B7F"/>
                </a:solidFill>
              </a:defRPr>
            </a:lvl5pPr>
            <a:lvl6pPr algn="l">
              <a:buNone/>
              <a:defRPr sz="1500" b="0">
                <a:solidFill>
                  <a:srgbClr val="6F7B7F"/>
                </a:solidFill>
              </a:defRPr>
            </a:lvl6pPr>
            <a:lvl7pPr algn="l">
              <a:buNone/>
              <a:defRPr sz="1500" b="0">
                <a:solidFill>
                  <a:srgbClr val="6F7B7F"/>
                </a:solidFill>
              </a:defRPr>
            </a:lvl7pPr>
            <a:lvl8pPr algn="l">
              <a:buNone/>
              <a:defRPr sz="1500" b="0">
                <a:solidFill>
                  <a:srgbClr val="6F7B7F"/>
                </a:solidFill>
              </a:defRPr>
            </a:lvl8pPr>
            <a:lvl9pPr algn="l">
              <a:buNone/>
              <a:defRPr sz="150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Yalnızca sonucu değiştiren özellikleri gösterir.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E578515-966A-4398-B052-982D11554BA6}"/>
              </a:ext>
            </a:extLst>
          </p:cNvPr>
          <p:cNvSpPr>
            <a:spLocks noGrp="1"/>
          </p:cNvSpPr>
          <p:nvPr/>
        </p:nvSpPr>
        <p:spPr>
          <a:xfrm>
            <a:off x="6191250" y="1476375"/>
            <a:ext cx="5505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4CA1F6-D1B5-48CE-AA2C-3EEA9EC3CD98}"/>
              </a:ext>
            </a:extLst>
          </p:cNvPr>
          <p:cNvSpPr>
            <a:spLocks noGrp="1"/>
          </p:cNvSpPr>
          <p:nvPr/>
        </p:nvSpPr>
        <p:spPr>
          <a:xfrm>
            <a:off x="6191250" y="1476375"/>
            <a:ext cx="85725" cy="1619250"/>
          </a:xfrm>
          <a:prstGeom prst="rect">
            <a:avLst/>
          </a:prstGeom>
          <a:solidFill>
            <a:srgbClr val="30424B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357220-A41F-4BE4-9A3A-D99FDC55CCDF}"/>
              </a:ext>
            </a:extLst>
          </p:cNvPr>
          <p:cNvSpPr>
            <a:spLocks noGrp="1"/>
          </p:cNvSpPr>
          <p:nvPr/>
        </p:nvSpPr>
        <p:spPr>
          <a:xfrm>
            <a:off x="6419850" y="1628775"/>
            <a:ext cx="512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Modelden bağımsız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32E90C-500D-4AE4-A66F-6C4AA8D349B9}"/>
              </a:ext>
            </a:extLst>
          </p:cNvPr>
          <p:cNvSpPr>
            <a:spLocks noGrp="1"/>
          </p:cNvSpPr>
          <p:nvPr/>
        </p:nvSpPr>
        <p:spPr>
          <a:xfrm>
            <a:off x="6419850" y="1971675"/>
            <a:ext cx="51244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500" b="0">
                <a:solidFill>
                  <a:srgbClr val="6F7B7F"/>
                </a:solidFill>
              </a:defRPr>
            </a:lvl1pPr>
            <a:lvl2pPr algn="l">
              <a:buNone/>
              <a:defRPr sz="1500" b="0">
                <a:solidFill>
                  <a:srgbClr val="6F7B7F"/>
                </a:solidFill>
              </a:defRPr>
            </a:lvl2pPr>
            <a:lvl3pPr algn="l">
              <a:buNone/>
              <a:defRPr sz="1500" b="0">
                <a:solidFill>
                  <a:srgbClr val="6F7B7F"/>
                </a:solidFill>
              </a:defRPr>
            </a:lvl3pPr>
            <a:lvl4pPr algn="l">
              <a:buNone/>
              <a:defRPr sz="1500" b="0">
                <a:solidFill>
                  <a:srgbClr val="6F7B7F"/>
                </a:solidFill>
              </a:defRPr>
            </a:lvl4pPr>
            <a:lvl5pPr algn="l">
              <a:buNone/>
              <a:defRPr sz="1500" b="0">
                <a:solidFill>
                  <a:srgbClr val="6F7B7F"/>
                </a:solidFill>
              </a:defRPr>
            </a:lvl5pPr>
            <a:lvl6pPr algn="l">
              <a:buNone/>
              <a:defRPr sz="1500" b="0">
                <a:solidFill>
                  <a:srgbClr val="6F7B7F"/>
                </a:solidFill>
              </a:defRPr>
            </a:lvl6pPr>
            <a:lvl7pPr algn="l">
              <a:buNone/>
              <a:defRPr sz="1500" b="0">
                <a:solidFill>
                  <a:srgbClr val="6F7B7F"/>
                </a:solidFill>
              </a:defRPr>
            </a:lvl7pPr>
            <a:lvl8pPr algn="l">
              <a:buNone/>
              <a:defRPr sz="1500" b="0">
                <a:solidFill>
                  <a:srgbClr val="6F7B7F"/>
                </a:solidFill>
              </a:defRPr>
            </a:lvl8pPr>
            <a:lvl9pPr algn="l">
              <a:buNone/>
              <a:defRPr sz="150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Tahmin fonksiyonuna erişim yeterlidir; API üzerinden çalışabilir.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12C98BB-6412-4DB6-943A-6FFC1FDE32E4}"/>
              </a:ext>
            </a:extLst>
          </p:cNvPr>
          <p:cNvSpPr>
            <a:spLocks noGrp="1"/>
          </p:cNvSpPr>
          <p:nvPr/>
        </p:nvSpPr>
        <p:spPr>
          <a:xfrm>
            <a:off x="495300" y="3429000"/>
            <a:ext cx="5505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1FA453-357A-4BBD-BE2F-1577EA37E790}"/>
              </a:ext>
            </a:extLst>
          </p:cNvPr>
          <p:cNvSpPr>
            <a:spLocks noGrp="1"/>
          </p:cNvSpPr>
          <p:nvPr/>
        </p:nvSpPr>
        <p:spPr>
          <a:xfrm>
            <a:off x="495300" y="3429000"/>
            <a:ext cx="85725" cy="1619250"/>
          </a:xfrm>
          <a:prstGeom prst="rect">
            <a:avLst/>
          </a:prstGeom>
          <a:solidFill>
            <a:srgbClr val="E6B85C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467B9A-67C1-4F99-B8F9-2F7D0E2DEE44}"/>
              </a:ext>
            </a:extLst>
          </p:cNvPr>
          <p:cNvSpPr>
            <a:spLocks noGrp="1"/>
          </p:cNvSpPr>
          <p:nvPr/>
        </p:nvSpPr>
        <p:spPr>
          <a:xfrm>
            <a:off x="723900" y="3581400"/>
            <a:ext cx="512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Geniş uygulanabilirlik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78017B-D96A-45F3-966F-E9B9964DBF8B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51244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500" b="0">
                <a:solidFill>
                  <a:srgbClr val="6F7B7F"/>
                </a:solidFill>
              </a:defRPr>
            </a:lvl1pPr>
            <a:lvl2pPr algn="l">
              <a:buNone/>
              <a:defRPr sz="1500" b="0">
                <a:solidFill>
                  <a:srgbClr val="6F7B7F"/>
                </a:solidFill>
              </a:defRPr>
            </a:lvl2pPr>
            <a:lvl3pPr algn="l">
              <a:buNone/>
              <a:defRPr sz="1500" b="0">
                <a:solidFill>
                  <a:srgbClr val="6F7B7F"/>
                </a:solidFill>
              </a:defRPr>
            </a:lvl3pPr>
            <a:lvl4pPr algn="l">
              <a:buNone/>
              <a:defRPr sz="1500" b="0">
                <a:solidFill>
                  <a:srgbClr val="6F7B7F"/>
                </a:solidFill>
              </a:defRPr>
            </a:lvl4pPr>
            <a:lvl5pPr algn="l">
              <a:buNone/>
              <a:defRPr sz="1500" b="0">
                <a:solidFill>
                  <a:srgbClr val="6F7B7F"/>
                </a:solidFill>
              </a:defRPr>
            </a:lvl5pPr>
            <a:lvl6pPr algn="l">
              <a:buNone/>
              <a:defRPr sz="1500" b="0">
                <a:solidFill>
                  <a:srgbClr val="6F7B7F"/>
                </a:solidFill>
              </a:defRPr>
            </a:lvl6pPr>
            <a:lvl7pPr algn="l">
              <a:buNone/>
              <a:defRPr sz="1500" b="0">
                <a:solidFill>
                  <a:srgbClr val="6F7B7F"/>
                </a:solidFill>
              </a:defRPr>
            </a:lvl7pPr>
            <a:lvl8pPr algn="l">
              <a:buNone/>
              <a:defRPr sz="1500" b="0">
                <a:solidFill>
                  <a:srgbClr val="6F7B7F"/>
                </a:solidFill>
              </a:defRPr>
            </a:lvl8pPr>
            <a:lvl9pPr algn="l">
              <a:buNone/>
              <a:defRPr sz="150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Makine öğrenmesi içermeyen kural tabanlı sistemlerde de kullanılabilir.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47B6545-D111-43D9-B740-912DD1C31B1E}"/>
              </a:ext>
            </a:extLst>
          </p:cNvPr>
          <p:cNvSpPr>
            <a:spLocks noGrp="1"/>
          </p:cNvSpPr>
          <p:nvPr/>
        </p:nvSpPr>
        <p:spPr>
          <a:xfrm>
            <a:off x="6191250" y="3429000"/>
            <a:ext cx="5505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88338-45AE-4E1C-BC1B-0E6B50382D83}"/>
              </a:ext>
            </a:extLst>
          </p:cNvPr>
          <p:cNvSpPr>
            <a:spLocks noGrp="1"/>
          </p:cNvSpPr>
          <p:nvPr/>
        </p:nvSpPr>
        <p:spPr>
          <a:xfrm>
            <a:off x="6191250" y="3429000"/>
            <a:ext cx="85725" cy="1619250"/>
          </a:xfrm>
          <a:prstGeom prst="rect">
            <a:avLst/>
          </a:prstGeom>
          <a:solidFill>
            <a:srgbClr val="B9C8CD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DA7FEF-FBD8-48FD-A277-45FB28E76BED}"/>
              </a:ext>
            </a:extLst>
          </p:cNvPr>
          <p:cNvSpPr>
            <a:spLocks noGrp="1"/>
          </p:cNvSpPr>
          <p:nvPr/>
        </p:nvSpPr>
        <p:spPr>
          <a:xfrm>
            <a:off x="6419850" y="3581400"/>
            <a:ext cx="512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Telafiye uygun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2D6344-ECF7-4C60-AFF5-8379EE043A83}"/>
              </a:ext>
            </a:extLst>
          </p:cNvPr>
          <p:cNvSpPr>
            <a:spLocks noGrp="1"/>
          </p:cNvSpPr>
          <p:nvPr/>
        </p:nvSpPr>
        <p:spPr>
          <a:xfrm>
            <a:off x="6419850" y="3924300"/>
            <a:ext cx="51244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500" b="0">
                <a:solidFill>
                  <a:srgbClr val="6F7B7F"/>
                </a:solidFill>
              </a:defRPr>
            </a:lvl1pPr>
            <a:lvl2pPr algn="l">
              <a:buNone/>
              <a:defRPr sz="1500" b="0">
                <a:solidFill>
                  <a:srgbClr val="6F7B7F"/>
                </a:solidFill>
              </a:defRPr>
            </a:lvl2pPr>
            <a:lvl3pPr algn="l">
              <a:buNone/>
              <a:defRPr sz="1500" b="0">
                <a:solidFill>
                  <a:srgbClr val="6F7B7F"/>
                </a:solidFill>
              </a:defRPr>
            </a:lvl3pPr>
            <a:lvl4pPr algn="l">
              <a:buNone/>
              <a:defRPr sz="1500" b="0">
                <a:solidFill>
                  <a:srgbClr val="6F7B7F"/>
                </a:solidFill>
              </a:defRPr>
            </a:lvl4pPr>
            <a:lvl5pPr algn="l">
              <a:buNone/>
              <a:defRPr sz="1500" b="0">
                <a:solidFill>
                  <a:srgbClr val="6F7B7F"/>
                </a:solidFill>
              </a:defRPr>
            </a:lvl5pPr>
            <a:lvl6pPr algn="l">
              <a:buNone/>
              <a:defRPr sz="1500" b="0">
                <a:solidFill>
                  <a:srgbClr val="6F7B7F"/>
                </a:solidFill>
              </a:defRPr>
            </a:lvl6pPr>
            <a:lvl7pPr algn="l">
              <a:buNone/>
              <a:defRPr sz="1500" b="0">
                <a:solidFill>
                  <a:srgbClr val="6F7B7F"/>
                </a:solidFill>
              </a:defRPr>
            </a:lvl7pPr>
            <a:lvl8pPr algn="l">
              <a:buNone/>
              <a:defRPr sz="1500" b="0">
                <a:solidFill>
                  <a:srgbClr val="6F7B7F"/>
                </a:solidFill>
              </a:defRPr>
            </a:lvl8pPr>
            <a:lvl9pPr algn="l">
              <a:buNone/>
              <a:defRPr sz="1500" b="0">
                <a:solidFill>
                  <a:srgbClr val="6F7B7F"/>
                </a:solidFill>
              </a:defRPr>
            </a:lvl9pPr>
          </a:lstStyle>
          <a:p>
            <a:pPr algn="l">
              <a:buNone/>
              <a:defRPr sz="1500" b="0">
                <a:solidFill>
                  <a:srgbClr val="6F7B7F"/>
                </a:solidFill>
              </a:defRPr>
            </a:pPr>
            <a:r>
              <a:rPr sz="1500" b="0">
                <a:solidFill>
                  <a:srgbClr val="6F7B7F"/>
                </a:solidFill>
              </a:rPr>
              <a:t>Kullanıcıya hedefe ulaşmak için somut değişiklik yolları sunar.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8E77F3-5FB1-475B-8000-4DE1D0AC5658}"/>
              </a:ext>
            </a:extLst>
          </p:cNvPr>
          <p:cNvSpPr>
            <a:spLocks noGrp="1"/>
          </p:cNvSpPr>
          <p:nvPr/>
        </p:nvSpPr>
        <p:spPr>
          <a:xfrm>
            <a:off x="1619250" y="5572125"/>
            <a:ext cx="8953500" cy="428625"/>
          </a:xfrm>
          <a:prstGeom prst="rect">
            <a:avLst/>
          </a:prstGeom>
          <a:solidFill>
            <a:srgbClr val="F5E6BD"/>
          </a:solidFill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425" b="1">
                <a:solidFill>
                  <a:srgbClr val="24343C"/>
                </a:solidFill>
              </a:defRPr>
            </a:lvl1pPr>
            <a:lvl2pPr algn="ctr">
              <a:buNone/>
              <a:defRPr sz="1425" b="1">
                <a:solidFill>
                  <a:srgbClr val="24343C"/>
                </a:solidFill>
              </a:defRPr>
            </a:lvl2pPr>
            <a:lvl3pPr algn="ctr">
              <a:buNone/>
              <a:defRPr sz="1425" b="1">
                <a:solidFill>
                  <a:srgbClr val="24343C"/>
                </a:solidFill>
              </a:defRPr>
            </a:lvl3pPr>
            <a:lvl4pPr algn="ctr">
              <a:buNone/>
              <a:defRPr sz="1425" b="1">
                <a:solidFill>
                  <a:srgbClr val="24343C"/>
                </a:solidFill>
              </a:defRPr>
            </a:lvl4pPr>
            <a:lvl5pPr algn="ctr">
              <a:buNone/>
              <a:defRPr sz="1425" b="1">
                <a:solidFill>
                  <a:srgbClr val="24343C"/>
                </a:solidFill>
              </a:defRPr>
            </a:lvl5pPr>
            <a:lvl6pPr algn="ctr">
              <a:buNone/>
              <a:defRPr sz="1425" b="1">
                <a:solidFill>
                  <a:srgbClr val="24343C"/>
                </a:solidFill>
              </a:defRPr>
            </a:lvl6pPr>
            <a:lvl7pPr algn="ctr">
              <a:buNone/>
              <a:defRPr sz="1425" b="1">
                <a:solidFill>
                  <a:srgbClr val="24343C"/>
                </a:solidFill>
              </a:defRPr>
            </a:lvl7pPr>
            <a:lvl8pPr algn="ctr">
              <a:buNone/>
              <a:defRPr sz="1425" b="1">
                <a:solidFill>
                  <a:srgbClr val="24343C"/>
                </a:solidFill>
              </a:defRPr>
            </a:lvl8pPr>
            <a:lvl9pPr algn="ctr">
              <a:buNone/>
              <a:defRPr sz="1425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425" b="1">
                <a:solidFill>
                  <a:srgbClr val="24343C"/>
                </a:solidFill>
              </a:defRPr>
            </a:pPr>
            <a:r>
              <a:rPr sz="1425" b="1">
                <a:solidFill>
                  <a:srgbClr val="24343C"/>
                </a:solidFill>
              </a:rPr>
              <a:t>Yorum, örnek ile karşı-olgusal arasındaki farklar üzerinden doğrudan raporlanabilir.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F37CEE-AFEA-409B-94A1-16FDB3CCB831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35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077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27FE7E8-0C3F-4237-95F9-5D3FAD5EFD0A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825" b="1">
                <a:solidFill>
                  <a:srgbClr val="E65E3F"/>
                </a:solidFill>
              </a:defRPr>
            </a:lvl1pPr>
            <a:lvl2pPr algn="l">
              <a:buNone/>
              <a:defRPr sz="825" b="1">
                <a:solidFill>
                  <a:srgbClr val="E65E3F"/>
                </a:solidFill>
              </a:defRPr>
            </a:lvl2pPr>
            <a:lvl3pPr algn="l">
              <a:buNone/>
              <a:defRPr sz="825" b="1">
                <a:solidFill>
                  <a:srgbClr val="E65E3F"/>
                </a:solidFill>
              </a:defRPr>
            </a:lvl3pPr>
            <a:lvl4pPr algn="l">
              <a:buNone/>
              <a:defRPr sz="825" b="1">
                <a:solidFill>
                  <a:srgbClr val="E65E3F"/>
                </a:solidFill>
              </a:defRPr>
            </a:lvl4pPr>
            <a:lvl5pPr algn="l">
              <a:buNone/>
              <a:defRPr sz="825" b="1">
                <a:solidFill>
                  <a:srgbClr val="E65E3F"/>
                </a:solidFill>
              </a:defRPr>
            </a:lvl5pPr>
            <a:lvl6pPr algn="l">
              <a:buNone/>
              <a:defRPr sz="825" b="1">
                <a:solidFill>
                  <a:srgbClr val="E65E3F"/>
                </a:solidFill>
              </a:defRPr>
            </a:lvl6pPr>
            <a:lvl7pPr algn="l">
              <a:buNone/>
              <a:defRPr sz="825" b="1">
                <a:solidFill>
                  <a:srgbClr val="E65E3F"/>
                </a:solidFill>
              </a:defRPr>
            </a:lvl7pPr>
            <a:lvl8pPr algn="l">
              <a:buNone/>
              <a:defRPr sz="825" b="1">
                <a:solidFill>
                  <a:srgbClr val="E65E3F"/>
                </a:solidFill>
              </a:defRPr>
            </a:lvl8pPr>
            <a:lvl9pPr algn="l">
              <a:buNone/>
              <a:defRPr sz="825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E65E3F"/>
                </a:solidFill>
              </a:defRPr>
            </a:pPr>
            <a:r>
              <a:rPr sz="825" b="1">
                <a:solidFill>
                  <a:srgbClr val="E65E3F"/>
                </a:solidFill>
              </a:rPr>
              <a:t>KARŞI-OLGUSAL AÇIKLAMALAR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DBCFA3-020C-4CB2-B69E-95F84F9C45D4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2100" b="1">
                <a:solidFill>
                  <a:srgbClr val="24343C"/>
                </a:solidFill>
              </a:defRPr>
            </a:lvl1pPr>
            <a:lvl2pPr algn="l">
              <a:buNone/>
              <a:defRPr sz="2100" b="1">
                <a:solidFill>
                  <a:srgbClr val="24343C"/>
                </a:solidFill>
              </a:defRPr>
            </a:lvl2pPr>
            <a:lvl3pPr algn="l">
              <a:buNone/>
              <a:defRPr sz="2100" b="1">
                <a:solidFill>
                  <a:srgbClr val="24343C"/>
                </a:solidFill>
              </a:defRPr>
            </a:lvl3pPr>
            <a:lvl4pPr algn="l">
              <a:buNone/>
              <a:defRPr sz="2100" b="1">
                <a:solidFill>
                  <a:srgbClr val="24343C"/>
                </a:solidFill>
              </a:defRPr>
            </a:lvl4pPr>
            <a:lvl5pPr algn="l">
              <a:buNone/>
              <a:defRPr sz="2100" b="1">
                <a:solidFill>
                  <a:srgbClr val="24343C"/>
                </a:solidFill>
              </a:defRPr>
            </a:lvl5pPr>
            <a:lvl6pPr algn="l">
              <a:buNone/>
              <a:defRPr sz="2100" b="1">
                <a:solidFill>
                  <a:srgbClr val="24343C"/>
                </a:solidFill>
              </a:defRPr>
            </a:lvl6pPr>
            <a:lvl7pPr algn="l">
              <a:buNone/>
              <a:defRPr sz="2100" b="1">
                <a:solidFill>
                  <a:srgbClr val="24343C"/>
                </a:solidFill>
              </a:defRPr>
            </a:lvl7pPr>
            <a:lvl8pPr algn="l">
              <a:buNone/>
              <a:defRPr sz="2100" b="1">
                <a:solidFill>
                  <a:srgbClr val="24343C"/>
                </a:solidFill>
              </a:defRPr>
            </a:lvl8pPr>
            <a:lvl9pPr algn="l">
              <a:buNone/>
              <a:defRPr sz="210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24343C"/>
                </a:solidFill>
              </a:defRPr>
            </a:pPr>
            <a:r>
              <a:rPr sz="2100" b="1">
                <a:solidFill>
                  <a:srgbClr val="24343C"/>
                </a:solidFill>
              </a:rPr>
              <a:t>Sınırlılıklar ve alternatif araçlar</a:t>
            </a:r>
          </a:p>
        </p:txBody>
      </p:sp>
      <p:cxnSp>
        <p:nvCxnSpPr>
          <p:cNvPr id="32" name="Elbow Connector 31"/>
          <p:cNvCxnSpPr/>
          <p:nvPr/>
        </p:nvCxnSpPr>
        <p:spPr>
          <a:xfrm>
            <a:off x="495300" y="1047750"/>
            <a:ext cx="11201400" cy="0"/>
          </a:xfrm>
          <a:prstGeom prst="bentConnector4">
            <a:avLst/>
          </a:prstGeom>
          <a:ln w="19050">
            <a:solidFill>
              <a:srgbClr val="30424B"/>
            </a:solidFill>
            <a:prstDash val="soli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B126280-071D-4BE3-902C-8359E5C269F5}"/>
              </a:ext>
            </a:extLst>
          </p:cNvPr>
          <p:cNvSpPr>
            <a:spLocks noGrp="1"/>
          </p:cNvSpPr>
          <p:nvPr/>
        </p:nvSpPr>
        <p:spPr>
          <a:xfrm>
            <a:off x="495300" y="13335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650" b="1">
                <a:solidFill>
                  <a:srgbClr val="E65E3F"/>
                </a:solidFill>
              </a:defRPr>
            </a:lvl1pPr>
            <a:lvl2pPr algn="l">
              <a:buNone/>
              <a:defRPr sz="1650" b="1">
                <a:solidFill>
                  <a:srgbClr val="E65E3F"/>
                </a:solidFill>
              </a:defRPr>
            </a:lvl2pPr>
            <a:lvl3pPr algn="l">
              <a:buNone/>
              <a:defRPr sz="1650" b="1">
                <a:solidFill>
                  <a:srgbClr val="E65E3F"/>
                </a:solidFill>
              </a:defRPr>
            </a:lvl3pPr>
            <a:lvl4pPr algn="l">
              <a:buNone/>
              <a:defRPr sz="1650" b="1">
                <a:solidFill>
                  <a:srgbClr val="E65E3F"/>
                </a:solidFill>
              </a:defRPr>
            </a:lvl4pPr>
            <a:lvl5pPr algn="l">
              <a:buNone/>
              <a:defRPr sz="1650" b="1">
                <a:solidFill>
                  <a:srgbClr val="E65E3F"/>
                </a:solidFill>
              </a:defRPr>
            </a:lvl5pPr>
            <a:lvl6pPr algn="l">
              <a:buNone/>
              <a:defRPr sz="1650" b="1">
                <a:solidFill>
                  <a:srgbClr val="E65E3F"/>
                </a:solidFill>
              </a:defRPr>
            </a:lvl6pPr>
            <a:lvl7pPr algn="l">
              <a:buNone/>
              <a:defRPr sz="1650" b="1">
                <a:solidFill>
                  <a:srgbClr val="E65E3F"/>
                </a:solidFill>
              </a:defRPr>
            </a:lvl7pPr>
            <a:lvl8pPr algn="l">
              <a:buNone/>
              <a:defRPr sz="1650" b="1">
                <a:solidFill>
                  <a:srgbClr val="E65E3F"/>
                </a:solidFill>
              </a:defRPr>
            </a:lvl8pPr>
            <a:lvl9pPr algn="l">
              <a:buNone/>
              <a:defRPr sz="1650" b="1">
                <a:solidFill>
                  <a:srgbClr val="E65E3F"/>
                </a:solidFill>
              </a:defRPr>
            </a:lvl9pPr>
          </a:lstStyle>
          <a:p>
            <a:pPr algn="l">
              <a:buNone/>
              <a:defRPr sz="1650" b="1">
                <a:solidFill>
                  <a:srgbClr val="E65E3F"/>
                </a:solidFill>
              </a:defRPr>
            </a:pPr>
            <a:r>
              <a:rPr sz="1650" b="1">
                <a:solidFill>
                  <a:srgbClr val="E65E3F"/>
                </a:solidFill>
              </a:rPr>
              <a:t>Sınırlılıklar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9BD5B1-24CE-40C8-A4CD-DD5FEA5F51C1}"/>
              </a:ext>
            </a:extLst>
          </p:cNvPr>
          <p:cNvSpPr>
            <a:spLocks noGrp="1"/>
          </p:cNvSpPr>
          <p:nvPr/>
        </p:nvSpPr>
        <p:spPr>
          <a:xfrm>
            <a:off x="495300" y="19335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65E3F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9B0374-3A68-400A-B7E5-41CB1D18EF7E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425" b="0">
                <a:solidFill>
                  <a:srgbClr val="24343C"/>
                </a:solidFill>
              </a:defRPr>
            </a:lvl1pPr>
            <a:lvl2pPr algn="l">
              <a:buNone/>
              <a:defRPr sz="1425" b="0">
                <a:solidFill>
                  <a:srgbClr val="24343C"/>
                </a:solidFill>
              </a:defRPr>
            </a:lvl2pPr>
            <a:lvl3pPr algn="l">
              <a:buNone/>
              <a:defRPr sz="1425" b="0">
                <a:solidFill>
                  <a:srgbClr val="24343C"/>
                </a:solidFill>
              </a:defRPr>
            </a:lvl3pPr>
            <a:lvl4pPr algn="l">
              <a:buNone/>
              <a:defRPr sz="1425" b="0">
                <a:solidFill>
                  <a:srgbClr val="24343C"/>
                </a:solidFill>
              </a:defRPr>
            </a:lvl4pPr>
            <a:lvl5pPr algn="l">
              <a:buNone/>
              <a:defRPr sz="1425" b="0">
                <a:solidFill>
                  <a:srgbClr val="24343C"/>
                </a:solidFill>
              </a:defRPr>
            </a:lvl5pPr>
            <a:lvl6pPr algn="l">
              <a:buNone/>
              <a:defRPr sz="1425" b="0">
                <a:solidFill>
                  <a:srgbClr val="24343C"/>
                </a:solidFill>
              </a:defRPr>
            </a:lvl6pPr>
            <a:lvl7pPr algn="l">
              <a:buNone/>
              <a:defRPr sz="1425" b="0">
                <a:solidFill>
                  <a:srgbClr val="24343C"/>
                </a:solidFill>
              </a:defRPr>
            </a:lvl7pPr>
            <a:lvl8pPr algn="l">
              <a:buNone/>
              <a:defRPr sz="1425" b="0">
                <a:solidFill>
                  <a:srgbClr val="24343C"/>
                </a:solidFill>
              </a:defRPr>
            </a:lvl8pPr>
            <a:lvl9pPr algn="l">
              <a:buNone/>
              <a:defRPr sz="1425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425" b="0">
                <a:solidFill>
                  <a:srgbClr val="24343C"/>
                </a:solidFill>
              </a:defRPr>
            </a:pPr>
            <a:r>
              <a:rPr sz="1425" b="0">
                <a:solidFill>
                  <a:srgbClr val="24343C"/>
                </a:solidFill>
              </a:rPr>
              <a:t>Rashomon etkisi: çok sayıda eşdeğer açıklama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0A1E658-E2B7-4367-9471-A8ED060B3273}"/>
              </a:ext>
            </a:extLst>
          </p:cNvPr>
          <p:cNvSpPr>
            <a:spLocks noGrp="1"/>
          </p:cNvSpPr>
          <p:nvPr/>
        </p:nvSpPr>
        <p:spPr>
          <a:xfrm>
            <a:off x="495300" y="2552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65E3F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67470B-A7E9-4FBC-BDD6-828CE5811479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5067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425" b="0">
                <a:solidFill>
                  <a:srgbClr val="24343C"/>
                </a:solidFill>
              </a:defRPr>
            </a:lvl1pPr>
            <a:lvl2pPr algn="l">
              <a:buNone/>
              <a:defRPr sz="1425" b="0">
                <a:solidFill>
                  <a:srgbClr val="24343C"/>
                </a:solidFill>
              </a:defRPr>
            </a:lvl2pPr>
            <a:lvl3pPr algn="l">
              <a:buNone/>
              <a:defRPr sz="1425" b="0">
                <a:solidFill>
                  <a:srgbClr val="24343C"/>
                </a:solidFill>
              </a:defRPr>
            </a:lvl3pPr>
            <a:lvl4pPr algn="l">
              <a:buNone/>
              <a:defRPr sz="1425" b="0">
                <a:solidFill>
                  <a:srgbClr val="24343C"/>
                </a:solidFill>
              </a:defRPr>
            </a:lvl4pPr>
            <a:lvl5pPr algn="l">
              <a:buNone/>
              <a:defRPr sz="1425" b="0">
                <a:solidFill>
                  <a:srgbClr val="24343C"/>
                </a:solidFill>
              </a:defRPr>
            </a:lvl5pPr>
            <a:lvl6pPr algn="l">
              <a:buNone/>
              <a:defRPr sz="1425" b="0">
                <a:solidFill>
                  <a:srgbClr val="24343C"/>
                </a:solidFill>
              </a:defRPr>
            </a:lvl6pPr>
            <a:lvl7pPr algn="l">
              <a:buNone/>
              <a:defRPr sz="1425" b="0">
                <a:solidFill>
                  <a:srgbClr val="24343C"/>
                </a:solidFill>
              </a:defRPr>
            </a:lvl7pPr>
            <a:lvl8pPr algn="l">
              <a:buNone/>
              <a:defRPr sz="1425" b="0">
                <a:solidFill>
                  <a:srgbClr val="24343C"/>
                </a:solidFill>
              </a:defRPr>
            </a:lvl8pPr>
            <a:lvl9pPr algn="l">
              <a:buNone/>
              <a:defRPr sz="1425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425" b="0">
                <a:solidFill>
                  <a:srgbClr val="24343C"/>
                </a:solidFill>
              </a:defRPr>
            </a:pPr>
            <a:r>
              <a:rPr sz="1425" b="0">
                <a:solidFill>
                  <a:srgbClr val="24343C"/>
                </a:solidFill>
              </a:rPr>
              <a:t>Tekil örneğe özgü olduğu için küresel model içgörüsü sınırlı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F1E06B-F852-484A-82A6-C541E2E23DCA}"/>
              </a:ext>
            </a:extLst>
          </p:cNvPr>
          <p:cNvSpPr>
            <a:spLocks noGrp="1"/>
          </p:cNvSpPr>
          <p:nvPr/>
        </p:nvSpPr>
        <p:spPr>
          <a:xfrm>
            <a:off x="495300" y="3314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65E3F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E45F43-6353-4DCF-8CB3-DE7DAE7733A1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425" b="0">
                <a:solidFill>
                  <a:srgbClr val="24343C"/>
                </a:solidFill>
              </a:defRPr>
            </a:lvl1pPr>
            <a:lvl2pPr algn="l">
              <a:buNone/>
              <a:defRPr sz="1425" b="0">
                <a:solidFill>
                  <a:srgbClr val="24343C"/>
                </a:solidFill>
              </a:defRPr>
            </a:lvl2pPr>
            <a:lvl3pPr algn="l">
              <a:buNone/>
              <a:defRPr sz="1425" b="0">
                <a:solidFill>
                  <a:srgbClr val="24343C"/>
                </a:solidFill>
              </a:defRPr>
            </a:lvl3pPr>
            <a:lvl4pPr algn="l">
              <a:buNone/>
              <a:defRPr sz="1425" b="0">
                <a:solidFill>
                  <a:srgbClr val="24343C"/>
                </a:solidFill>
              </a:defRPr>
            </a:lvl4pPr>
            <a:lvl5pPr algn="l">
              <a:buNone/>
              <a:defRPr sz="1425" b="0">
                <a:solidFill>
                  <a:srgbClr val="24343C"/>
                </a:solidFill>
              </a:defRPr>
            </a:lvl5pPr>
            <a:lvl6pPr algn="l">
              <a:buNone/>
              <a:defRPr sz="1425" b="0">
                <a:solidFill>
                  <a:srgbClr val="24343C"/>
                </a:solidFill>
              </a:defRPr>
            </a:lvl6pPr>
            <a:lvl7pPr algn="l">
              <a:buNone/>
              <a:defRPr sz="1425" b="0">
                <a:solidFill>
                  <a:srgbClr val="24343C"/>
                </a:solidFill>
              </a:defRPr>
            </a:lvl7pPr>
            <a:lvl8pPr algn="l">
              <a:buNone/>
              <a:defRPr sz="1425" b="0">
                <a:solidFill>
                  <a:srgbClr val="24343C"/>
                </a:solidFill>
              </a:defRPr>
            </a:lvl8pPr>
            <a:lvl9pPr algn="l">
              <a:buNone/>
              <a:defRPr sz="1425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425" b="0">
                <a:solidFill>
                  <a:srgbClr val="24343C"/>
                </a:solidFill>
              </a:defRPr>
            </a:pPr>
            <a:r>
              <a:rPr sz="1425" b="0">
                <a:solidFill>
                  <a:srgbClr val="24343C"/>
                </a:solidFill>
              </a:rPr>
              <a:t>Nedensellik garantisi yok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FE44391-B14C-4249-A080-8F815E679599}"/>
              </a:ext>
            </a:extLst>
          </p:cNvPr>
          <p:cNvSpPr>
            <a:spLocks noGrp="1"/>
          </p:cNvSpPr>
          <p:nvPr/>
        </p:nvSpPr>
        <p:spPr>
          <a:xfrm>
            <a:off x="495300" y="3933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65E3F"/>
          </a:solidFill>
          <a:ln w="0">
            <a:noFill/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45D88C-67EA-4CF0-8781-D957F70704AC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5067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425" b="0">
                <a:solidFill>
                  <a:srgbClr val="24343C"/>
                </a:solidFill>
              </a:defRPr>
            </a:lvl1pPr>
            <a:lvl2pPr algn="l">
              <a:buNone/>
              <a:defRPr sz="1425" b="0">
                <a:solidFill>
                  <a:srgbClr val="24343C"/>
                </a:solidFill>
              </a:defRPr>
            </a:lvl2pPr>
            <a:lvl3pPr algn="l">
              <a:buNone/>
              <a:defRPr sz="1425" b="0">
                <a:solidFill>
                  <a:srgbClr val="24343C"/>
                </a:solidFill>
              </a:defRPr>
            </a:lvl3pPr>
            <a:lvl4pPr algn="l">
              <a:buNone/>
              <a:defRPr sz="1425" b="0">
                <a:solidFill>
                  <a:srgbClr val="24343C"/>
                </a:solidFill>
              </a:defRPr>
            </a:lvl4pPr>
            <a:lvl5pPr algn="l">
              <a:buNone/>
              <a:defRPr sz="1425" b="0">
                <a:solidFill>
                  <a:srgbClr val="24343C"/>
                </a:solidFill>
              </a:defRPr>
            </a:lvl5pPr>
            <a:lvl6pPr algn="l">
              <a:buNone/>
              <a:defRPr sz="1425" b="0">
                <a:solidFill>
                  <a:srgbClr val="24343C"/>
                </a:solidFill>
              </a:defRPr>
            </a:lvl6pPr>
            <a:lvl7pPr algn="l">
              <a:buNone/>
              <a:defRPr sz="1425" b="0">
                <a:solidFill>
                  <a:srgbClr val="24343C"/>
                </a:solidFill>
              </a:defRPr>
            </a:lvl7pPr>
            <a:lvl8pPr algn="l">
              <a:buNone/>
              <a:defRPr sz="1425" b="0">
                <a:solidFill>
                  <a:srgbClr val="24343C"/>
                </a:solidFill>
              </a:defRPr>
            </a:lvl8pPr>
            <a:lvl9pPr algn="l">
              <a:buNone/>
              <a:defRPr sz="1425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425" b="0">
                <a:solidFill>
                  <a:srgbClr val="24343C"/>
                </a:solidFill>
              </a:defRPr>
            </a:pPr>
            <a:r>
              <a:rPr sz="1425" b="0">
                <a:solidFill>
                  <a:srgbClr val="24343C"/>
                </a:solidFill>
              </a:rPr>
              <a:t>Uygulanamaz veya etik dışı değişiklikler kısıtlanmalı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214F9E-4B10-4DDC-A799-662ABF56E4D7}"/>
              </a:ext>
            </a:extLst>
          </p:cNvPr>
          <p:cNvSpPr>
            <a:spLocks noGrp="1"/>
          </p:cNvSpPr>
          <p:nvPr/>
        </p:nvSpPr>
        <p:spPr>
          <a:xfrm>
            <a:off x="6334125" y="13335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l">
              <a:buNone/>
              <a:defRPr sz="1650" b="1">
                <a:solidFill>
                  <a:srgbClr val="30424B"/>
                </a:solidFill>
              </a:defRPr>
            </a:lvl1pPr>
            <a:lvl2pPr algn="l">
              <a:buNone/>
              <a:defRPr sz="1650" b="1">
                <a:solidFill>
                  <a:srgbClr val="30424B"/>
                </a:solidFill>
              </a:defRPr>
            </a:lvl2pPr>
            <a:lvl3pPr algn="l">
              <a:buNone/>
              <a:defRPr sz="1650" b="1">
                <a:solidFill>
                  <a:srgbClr val="30424B"/>
                </a:solidFill>
              </a:defRPr>
            </a:lvl3pPr>
            <a:lvl4pPr algn="l">
              <a:buNone/>
              <a:defRPr sz="1650" b="1">
                <a:solidFill>
                  <a:srgbClr val="30424B"/>
                </a:solidFill>
              </a:defRPr>
            </a:lvl4pPr>
            <a:lvl5pPr algn="l">
              <a:buNone/>
              <a:defRPr sz="1650" b="1">
                <a:solidFill>
                  <a:srgbClr val="30424B"/>
                </a:solidFill>
              </a:defRPr>
            </a:lvl5pPr>
            <a:lvl6pPr algn="l">
              <a:buNone/>
              <a:defRPr sz="1650" b="1">
                <a:solidFill>
                  <a:srgbClr val="30424B"/>
                </a:solidFill>
              </a:defRPr>
            </a:lvl6pPr>
            <a:lvl7pPr algn="l">
              <a:buNone/>
              <a:defRPr sz="1650" b="1">
                <a:solidFill>
                  <a:srgbClr val="30424B"/>
                </a:solidFill>
              </a:defRPr>
            </a:lvl7pPr>
            <a:lvl8pPr algn="l">
              <a:buNone/>
              <a:defRPr sz="1650" b="1">
                <a:solidFill>
                  <a:srgbClr val="30424B"/>
                </a:solidFill>
              </a:defRPr>
            </a:lvl8pPr>
            <a:lvl9pPr algn="l">
              <a:buNone/>
              <a:defRPr sz="1650" b="1">
                <a:solidFill>
                  <a:srgbClr val="30424B"/>
                </a:solidFill>
              </a:defRPr>
            </a:lvl9pPr>
          </a:lstStyle>
          <a:p>
            <a:pPr algn="l">
              <a:buNone/>
              <a:defRPr sz="1650" b="1">
                <a:solidFill>
                  <a:srgbClr val="30424B"/>
                </a:solidFill>
              </a:defRPr>
            </a:pPr>
            <a:r>
              <a:rPr sz="1650" b="1">
                <a:solidFill>
                  <a:srgbClr val="30424B"/>
                </a:solidFill>
              </a:rPr>
              <a:t>Açık kaynak ekosistemi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9589143-9863-4FEC-9585-B68F23128708}"/>
              </a:ext>
            </a:extLst>
          </p:cNvPr>
          <p:cNvSpPr>
            <a:spLocks noGrp="1"/>
          </p:cNvSpPr>
          <p:nvPr/>
        </p:nvSpPr>
        <p:spPr>
          <a:xfrm>
            <a:off x="6334125" y="1857375"/>
            <a:ext cx="495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CF58F5-A0FB-49EF-A432-ECC152B78D64}"/>
              </a:ext>
            </a:extLst>
          </p:cNvPr>
          <p:cNvSpPr>
            <a:spLocks noGrp="1"/>
          </p:cNvSpPr>
          <p:nvPr/>
        </p:nvSpPr>
        <p:spPr>
          <a:xfrm>
            <a:off x="6505575" y="1924050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l">
              <a:buNone/>
              <a:defRPr sz="1350" b="1">
                <a:solidFill>
                  <a:srgbClr val="24343C"/>
                </a:solidFill>
              </a:defRPr>
            </a:lvl1pPr>
            <a:lvl2pPr algn="l">
              <a:buNone/>
              <a:defRPr sz="1350" b="1">
                <a:solidFill>
                  <a:srgbClr val="24343C"/>
                </a:solidFill>
              </a:defRPr>
            </a:lvl2pPr>
            <a:lvl3pPr algn="l">
              <a:buNone/>
              <a:defRPr sz="1350" b="1">
                <a:solidFill>
                  <a:srgbClr val="24343C"/>
                </a:solidFill>
              </a:defRPr>
            </a:lvl3pPr>
            <a:lvl4pPr algn="l">
              <a:buNone/>
              <a:defRPr sz="1350" b="1">
                <a:solidFill>
                  <a:srgbClr val="24343C"/>
                </a:solidFill>
              </a:defRPr>
            </a:lvl4pPr>
            <a:lvl5pPr algn="l">
              <a:buNone/>
              <a:defRPr sz="1350" b="1">
                <a:solidFill>
                  <a:srgbClr val="24343C"/>
                </a:solidFill>
              </a:defRPr>
            </a:lvl5pPr>
            <a:lvl6pPr algn="l">
              <a:buNone/>
              <a:defRPr sz="1350" b="1">
                <a:solidFill>
                  <a:srgbClr val="24343C"/>
                </a:solidFill>
              </a:defRPr>
            </a:lvl6pPr>
            <a:lvl7pPr algn="l">
              <a:buNone/>
              <a:defRPr sz="1350" b="1">
                <a:solidFill>
                  <a:srgbClr val="24343C"/>
                </a:solidFill>
              </a:defRPr>
            </a:lvl7pPr>
            <a:lvl8pPr algn="l">
              <a:buNone/>
              <a:defRPr sz="1350" b="1">
                <a:solidFill>
                  <a:srgbClr val="24343C"/>
                </a:solidFill>
              </a:defRPr>
            </a:lvl8pPr>
            <a:lvl9pPr algn="l">
              <a:buNone/>
              <a:defRPr sz="1350" b="1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1">
                <a:solidFill>
                  <a:srgbClr val="24343C"/>
                </a:solidFill>
              </a:defRPr>
            </a:pPr>
            <a:r>
              <a:rPr sz="1350" b="1">
                <a:solidFill>
                  <a:srgbClr val="24343C"/>
                </a:solidFill>
              </a:rPr>
              <a:t>MOC: Dandl çok amaçlı yöntem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56BDA5B-E8E9-4A72-9EF3-D25B46736967}"/>
              </a:ext>
            </a:extLst>
          </p:cNvPr>
          <p:cNvSpPr>
            <a:spLocks noGrp="1"/>
          </p:cNvSpPr>
          <p:nvPr/>
        </p:nvSpPr>
        <p:spPr>
          <a:xfrm>
            <a:off x="6334125" y="2495550"/>
            <a:ext cx="4953000" cy="457200"/>
          </a:xfrm>
          <a:prstGeom prst="roundRect">
            <a:avLst>
              <a:gd name="adj" fmla="val 16667"/>
            </a:avLst>
          </a:prstGeom>
          <a:solidFill>
            <a:srgbClr val="E7ECEB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C1A04B-0BA8-4FCD-B486-4F13EED27C7B}"/>
              </a:ext>
            </a:extLst>
          </p:cNvPr>
          <p:cNvSpPr>
            <a:spLocks noGrp="1"/>
          </p:cNvSpPr>
          <p:nvPr/>
        </p:nvSpPr>
        <p:spPr>
          <a:xfrm>
            <a:off x="6505575" y="25622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l">
              <a:buNone/>
              <a:defRPr sz="1350" b="0">
                <a:solidFill>
                  <a:srgbClr val="24343C"/>
                </a:solidFill>
              </a:defRPr>
            </a:lvl1pPr>
            <a:lvl2pPr algn="l">
              <a:buNone/>
              <a:defRPr sz="1350" b="0">
                <a:solidFill>
                  <a:srgbClr val="24343C"/>
                </a:solidFill>
              </a:defRPr>
            </a:lvl2pPr>
            <a:lvl3pPr algn="l">
              <a:buNone/>
              <a:defRPr sz="1350" b="0">
                <a:solidFill>
                  <a:srgbClr val="24343C"/>
                </a:solidFill>
              </a:defRPr>
            </a:lvl3pPr>
            <a:lvl4pPr algn="l">
              <a:buNone/>
              <a:defRPr sz="1350" b="0">
                <a:solidFill>
                  <a:srgbClr val="24343C"/>
                </a:solidFill>
              </a:defRPr>
            </a:lvl4pPr>
            <a:lvl5pPr algn="l">
              <a:buNone/>
              <a:defRPr sz="1350" b="0">
                <a:solidFill>
                  <a:srgbClr val="24343C"/>
                </a:solidFill>
              </a:defRPr>
            </a:lvl5pPr>
            <a:lvl6pPr algn="l">
              <a:buNone/>
              <a:defRPr sz="1350" b="0">
                <a:solidFill>
                  <a:srgbClr val="24343C"/>
                </a:solidFill>
              </a:defRPr>
            </a:lvl6pPr>
            <a:lvl7pPr algn="l">
              <a:buNone/>
              <a:defRPr sz="1350" b="0">
                <a:solidFill>
                  <a:srgbClr val="24343C"/>
                </a:solidFill>
              </a:defRPr>
            </a:lvl7pPr>
            <a:lvl8pPr algn="l">
              <a:buNone/>
              <a:defRPr sz="1350" b="0">
                <a:solidFill>
                  <a:srgbClr val="24343C"/>
                </a:solidFill>
              </a:defRPr>
            </a:lvl8pPr>
            <a:lvl9pPr algn="l">
              <a:buNone/>
              <a:defRPr sz="1350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24343C"/>
                </a:solidFill>
              </a:defRPr>
            </a:pPr>
            <a:r>
              <a:rPr sz="1350" b="0">
                <a:solidFill>
                  <a:srgbClr val="24343C"/>
                </a:solidFill>
              </a:rPr>
              <a:t>Alibi CF / CFProto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9C24FFD-DF79-4B24-B547-A6992634F27F}"/>
              </a:ext>
            </a:extLst>
          </p:cNvPr>
          <p:cNvSpPr>
            <a:spLocks noGrp="1"/>
          </p:cNvSpPr>
          <p:nvPr/>
        </p:nvSpPr>
        <p:spPr>
          <a:xfrm>
            <a:off x="6334125" y="3133725"/>
            <a:ext cx="495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14825A-ECE3-4E8E-B91F-8EA74F710301}"/>
              </a:ext>
            </a:extLst>
          </p:cNvPr>
          <p:cNvSpPr>
            <a:spLocks noGrp="1"/>
          </p:cNvSpPr>
          <p:nvPr/>
        </p:nvSpPr>
        <p:spPr>
          <a:xfrm>
            <a:off x="6505575" y="3200400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l">
              <a:buNone/>
              <a:defRPr sz="1350" b="0">
                <a:solidFill>
                  <a:srgbClr val="24343C"/>
                </a:solidFill>
              </a:defRPr>
            </a:lvl1pPr>
            <a:lvl2pPr algn="l">
              <a:buNone/>
              <a:defRPr sz="1350" b="0">
                <a:solidFill>
                  <a:srgbClr val="24343C"/>
                </a:solidFill>
              </a:defRPr>
            </a:lvl2pPr>
            <a:lvl3pPr algn="l">
              <a:buNone/>
              <a:defRPr sz="1350" b="0">
                <a:solidFill>
                  <a:srgbClr val="24343C"/>
                </a:solidFill>
              </a:defRPr>
            </a:lvl3pPr>
            <a:lvl4pPr algn="l">
              <a:buNone/>
              <a:defRPr sz="1350" b="0">
                <a:solidFill>
                  <a:srgbClr val="24343C"/>
                </a:solidFill>
              </a:defRPr>
            </a:lvl4pPr>
            <a:lvl5pPr algn="l">
              <a:buNone/>
              <a:defRPr sz="1350" b="0">
                <a:solidFill>
                  <a:srgbClr val="24343C"/>
                </a:solidFill>
              </a:defRPr>
            </a:lvl5pPr>
            <a:lvl6pPr algn="l">
              <a:buNone/>
              <a:defRPr sz="1350" b="0">
                <a:solidFill>
                  <a:srgbClr val="24343C"/>
                </a:solidFill>
              </a:defRPr>
            </a:lvl6pPr>
            <a:lvl7pPr algn="l">
              <a:buNone/>
              <a:defRPr sz="1350" b="0">
                <a:solidFill>
                  <a:srgbClr val="24343C"/>
                </a:solidFill>
              </a:defRPr>
            </a:lvl7pPr>
            <a:lvl8pPr algn="l">
              <a:buNone/>
              <a:defRPr sz="1350" b="0">
                <a:solidFill>
                  <a:srgbClr val="24343C"/>
                </a:solidFill>
              </a:defRPr>
            </a:lvl8pPr>
            <a:lvl9pPr algn="l">
              <a:buNone/>
              <a:defRPr sz="1350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24343C"/>
                </a:solidFill>
              </a:defRPr>
            </a:pPr>
            <a:r>
              <a:rPr sz="1350" b="0">
                <a:solidFill>
                  <a:srgbClr val="24343C"/>
                </a:solidFill>
              </a:rPr>
              <a:t>MACE: mantıksal kısıtlar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3A215AC-A74A-4D2B-A0EF-86DB3DEE433A}"/>
              </a:ext>
            </a:extLst>
          </p:cNvPr>
          <p:cNvSpPr>
            <a:spLocks noGrp="1"/>
          </p:cNvSpPr>
          <p:nvPr/>
        </p:nvSpPr>
        <p:spPr>
          <a:xfrm>
            <a:off x="6334125" y="3771900"/>
            <a:ext cx="4953000" cy="457200"/>
          </a:xfrm>
          <a:prstGeom prst="roundRect">
            <a:avLst>
              <a:gd name="adj" fmla="val 16667"/>
            </a:avLst>
          </a:prstGeom>
          <a:solidFill>
            <a:srgbClr val="E7ECEB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FF46DF-CD6E-41EB-814D-8D6617C5136E}"/>
              </a:ext>
            </a:extLst>
          </p:cNvPr>
          <p:cNvSpPr>
            <a:spLocks noGrp="1"/>
          </p:cNvSpPr>
          <p:nvPr/>
        </p:nvSpPr>
        <p:spPr>
          <a:xfrm>
            <a:off x="6505575" y="383857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l">
              <a:buNone/>
              <a:defRPr sz="1350" b="0">
                <a:solidFill>
                  <a:srgbClr val="24343C"/>
                </a:solidFill>
              </a:defRPr>
            </a:lvl1pPr>
            <a:lvl2pPr algn="l">
              <a:buNone/>
              <a:defRPr sz="1350" b="0">
                <a:solidFill>
                  <a:srgbClr val="24343C"/>
                </a:solidFill>
              </a:defRPr>
            </a:lvl2pPr>
            <a:lvl3pPr algn="l">
              <a:buNone/>
              <a:defRPr sz="1350" b="0">
                <a:solidFill>
                  <a:srgbClr val="24343C"/>
                </a:solidFill>
              </a:defRPr>
            </a:lvl3pPr>
            <a:lvl4pPr algn="l">
              <a:buNone/>
              <a:defRPr sz="1350" b="0">
                <a:solidFill>
                  <a:srgbClr val="24343C"/>
                </a:solidFill>
              </a:defRPr>
            </a:lvl4pPr>
            <a:lvl5pPr algn="l">
              <a:buNone/>
              <a:defRPr sz="1350" b="0">
                <a:solidFill>
                  <a:srgbClr val="24343C"/>
                </a:solidFill>
              </a:defRPr>
            </a:lvl5pPr>
            <a:lvl6pPr algn="l">
              <a:buNone/>
              <a:defRPr sz="1350" b="0">
                <a:solidFill>
                  <a:srgbClr val="24343C"/>
                </a:solidFill>
              </a:defRPr>
            </a:lvl6pPr>
            <a:lvl7pPr algn="l">
              <a:buNone/>
              <a:defRPr sz="1350" b="0">
                <a:solidFill>
                  <a:srgbClr val="24343C"/>
                </a:solidFill>
              </a:defRPr>
            </a:lvl7pPr>
            <a:lvl8pPr algn="l">
              <a:buNone/>
              <a:defRPr sz="1350" b="0">
                <a:solidFill>
                  <a:srgbClr val="24343C"/>
                </a:solidFill>
              </a:defRPr>
            </a:lvl8pPr>
            <a:lvl9pPr algn="l">
              <a:buNone/>
              <a:defRPr sz="1350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24343C"/>
                </a:solidFill>
              </a:defRPr>
            </a:pPr>
            <a:r>
              <a:rPr sz="1350" b="0">
                <a:solidFill>
                  <a:srgbClr val="24343C"/>
                </a:solidFill>
              </a:rPr>
              <a:t>DiCE: çeşitli karşı-olgusallar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396AABD-7E1C-40A3-9AD4-DB0F65E36EBF}"/>
              </a:ext>
            </a:extLst>
          </p:cNvPr>
          <p:cNvSpPr>
            <a:spLocks noGrp="1"/>
          </p:cNvSpPr>
          <p:nvPr/>
        </p:nvSpPr>
        <p:spPr>
          <a:xfrm>
            <a:off x="6334125" y="4410075"/>
            <a:ext cx="495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0D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4DDFD5-8252-4D73-B774-D2F881DC2164}"/>
              </a:ext>
            </a:extLst>
          </p:cNvPr>
          <p:cNvSpPr>
            <a:spLocks noGrp="1"/>
          </p:cNvSpPr>
          <p:nvPr/>
        </p:nvSpPr>
        <p:spPr>
          <a:xfrm>
            <a:off x="6505575" y="4476750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l">
              <a:buNone/>
              <a:defRPr sz="1350" b="0">
                <a:solidFill>
                  <a:srgbClr val="24343C"/>
                </a:solidFill>
              </a:defRPr>
            </a:lvl1pPr>
            <a:lvl2pPr algn="l">
              <a:buNone/>
              <a:defRPr sz="1350" b="0">
                <a:solidFill>
                  <a:srgbClr val="24343C"/>
                </a:solidFill>
              </a:defRPr>
            </a:lvl2pPr>
            <a:lvl3pPr algn="l">
              <a:buNone/>
              <a:defRPr sz="1350" b="0">
                <a:solidFill>
                  <a:srgbClr val="24343C"/>
                </a:solidFill>
              </a:defRPr>
            </a:lvl3pPr>
            <a:lvl4pPr algn="l">
              <a:buNone/>
              <a:defRPr sz="1350" b="0">
                <a:solidFill>
                  <a:srgbClr val="24343C"/>
                </a:solidFill>
              </a:defRPr>
            </a:lvl4pPr>
            <a:lvl5pPr algn="l">
              <a:buNone/>
              <a:defRPr sz="1350" b="0">
                <a:solidFill>
                  <a:srgbClr val="24343C"/>
                </a:solidFill>
              </a:defRPr>
            </a:lvl5pPr>
            <a:lvl6pPr algn="l">
              <a:buNone/>
              <a:defRPr sz="1350" b="0">
                <a:solidFill>
                  <a:srgbClr val="24343C"/>
                </a:solidFill>
              </a:defRPr>
            </a:lvl6pPr>
            <a:lvl7pPr algn="l">
              <a:buNone/>
              <a:defRPr sz="1350" b="0">
                <a:solidFill>
                  <a:srgbClr val="24343C"/>
                </a:solidFill>
              </a:defRPr>
            </a:lvl7pPr>
            <a:lvl8pPr algn="l">
              <a:buNone/>
              <a:defRPr sz="1350" b="0">
                <a:solidFill>
                  <a:srgbClr val="24343C"/>
                </a:solidFill>
              </a:defRPr>
            </a:lvl8pPr>
            <a:lvl9pPr algn="l">
              <a:buNone/>
              <a:defRPr sz="1350" b="0">
                <a:solidFill>
                  <a:srgbClr val="24343C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24343C"/>
                </a:solidFill>
              </a:defRPr>
            </a:pPr>
            <a:r>
              <a:rPr sz="1350" b="0">
                <a:solidFill>
                  <a:srgbClr val="24343C"/>
                </a:solidFill>
              </a:rPr>
              <a:t>Growing Spheres: küre tabanlı arama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238A0D-C9A4-4D3D-9667-C20C04496790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10668000" cy="457200"/>
          </a:xfrm>
          <a:prstGeom prst="rect">
            <a:avLst/>
          </a:prstGeom>
          <a:solidFill>
            <a:srgbClr val="F8DDD5"/>
          </a:solidFill>
          <a:ln w="0">
            <a:noFill/>
            <a:prstDash val="solid"/>
          </a:ln>
        </p:spPr>
        <p:txBody>
          <a:bodyPr wrap="square" lIns="57150" tIns="28575" rIns="57150" bIns="28575" anchor="ctr">
            <a:normAutofit/>
          </a:bodyPr>
          <a:lstStyle>
            <a:lvl1pPr algn="ctr">
              <a:buNone/>
              <a:defRPr sz="1500" b="1">
                <a:solidFill>
                  <a:srgbClr val="24343C"/>
                </a:solidFill>
              </a:defRPr>
            </a:lvl1pPr>
            <a:lvl2pPr algn="ctr">
              <a:buNone/>
              <a:defRPr sz="1500" b="1">
                <a:solidFill>
                  <a:srgbClr val="24343C"/>
                </a:solidFill>
              </a:defRPr>
            </a:lvl2pPr>
            <a:lvl3pPr algn="ctr">
              <a:buNone/>
              <a:defRPr sz="1500" b="1">
                <a:solidFill>
                  <a:srgbClr val="24343C"/>
                </a:solidFill>
              </a:defRPr>
            </a:lvl3pPr>
            <a:lvl4pPr algn="ctr">
              <a:buNone/>
              <a:defRPr sz="1500" b="1">
                <a:solidFill>
                  <a:srgbClr val="24343C"/>
                </a:solidFill>
              </a:defRPr>
            </a:lvl4pPr>
            <a:lvl5pPr algn="ctr">
              <a:buNone/>
              <a:defRPr sz="1500" b="1">
                <a:solidFill>
                  <a:srgbClr val="24343C"/>
                </a:solidFill>
              </a:defRPr>
            </a:lvl5pPr>
            <a:lvl6pPr algn="ctr">
              <a:buNone/>
              <a:defRPr sz="1500" b="1">
                <a:solidFill>
                  <a:srgbClr val="24343C"/>
                </a:solidFill>
              </a:defRPr>
            </a:lvl6pPr>
            <a:lvl7pPr algn="ctr">
              <a:buNone/>
              <a:defRPr sz="1500" b="1">
                <a:solidFill>
                  <a:srgbClr val="24343C"/>
                </a:solidFill>
              </a:defRPr>
            </a:lvl7pPr>
            <a:lvl8pPr algn="ctr">
              <a:buNone/>
              <a:defRPr sz="1500" b="1">
                <a:solidFill>
                  <a:srgbClr val="24343C"/>
                </a:solidFill>
              </a:defRPr>
            </a:lvl8pPr>
            <a:lvl9pPr algn="ctr">
              <a:buNone/>
              <a:defRPr sz="1500" b="1">
                <a:solidFill>
                  <a:srgbClr val="24343C"/>
                </a:solidFill>
              </a:defRPr>
            </a:lvl9pPr>
          </a:lstStyle>
          <a:p>
            <a:pPr algn="ctr">
              <a:buNone/>
              <a:defRPr sz="1500" b="1">
                <a:solidFill>
                  <a:srgbClr val="24343C"/>
                </a:solidFill>
              </a:defRPr>
            </a:pPr>
            <a:r>
              <a:rPr sz="1500" b="1">
                <a:solidFill>
                  <a:srgbClr val="24343C"/>
                </a:solidFill>
              </a:rPr>
              <a:t>Sonuç: iyi bir açıklama hedefe ulaşmalı, yakın ve seyrek kalmalı, gerçekçi ve uygulanabilir olmalıdır.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9AB35A-719C-4852-A050-F9CD0A5B0B57}"/>
              </a:ext>
            </a:extLst>
          </p:cNvPr>
          <p:cNvSpPr>
            <a:spLocks noGrp="1"/>
          </p:cNvSpPr>
          <p:nvPr/>
        </p:nvSpPr>
        <p:spPr>
          <a:xfrm>
            <a:off x="11382375" y="65341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28575" rIns="57150" bIns="28575" anchor="t">
            <a:normAutofit/>
          </a:bodyPr>
          <a:lstStyle>
            <a:lvl1pPr algn="r">
              <a:buNone/>
              <a:defRPr sz="750" b="0">
                <a:solidFill>
                  <a:srgbClr val="6F7B7F"/>
                </a:solidFill>
              </a:defRPr>
            </a:lvl1pPr>
            <a:lvl2pPr algn="r">
              <a:buNone/>
              <a:defRPr sz="750" b="0">
                <a:solidFill>
                  <a:srgbClr val="6F7B7F"/>
                </a:solidFill>
              </a:defRPr>
            </a:lvl2pPr>
            <a:lvl3pPr algn="r">
              <a:buNone/>
              <a:defRPr sz="750" b="0">
                <a:solidFill>
                  <a:srgbClr val="6F7B7F"/>
                </a:solidFill>
              </a:defRPr>
            </a:lvl3pPr>
            <a:lvl4pPr algn="r">
              <a:buNone/>
              <a:defRPr sz="750" b="0">
                <a:solidFill>
                  <a:srgbClr val="6F7B7F"/>
                </a:solidFill>
              </a:defRPr>
            </a:lvl4pPr>
            <a:lvl5pPr algn="r">
              <a:buNone/>
              <a:defRPr sz="750" b="0">
                <a:solidFill>
                  <a:srgbClr val="6F7B7F"/>
                </a:solidFill>
              </a:defRPr>
            </a:lvl5pPr>
            <a:lvl6pPr algn="r">
              <a:buNone/>
              <a:defRPr sz="750" b="0">
                <a:solidFill>
                  <a:srgbClr val="6F7B7F"/>
                </a:solidFill>
              </a:defRPr>
            </a:lvl6pPr>
            <a:lvl7pPr algn="r">
              <a:buNone/>
              <a:defRPr sz="750" b="0">
                <a:solidFill>
                  <a:srgbClr val="6F7B7F"/>
                </a:solidFill>
              </a:defRPr>
            </a:lvl7pPr>
            <a:lvl8pPr algn="r">
              <a:buNone/>
              <a:defRPr sz="750" b="0">
                <a:solidFill>
                  <a:srgbClr val="6F7B7F"/>
                </a:solidFill>
              </a:defRPr>
            </a:lvl8pPr>
            <a:lvl9pPr algn="r">
              <a:buNone/>
              <a:defRPr sz="750" b="0">
                <a:solidFill>
                  <a:srgbClr val="6F7B7F"/>
                </a:solidFill>
              </a:defRPr>
            </a:lvl9pPr>
          </a:lstStyle>
          <a:p>
            <a:pPr algn="r">
              <a:buNone/>
              <a:defRPr sz="750" b="0">
                <a:solidFill>
                  <a:srgbClr val="6F7B7F"/>
                </a:solidFill>
              </a:defRPr>
            </a:pPr>
            <a:r>
              <a:rPr lang="tr-TR" sz="750" b="0" dirty="0">
                <a:solidFill>
                  <a:srgbClr val="6F7B7F"/>
                </a:solidFill>
              </a:rPr>
              <a:t>36</a:t>
            </a:r>
            <a:endParaRPr sz="750" b="0" dirty="0">
              <a:solidFill>
                <a:srgbClr val="6F7B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179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A753B15-ACAB-4854-9453-17D9F279A28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KARŞILAŞTIRMA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2B530-6A16-42C9-95A0-7A509E26E863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LIME ve karşı-olgusal açıklamaların karşılaştırması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7B671A-D5D0-4390-9509-E8633CA68CA4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41BBB0-617F-43E5-AF5C-41E16C6DC175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sz="750" b="0">
                <a:solidFill>
                  <a:srgbClr val="96A0A2"/>
                </a:solidFill>
              </a:rPr>
              <a:t>37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418B61-C8A1-4BD1-9D16-B5DEA6FB09A7}"/>
              </a:ext>
            </a:extLst>
          </p:cNvPr>
          <p:cNvSpPr>
            <a:spLocks noGrp="1"/>
          </p:cNvSpPr>
          <p:nvPr/>
        </p:nvSpPr>
        <p:spPr>
          <a:xfrm>
            <a:off x="685800" y="1876425"/>
            <a:ext cx="2457450" cy="514350"/>
          </a:xfrm>
          <a:prstGeom prst="rect">
            <a:avLst/>
          </a:prstGeom>
          <a:solidFill>
            <a:srgbClr val="1F3038"/>
          </a:solidFill>
          <a:ln w="9525">
            <a:solidFill>
              <a:srgbClr val="1F30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EA7FBA-0AC4-4617-A821-459004141E87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2228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125" b="1">
                <a:solidFill>
                  <a:srgbClr val="FFFFFF"/>
                </a:solidFill>
              </a:defRPr>
            </a:lvl1pPr>
            <a:lvl2pPr algn="ctr">
              <a:buNone/>
              <a:defRPr sz="1125" b="1">
                <a:solidFill>
                  <a:srgbClr val="FFFFFF"/>
                </a:solidFill>
              </a:defRPr>
            </a:lvl2pPr>
            <a:lvl3pPr algn="ctr">
              <a:buNone/>
              <a:defRPr sz="1125" b="1">
                <a:solidFill>
                  <a:srgbClr val="FFFFFF"/>
                </a:solidFill>
              </a:defRPr>
            </a:lvl3pPr>
            <a:lvl4pPr algn="ctr">
              <a:buNone/>
              <a:defRPr sz="1125" b="1">
                <a:solidFill>
                  <a:srgbClr val="FFFFFF"/>
                </a:solidFill>
              </a:defRPr>
            </a:lvl4pPr>
            <a:lvl5pPr algn="ctr">
              <a:buNone/>
              <a:defRPr sz="1125" b="1">
                <a:solidFill>
                  <a:srgbClr val="FFFFFF"/>
                </a:solidFill>
              </a:defRPr>
            </a:lvl5pPr>
            <a:lvl6pPr algn="ctr">
              <a:buNone/>
              <a:defRPr sz="1125" b="1">
                <a:solidFill>
                  <a:srgbClr val="FFFFFF"/>
                </a:solidFill>
              </a:defRPr>
            </a:lvl6pPr>
            <a:lvl7pPr algn="ctr">
              <a:buNone/>
              <a:defRPr sz="1125" b="1">
                <a:solidFill>
                  <a:srgbClr val="FFFFFF"/>
                </a:solidFill>
              </a:defRPr>
            </a:lvl7pPr>
            <a:lvl8pPr algn="ctr">
              <a:buNone/>
              <a:defRPr sz="1125" b="1">
                <a:solidFill>
                  <a:srgbClr val="FFFFFF"/>
                </a:solidFill>
              </a:defRPr>
            </a:lvl8pPr>
            <a:lvl9pPr algn="ctr">
              <a:buNone/>
              <a:defRPr sz="1125" b="1">
                <a:solidFill>
                  <a:srgbClr val="FFFFFF"/>
                </a:solidFill>
              </a:defRPr>
            </a:lvl9pPr>
          </a:lstStyle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Boyut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B010D7-C6E7-4CE5-98E0-2DE49F304DB1}"/>
              </a:ext>
            </a:extLst>
          </p:cNvPr>
          <p:cNvSpPr>
            <a:spLocks noGrp="1"/>
          </p:cNvSpPr>
          <p:nvPr/>
        </p:nvSpPr>
        <p:spPr>
          <a:xfrm>
            <a:off x="3143250" y="1876425"/>
            <a:ext cx="4191000" cy="514350"/>
          </a:xfrm>
          <a:prstGeom prst="rect">
            <a:avLst/>
          </a:prstGeom>
          <a:solidFill>
            <a:srgbClr val="FFE1D8"/>
          </a:solidFill>
          <a:ln w="9525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6A8A9B-7FBF-4E9F-BB25-2B98A4FC3EC1}"/>
              </a:ext>
            </a:extLst>
          </p:cNvPr>
          <p:cNvSpPr>
            <a:spLocks noGrp="1"/>
          </p:cNvSpPr>
          <p:nvPr/>
        </p:nvSpPr>
        <p:spPr>
          <a:xfrm>
            <a:off x="3257550" y="1952625"/>
            <a:ext cx="3962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125" b="1">
                <a:solidFill>
                  <a:srgbClr val="1F3038"/>
                </a:solidFill>
              </a:defRPr>
            </a:lvl1pPr>
            <a:lvl2pPr algn="ctr">
              <a:buNone/>
              <a:defRPr sz="1125" b="1">
                <a:solidFill>
                  <a:srgbClr val="1F3038"/>
                </a:solidFill>
              </a:defRPr>
            </a:lvl2pPr>
            <a:lvl3pPr algn="ctr">
              <a:buNone/>
              <a:defRPr sz="1125" b="1">
                <a:solidFill>
                  <a:srgbClr val="1F3038"/>
                </a:solidFill>
              </a:defRPr>
            </a:lvl3pPr>
            <a:lvl4pPr algn="ctr">
              <a:buNone/>
              <a:defRPr sz="1125" b="1">
                <a:solidFill>
                  <a:srgbClr val="1F3038"/>
                </a:solidFill>
              </a:defRPr>
            </a:lvl4pPr>
            <a:lvl5pPr algn="ctr">
              <a:buNone/>
              <a:defRPr sz="1125" b="1">
                <a:solidFill>
                  <a:srgbClr val="1F3038"/>
                </a:solidFill>
              </a:defRPr>
            </a:lvl5pPr>
            <a:lvl6pPr algn="ctr">
              <a:buNone/>
              <a:defRPr sz="1125" b="1">
                <a:solidFill>
                  <a:srgbClr val="1F3038"/>
                </a:solidFill>
              </a:defRPr>
            </a:lvl6pPr>
            <a:lvl7pPr algn="ctr">
              <a:buNone/>
              <a:defRPr sz="1125" b="1">
                <a:solidFill>
                  <a:srgbClr val="1F3038"/>
                </a:solidFill>
              </a:defRPr>
            </a:lvl7pPr>
            <a:lvl8pPr algn="ctr">
              <a:buNone/>
              <a:defRPr sz="1125" b="1">
                <a:solidFill>
                  <a:srgbClr val="1F3038"/>
                </a:solidFill>
              </a:defRPr>
            </a:lvl8pPr>
            <a:lvl9pPr algn="ctr">
              <a:buNone/>
              <a:defRPr sz="112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112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LIME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7A48D5-DCFE-49AB-8251-29209D9EEF35}"/>
              </a:ext>
            </a:extLst>
          </p:cNvPr>
          <p:cNvSpPr>
            <a:spLocks noGrp="1"/>
          </p:cNvSpPr>
          <p:nvPr/>
        </p:nvSpPr>
        <p:spPr>
          <a:xfrm>
            <a:off x="7334250" y="1876425"/>
            <a:ext cx="4171950" cy="514350"/>
          </a:xfrm>
          <a:prstGeom prst="rect">
            <a:avLst/>
          </a:prstGeom>
          <a:solidFill>
            <a:srgbClr val="FFE1D8"/>
          </a:solidFill>
          <a:ln w="9525">
            <a:solidFill>
              <a:srgbClr val="FF65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1A5147-7256-42F8-A7C7-B1F4414C39D3}"/>
              </a:ext>
            </a:extLst>
          </p:cNvPr>
          <p:cNvSpPr>
            <a:spLocks noGrp="1"/>
          </p:cNvSpPr>
          <p:nvPr/>
        </p:nvSpPr>
        <p:spPr>
          <a:xfrm>
            <a:off x="7448550" y="1952625"/>
            <a:ext cx="3943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1125" b="1">
                <a:solidFill>
                  <a:srgbClr val="1F3038"/>
                </a:solidFill>
              </a:defRPr>
            </a:lvl1pPr>
            <a:lvl2pPr algn="ctr">
              <a:buNone/>
              <a:defRPr sz="1125" b="1">
                <a:solidFill>
                  <a:srgbClr val="1F3038"/>
                </a:solidFill>
              </a:defRPr>
            </a:lvl2pPr>
            <a:lvl3pPr algn="ctr">
              <a:buNone/>
              <a:defRPr sz="1125" b="1">
                <a:solidFill>
                  <a:srgbClr val="1F3038"/>
                </a:solidFill>
              </a:defRPr>
            </a:lvl3pPr>
            <a:lvl4pPr algn="ctr">
              <a:buNone/>
              <a:defRPr sz="1125" b="1">
                <a:solidFill>
                  <a:srgbClr val="1F3038"/>
                </a:solidFill>
              </a:defRPr>
            </a:lvl4pPr>
            <a:lvl5pPr algn="ctr">
              <a:buNone/>
              <a:defRPr sz="1125" b="1">
                <a:solidFill>
                  <a:srgbClr val="1F3038"/>
                </a:solidFill>
              </a:defRPr>
            </a:lvl5pPr>
            <a:lvl6pPr algn="ctr">
              <a:buNone/>
              <a:defRPr sz="1125" b="1">
                <a:solidFill>
                  <a:srgbClr val="1F3038"/>
                </a:solidFill>
              </a:defRPr>
            </a:lvl6pPr>
            <a:lvl7pPr algn="ctr">
              <a:buNone/>
              <a:defRPr sz="1125" b="1">
                <a:solidFill>
                  <a:srgbClr val="1F3038"/>
                </a:solidFill>
              </a:defRPr>
            </a:lvl7pPr>
            <a:lvl8pPr algn="ctr">
              <a:buNone/>
              <a:defRPr sz="1125" b="1">
                <a:solidFill>
                  <a:srgbClr val="1F3038"/>
                </a:solidFill>
              </a:defRPr>
            </a:lvl8pPr>
            <a:lvl9pPr algn="ctr">
              <a:buNone/>
              <a:defRPr sz="1125" b="1">
                <a:solidFill>
                  <a:srgbClr val="1F3038"/>
                </a:solidFill>
              </a:defRPr>
            </a:lvl9pPr>
          </a:lstStyle>
          <a:p>
            <a:pPr algn="ctr">
              <a:buNone/>
              <a:defRPr sz="1125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Karşı-olgusal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304AB5-821B-4F4F-9064-33FD50FC5066}"/>
              </a:ext>
            </a:extLst>
          </p:cNvPr>
          <p:cNvSpPr>
            <a:spLocks noGrp="1"/>
          </p:cNvSpPr>
          <p:nvPr/>
        </p:nvSpPr>
        <p:spPr>
          <a:xfrm>
            <a:off x="685800" y="2390775"/>
            <a:ext cx="2457450" cy="819150"/>
          </a:xfrm>
          <a:prstGeom prst="rect">
            <a:avLst/>
          </a:prstGeom>
          <a:solidFill>
            <a:srgbClr val="E8EEEE"/>
          </a:solidFill>
          <a:ln w="9525">
            <a:solidFill>
              <a:srgbClr val="D6DCD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00ED72-9016-48D8-A564-B214AFCC1CAD}"/>
              </a:ext>
            </a:extLst>
          </p:cNvPr>
          <p:cNvSpPr>
            <a:spLocks noGrp="1"/>
          </p:cNvSpPr>
          <p:nvPr/>
        </p:nvSpPr>
        <p:spPr>
          <a:xfrm>
            <a:off x="800100" y="2466975"/>
            <a:ext cx="2228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050" b="1">
                <a:solidFill>
                  <a:srgbClr val="1F3038"/>
                </a:solidFill>
              </a:defRPr>
            </a:lvl1pPr>
            <a:lvl2pPr algn="l">
              <a:buNone/>
              <a:defRPr sz="1050" b="1">
                <a:solidFill>
                  <a:srgbClr val="1F3038"/>
                </a:solidFill>
              </a:defRPr>
            </a:lvl2pPr>
            <a:lvl3pPr algn="l">
              <a:buNone/>
              <a:defRPr sz="1050" b="1">
                <a:solidFill>
                  <a:srgbClr val="1F3038"/>
                </a:solidFill>
              </a:defRPr>
            </a:lvl3pPr>
            <a:lvl4pPr algn="l">
              <a:buNone/>
              <a:defRPr sz="1050" b="1">
                <a:solidFill>
                  <a:srgbClr val="1F3038"/>
                </a:solidFill>
              </a:defRPr>
            </a:lvl4pPr>
            <a:lvl5pPr algn="l">
              <a:buNone/>
              <a:defRPr sz="1050" b="1">
                <a:solidFill>
                  <a:srgbClr val="1F3038"/>
                </a:solidFill>
              </a:defRPr>
            </a:lvl5pPr>
            <a:lvl6pPr algn="l">
              <a:buNone/>
              <a:defRPr sz="1050" b="1">
                <a:solidFill>
                  <a:srgbClr val="1F3038"/>
                </a:solidFill>
              </a:defRPr>
            </a:lvl6pPr>
            <a:lvl7pPr algn="l">
              <a:buNone/>
              <a:defRPr sz="1050" b="1">
                <a:solidFill>
                  <a:srgbClr val="1F3038"/>
                </a:solidFill>
              </a:defRPr>
            </a:lvl7pPr>
            <a:lvl8pPr algn="l">
              <a:buNone/>
              <a:defRPr sz="1050" b="1">
                <a:solidFill>
                  <a:srgbClr val="1F3038"/>
                </a:solidFill>
              </a:defRPr>
            </a:lvl8pPr>
            <a:lvl9pPr algn="l">
              <a:buNone/>
              <a:defRPr sz="105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Soru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C4C57F-F43F-469F-A224-FFDA0B068A92}"/>
              </a:ext>
            </a:extLst>
          </p:cNvPr>
          <p:cNvSpPr>
            <a:spLocks noGrp="1"/>
          </p:cNvSpPr>
          <p:nvPr/>
        </p:nvSpPr>
        <p:spPr>
          <a:xfrm>
            <a:off x="3143250" y="2390775"/>
            <a:ext cx="4191000" cy="819150"/>
          </a:xfrm>
          <a:prstGeom prst="rect">
            <a:avLst/>
          </a:prstGeom>
          <a:solidFill>
            <a:srgbClr val="E8EEEE"/>
          </a:solidFill>
          <a:ln w="9525">
            <a:solidFill>
              <a:srgbClr val="D6DCD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63F899-02BF-445A-AC33-6A5466A61839}"/>
              </a:ext>
            </a:extLst>
          </p:cNvPr>
          <p:cNvSpPr>
            <a:spLocks noGrp="1"/>
          </p:cNvSpPr>
          <p:nvPr/>
        </p:nvSpPr>
        <p:spPr>
          <a:xfrm>
            <a:off x="3257550" y="2466975"/>
            <a:ext cx="396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0">
                <a:solidFill>
                  <a:srgbClr val="5E6C70"/>
                </a:solidFill>
              </a:defRPr>
            </a:lvl1pPr>
            <a:lvl2pPr algn="ctr">
              <a:buNone/>
              <a:defRPr sz="975" b="0">
                <a:solidFill>
                  <a:srgbClr val="5E6C70"/>
                </a:solidFill>
              </a:defRPr>
            </a:lvl2pPr>
            <a:lvl3pPr algn="ctr">
              <a:buNone/>
              <a:defRPr sz="975" b="0">
                <a:solidFill>
                  <a:srgbClr val="5E6C70"/>
                </a:solidFill>
              </a:defRPr>
            </a:lvl3pPr>
            <a:lvl4pPr algn="ctr">
              <a:buNone/>
              <a:defRPr sz="975" b="0">
                <a:solidFill>
                  <a:srgbClr val="5E6C70"/>
                </a:solidFill>
              </a:defRPr>
            </a:lvl4pPr>
            <a:lvl5pPr algn="ctr">
              <a:buNone/>
              <a:defRPr sz="975" b="0">
                <a:solidFill>
                  <a:srgbClr val="5E6C70"/>
                </a:solidFill>
              </a:defRPr>
            </a:lvl5pPr>
            <a:lvl6pPr algn="ctr">
              <a:buNone/>
              <a:defRPr sz="975" b="0">
                <a:solidFill>
                  <a:srgbClr val="5E6C70"/>
                </a:solidFill>
              </a:defRPr>
            </a:lvl6pPr>
            <a:lvl7pPr algn="ctr">
              <a:buNone/>
              <a:defRPr sz="975" b="0">
                <a:solidFill>
                  <a:srgbClr val="5E6C70"/>
                </a:solidFill>
              </a:defRPr>
            </a:lvl7pPr>
            <a:lvl8pPr algn="ctr">
              <a:buNone/>
              <a:defRPr sz="975" b="0">
                <a:solidFill>
                  <a:srgbClr val="5E6C70"/>
                </a:solidFill>
              </a:defRPr>
            </a:lvl8pPr>
            <a:lvl9pPr algn="ctr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ctr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Bu tahmini hangi özellikler destekledi?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3FE94F-24C1-4F17-B145-C45D611A772F}"/>
              </a:ext>
            </a:extLst>
          </p:cNvPr>
          <p:cNvSpPr>
            <a:spLocks noGrp="1"/>
          </p:cNvSpPr>
          <p:nvPr/>
        </p:nvSpPr>
        <p:spPr>
          <a:xfrm>
            <a:off x="7334250" y="2390775"/>
            <a:ext cx="4171950" cy="819150"/>
          </a:xfrm>
          <a:prstGeom prst="rect">
            <a:avLst/>
          </a:prstGeom>
          <a:solidFill>
            <a:srgbClr val="E8EEEE"/>
          </a:solidFill>
          <a:ln w="9525">
            <a:solidFill>
              <a:srgbClr val="D6DCD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459B9-46BC-408A-B0F8-1E8BFF1EE8A0}"/>
              </a:ext>
            </a:extLst>
          </p:cNvPr>
          <p:cNvSpPr>
            <a:spLocks noGrp="1"/>
          </p:cNvSpPr>
          <p:nvPr/>
        </p:nvSpPr>
        <p:spPr>
          <a:xfrm>
            <a:off x="7448550" y="2466975"/>
            <a:ext cx="3943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0">
                <a:solidFill>
                  <a:srgbClr val="5E6C70"/>
                </a:solidFill>
              </a:defRPr>
            </a:lvl1pPr>
            <a:lvl2pPr algn="ctr">
              <a:buNone/>
              <a:defRPr sz="975" b="0">
                <a:solidFill>
                  <a:srgbClr val="5E6C70"/>
                </a:solidFill>
              </a:defRPr>
            </a:lvl2pPr>
            <a:lvl3pPr algn="ctr">
              <a:buNone/>
              <a:defRPr sz="975" b="0">
                <a:solidFill>
                  <a:srgbClr val="5E6C70"/>
                </a:solidFill>
              </a:defRPr>
            </a:lvl3pPr>
            <a:lvl4pPr algn="ctr">
              <a:buNone/>
              <a:defRPr sz="975" b="0">
                <a:solidFill>
                  <a:srgbClr val="5E6C70"/>
                </a:solidFill>
              </a:defRPr>
            </a:lvl4pPr>
            <a:lvl5pPr algn="ctr">
              <a:buNone/>
              <a:defRPr sz="975" b="0">
                <a:solidFill>
                  <a:srgbClr val="5E6C70"/>
                </a:solidFill>
              </a:defRPr>
            </a:lvl5pPr>
            <a:lvl6pPr algn="ctr">
              <a:buNone/>
              <a:defRPr sz="975" b="0">
                <a:solidFill>
                  <a:srgbClr val="5E6C70"/>
                </a:solidFill>
              </a:defRPr>
            </a:lvl6pPr>
            <a:lvl7pPr algn="ctr">
              <a:buNone/>
              <a:defRPr sz="975" b="0">
                <a:solidFill>
                  <a:srgbClr val="5E6C70"/>
                </a:solidFill>
              </a:defRPr>
            </a:lvl7pPr>
            <a:lvl8pPr algn="ctr">
              <a:buNone/>
              <a:defRPr sz="975" b="0">
                <a:solidFill>
                  <a:srgbClr val="5E6C70"/>
                </a:solidFill>
              </a:defRPr>
            </a:lvl8pPr>
            <a:lvl9pPr algn="ctr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ctr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Tahminin değişmesi için ne değişmeli?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F15F16-647D-4F5D-BA29-58B3A1F51816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24574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318DFA-6A62-42E4-AB3A-19B994F86D28}"/>
              </a:ext>
            </a:extLst>
          </p:cNvPr>
          <p:cNvSpPr>
            <a:spLocks noGrp="1"/>
          </p:cNvSpPr>
          <p:nvPr/>
        </p:nvSpPr>
        <p:spPr>
          <a:xfrm>
            <a:off x="800100" y="3286125"/>
            <a:ext cx="2228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050" b="1">
                <a:solidFill>
                  <a:srgbClr val="1F3038"/>
                </a:solidFill>
              </a:defRPr>
            </a:lvl1pPr>
            <a:lvl2pPr algn="l">
              <a:buNone/>
              <a:defRPr sz="1050" b="1">
                <a:solidFill>
                  <a:srgbClr val="1F3038"/>
                </a:solidFill>
              </a:defRPr>
            </a:lvl2pPr>
            <a:lvl3pPr algn="l">
              <a:buNone/>
              <a:defRPr sz="1050" b="1">
                <a:solidFill>
                  <a:srgbClr val="1F3038"/>
                </a:solidFill>
              </a:defRPr>
            </a:lvl3pPr>
            <a:lvl4pPr algn="l">
              <a:buNone/>
              <a:defRPr sz="1050" b="1">
                <a:solidFill>
                  <a:srgbClr val="1F3038"/>
                </a:solidFill>
              </a:defRPr>
            </a:lvl4pPr>
            <a:lvl5pPr algn="l">
              <a:buNone/>
              <a:defRPr sz="1050" b="1">
                <a:solidFill>
                  <a:srgbClr val="1F3038"/>
                </a:solidFill>
              </a:defRPr>
            </a:lvl5pPr>
            <a:lvl6pPr algn="l">
              <a:buNone/>
              <a:defRPr sz="1050" b="1">
                <a:solidFill>
                  <a:srgbClr val="1F3038"/>
                </a:solidFill>
              </a:defRPr>
            </a:lvl6pPr>
            <a:lvl7pPr algn="l">
              <a:buNone/>
              <a:defRPr sz="1050" b="1">
                <a:solidFill>
                  <a:srgbClr val="1F3038"/>
                </a:solidFill>
              </a:defRPr>
            </a:lvl7pPr>
            <a:lvl8pPr algn="l">
              <a:buNone/>
              <a:defRPr sz="1050" b="1">
                <a:solidFill>
                  <a:srgbClr val="1F3038"/>
                </a:solidFill>
              </a:defRPr>
            </a:lvl8pPr>
            <a:lvl9pPr algn="l">
              <a:buNone/>
              <a:defRPr sz="105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Çıktı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08A231-0298-4276-8C2A-CA52A377AA0B}"/>
              </a:ext>
            </a:extLst>
          </p:cNvPr>
          <p:cNvSpPr>
            <a:spLocks noGrp="1"/>
          </p:cNvSpPr>
          <p:nvPr/>
        </p:nvSpPr>
        <p:spPr>
          <a:xfrm>
            <a:off x="3143250" y="3209925"/>
            <a:ext cx="41910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9882E9-B4B7-4417-9CAE-EEA14F928678}"/>
              </a:ext>
            </a:extLst>
          </p:cNvPr>
          <p:cNvSpPr>
            <a:spLocks noGrp="1"/>
          </p:cNvSpPr>
          <p:nvPr/>
        </p:nvSpPr>
        <p:spPr>
          <a:xfrm>
            <a:off x="3257550" y="3286125"/>
            <a:ext cx="396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0">
                <a:solidFill>
                  <a:srgbClr val="5E6C70"/>
                </a:solidFill>
              </a:defRPr>
            </a:lvl1pPr>
            <a:lvl2pPr algn="ctr">
              <a:buNone/>
              <a:defRPr sz="975" b="0">
                <a:solidFill>
                  <a:srgbClr val="5E6C70"/>
                </a:solidFill>
              </a:defRPr>
            </a:lvl2pPr>
            <a:lvl3pPr algn="ctr">
              <a:buNone/>
              <a:defRPr sz="975" b="0">
                <a:solidFill>
                  <a:srgbClr val="5E6C70"/>
                </a:solidFill>
              </a:defRPr>
            </a:lvl3pPr>
            <a:lvl4pPr algn="ctr">
              <a:buNone/>
              <a:defRPr sz="975" b="0">
                <a:solidFill>
                  <a:srgbClr val="5E6C70"/>
                </a:solidFill>
              </a:defRPr>
            </a:lvl4pPr>
            <a:lvl5pPr algn="ctr">
              <a:buNone/>
              <a:defRPr sz="975" b="0">
                <a:solidFill>
                  <a:srgbClr val="5E6C70"/>
                </a:solidFill>
              </a:defRPr>
            </a:lvl5pPr>
            <a:lvl6pPr algn="ctr">
              <a:buNone/>
              <a:defRPr sz="975" b="0">
                <a:solidFill>
                  <a:srgbClr val="5E6C70"/>
                </a:solidFill>
              </a:defRPr>
            </a:lvl6pPr>
            <a:lvl7pPr algn="ctr">
              <a:buNone/>
              <a:defRPr sz="975" b="0">
                <a:solidFill>
                  <a:srgbClr val="5E6C70"/>
                </a:solidFill>
              </a:defRPr>
            </a:lvl7pPr>
            <a:lvl8pPr algn="ctr">
              <a:buNone/>
              <a:defRPr sz="975" b="0">
                <a:solidFill>
                  <a:srgbClr val="5E6C70"/>
                </a:solidFill>
              </a:defRPr>
            </a:lvl8pPr>
            <a:lvl9pPr algn="ctr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ctr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Yerel vekil model ve özellik ağırlıkları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374988-B6E0-479D-AE89-A0115E880CB6}"/>
              </a:ext>
            </a:extLst>
          </p:cNvPr>
          <p:cNvSpPr>
            <a:spLocks noGrp="1"/>
          </p:cNvSpPr>
          <p:nvPr/>
        </p:nvSpPr>
        <p:spPr>
          <a:xfrm>
            <a:off x="7334250" y="3209925"/>
            <a:ext cx="41719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2528B3-0402-4D8D-86AA-E34489B92594}"/>
              </a:ext>
            </a:extLst>
          </p:cNvPr>
          <p:cNvSpPr>
            <a:spLocks noGrp="1"/>
          </p:cNvSpPr>
          <p:nvPr/>
        </p:nvSpPr>
        <p:spPr>
          <a:xfrm>
            <a:off x="7448550" y="3286125"/>
            <a:ext cx="3943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0">
                <a:solidFill>
                  <a:srgbClr val="5E6C70"/>
                </a:solidFill>
              </a:defRPr>
            </a:lvl1pPr>
            <a:lvl2pPr algn="ctr">
              <a:buNone/>
              <a:defRPr sz="975" b="0">
                <a:solidFill>
                  <a:srgbClr val="5E6C70"/>
                </a:solidFill>
              </a:defRPr>
            </a:lvl2pPr>
            <a:lvl3pPr algn="ctr">
              <a:buNone/>
              <a:defRPr sz="975" b="0">
                <a:solidFill>
                  <a:srgbClr val="5E6C70"/>
                </a:solidFill>
              </a:defRPr>
            </a:lvl3pPr>
            <a:lvl4pPr algn="ctr">
              <a:buNone/>
              <a:defRPr sz="975" b="0">
                <a:solidFill>
                  <a:srgbClr val="5E6C70"/>
                </a:solidFill>
              </a:defRPr>
            </a:lvl4pPr>
            <a:lvl5pPr algn="ctr">
              <a:buNone/>
              <a:defRPr sz="975" b="0">
                <a:solidFill>
                  <a:srgbClr val="5E6C70"/>
                </a:solidFill>
              </a:defRPr>
            </a:lvl5pPr>
            <a:lvl6pPr algn="ctr">
              <a:buNone/>
              <a:defRPr sz="975" b="0">
                <a:solidFill>
                  <a:srgbClr val="5E6C70"/>
                </a:solidFill>
              </a:defRPr>
            </a:lvl6pPr>
            <a:lvl7pPr algn="ctr">
              <a:buNone/>
              <a:defRPr sz="975" b="0">
                <a:solidFill>
                  <a:srgbClr val="5E6C70"/>
                </a:solidFill>
              </a:defRPr>
            </a:lvl7pPr>
            <a:lvl8pPr algn="ctr">
              <a:buNone/>
              <a:defRPr sz="975" b="0">
                <a:solidFill>
                  <a:srgbClr val="5E6C70"/>
                </a:solidFill>
              </a:defRPr>
            </a:lvl8pPr>
            <a:lvl9pPr algn="ctr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ctr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Bir veya daha çok alternatif örnek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B1EB67-967D-4264-8C9C-F23587517BFF}"/>
              </a:ext>
            </a:extLst>
          </p:cNvPr>
          <p:cNvSpPr>
            <a:spLocks noGrp="1"/>
          </p:cNvSpPr>
          <p:nvPr/>
        </p:nvSpPr>
        <p:spPr>
          <a:xfrm>
            <a:off x="685800" y="4029075"/>
            <a:ext cx="2457450" cy="819150"/>
          </a:xfrm>
          <a:prstGeom prst="rect">
            <a:avLst/>
          </a:prstGeom>
          <a:solidFill>
            <a:srgbClr val="E8EEEE"/>
          </a:solidFill>
          <a:ln w="9525">
            <a:solidFill>
              <a:srgbClr val="D6DCD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C1A361-83CE-4F51-8124-A466DF614C92}"/>
              </a:ext>
            </a:extLst>
          </p:cNvPr>
          <p:cNvSpPr>
            <a:spLocks noGrp="1"/>
          </p:cNvSpPr>
          <p:nvPr/>
        </p:nvSpPr>
        <p:spPr>
          <a:xfrm>
            <a:off x="800100" y="4105275"/>
            <a:ext cx="2228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050" b="1">
                <a:solidFill>
                  <a:srgbClr val="1F3038"/>
                </a:solidFill>
              </a:defRPr>
            </a:lvl1pPr>
            <a:lvl2pPr algn="l">
              <a:buNone/>
              <a:defRPr sz="1050" b="1">
                <a:solidFill>
                  <a:srgbClr val="1F3038"/>
                </a:solidFill>
              </a:defRPr>
            </a:lvl2pPr>
            <a:lvl3pPr algn="l">
              <a:buNone/>
              <a:defRPr sz="1050" b="1">
                <a:solidFill>
                  <a:srgbClr val="1F3038"/>
                </a:solidFill>
              </a:defRPr>
            </a:lvl3pPr>
            <a:lvl4pPr algn="l">
              <a:buNone/>
              <a:defRPr sz="1050" b="1">
                <a:solidFill>
                  <a:srgbClr val="1F3038"/>
                </a:solidFill>
              </a:defRPr>
            </a:lvl4pPr>
            <a:lvl5pPr algn="l">
              <a:buNone/>
              <a:defRPr sz="1050" b="1">
                <a:solidFill>
                  <a:srgbClr val="1F3038"/>
                </a:solidFill>
              </a:defRPr>
            </a:lvl5pPr>
            <a:lvl6pPr algn="l">
              <a:buNone/>
              <a:defRPr sz="1050" b="1">
                <a:solidFill>
                  <a:srgbClr val="1F3038"/>
                </a:solidFill>
              </a:defRPr>
            </a:lvl6pPr>
            <a:lvl7pPr algn="l">
              <a:buNone/>
              <a:defRPr sz="1050" b="1">
                <a:solidFill>
                  <a:srgbClr val="1F3038"/>
                </a:solidFill>
              </a:defRPr>
            </a:lvl7pPr>
            <a:lvl8pPr algn="l">
              <a:buNone/>
              <a:defRPr sz="1050" b="1">
                <a:solidFill>
                  <a:srgbClr val="1F3038"/>
                </a:solidFill>
              </a:defRPr>
            </a:lvl8pPr>
            <a:lvl9pPr algn="l">
              <a:buNone/>
              <a:defRPr sz="105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Temel risk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2B7BD4-6C98-4949-9A35-A9AAF5C97E92}"/>
              </a:ext>
            </a:extLst>
          </p:cNvPr>
          <p:cNvSpPr>
            <a:spLocks noGrp="1"/>
          </p:cNvSpPr>
          <p:nvPr/>
        </p:nvSpPr>
        <p:spPr>
          <a:xfrm>
            <a:off x="3143250" y="4029075"/>
            <a:ext cx="4191000" cy="819150"/>
          </a:xfrm>
          <a:prstGeom prst="rect">
            <a:avLst/>
          </a:prstGeom>
          <a:solidFill>
            <a:srgbClr val="E8EEEE"/>
          </a:solidFill>
          <a:ln w="9525">
            <a:solidFill>
              <a:srgbClr val="D6DCD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860372-2843-436B-96C4-10692CFD5443}"/>
              </a:ext>
            </a:extLst>
          </p:cNvPr>
          <p:cNvSpPr>
            <a:spLocks noGrp="1"/>
          </p:cNvSpPr>
          <p:nvPr/>
        </p:nvSpPr>
        <p:spPr>
          <a:xfrm>
            <a:off x="3257550" y="4105275"/>
            <a:ext cx="396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0">
                <a:solidFill>
                  <a:srgbClr val="5E6C70"/>
                </a:solidFill>
              </a:defRPr>
            </a:lvl1pPr>
            <a:lvl2pPr algn="ctr">
              <a:buNone/>
              <a:defRPr sz="975" b="0">
                <a:solidFill>
                  <a:srgbClr val="5E6C70"/>
                </a:solidFill>
              </a:defRPr>
            </a:lvl2pPr>
            <a:lvl3pPr algn="ctr">
              <a:buNone/>
              <a:defRPr sz="975" b="0">
                <a:solidFill>
                  <a:srgbClr val="5E6C70"/>
                </a:solidFill>
              </a:defRPr>
            </a:lvl3pPr>
            <a:lvl4pPr algn="ctr">
              <a:buNone/>
              <a:defRPr sz="975" b="0">
                <a:solidFill>
                  <a:srgbClr val="5E6C70"/>
                </a:solidFill>
              </a:defRPr>
            </a:lvl4pPr>
            <a:lvl5pPr algn="ctr">
              <a:buNone/>
              <a:defRPr sz="975" b="0">
                <a:solidFill>
                  <a:srgbClr val="5E6C70"/>
                </a:solidFill>
              </a:defRPr>
            </a:lvl5pPr>
            <a:lvl6pPr algn="ctr">
              <a:buNone/>
              <a:defRPr sz="975" b="0">
                <a:solidFill>
                  <a:srgbClr val="5E6C70"/>
                </a:solidFill>
              </a:defRPr>
            </a:lvl6pPr>
            <a:lvl7pPr algn="ctr">
              <a:buNone/>
              <a:defRPr sz="975" b="0">
                <a:solidFill>
                  <a:srgbClr val="5E6C70"/>
                </a:solidFill>
              </a:defRPr>
            </a:lvl7pPr>
            <a:lvl8pPr algn="ctr">
              <a:buNone/>
              <a:defRPr sz="975" b="0">
                <a:solidFill>
                  <a:srgbClr val="5E6C70"/>
                </a:solidFill>
              </a:defRPr>
            </a:lvl8pPr>
            <a:lvl9pPr algn="ctr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ctr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Örnekleme, çekirdek ve kararlılık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F70947-FE9E-419E-AB5B-97F86D3E2013}"/>
              </a:ext>
            </a:extLst>
          </p:cNvPr>
          <p:cNvSpPr>
            <a:spLocks noGrp="1"/>
          </p:cNvSpPr>
          <p:nvPr/>
        </p:nvSpPr>
        <p:spPr>
          <a:xfrm>
            <a:off x="7334250" y="4029075"/>
            <a:ext cx="4171950" cy="819150"/>
          </a:xfrm>
          <a:prstGeom prst="rect">
            <a:avLst/>
          </a:prstGeom>
          <a:solidFill>
            <a:srgbClr val="E8EEEE"/>
          </a:solidFill>
          <a:ln w="9525">
            <a:solidFill>
              <a:srgbClr val="D6DCD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1D34F0-89C0-49C8-8DD1-5804C1237A7A}"/>
              </a:ext>
            </a:extLst>
          </p:cNvPr>
          <p:cNvSpPr>
            <a:spLocks noGrp="1"/>
          </p:cNvSpPr>
          <p:nvPr/>
        </p:nvSpPr>
        <p:spPr>
          <a:xfrm>
            <a:off x="7448550" y="4105275"/>
            <a:ext cx="3943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0">
                <a:solidFill>
                  <a:srgbClr val="5E6C70"/>
                </a:solidFill>
              </a:defRPr>
            </a:lvl1pPr>
            <a:lvl2pPr algn="ctr">
              <a:buNone/>
              <a:defRPr sz="975" b="0">
                <a:solidFill>
                  <a:srgbClr val="5E6C70"/>
                </a:solidFill>
              </a:defRPr>
            </a:lvl2pPr>
            <a:lvl3pPr algn="ctr">
              <a:buNone/>
              <a:defRPr sz="975" b="0">
                <a:solidFill>
                  <a:srgbClr val="5E6C70"/>
                </a:solidFill>
              </a:defRPr>
            </a:lvl3pPr>
            <a:lvl4pPr algn="ctr">
              <a:buNone/>
              <a:defRPr sz="975" b="0">
                <a:solidFill>
                  <a:srgbClr val="5E6C70"/>
                </a:solidFill>
              </a:defRPr>
            </a:lvl4pPr>
            <a:lvl5pPr algn="ctr">
              <a:buNone/>
              <a:defRPr sz="975" b="0">
                <a:solidFill>
                  <a:srgbClr val="5E6C70"/>
                </a:solidFill>
              </a:defRPr>
            </a:lvl5pPr>
            <a:lvl6pPr algn="ctr">
              <a:buNone/>
              <a:defRPr sz="975" b="0">
                <a:solidFill>
                  <a:srgbClr val="5E6C70"/>
                </a:solidFill>
              </a:defRPr>
            </a:lvl6pPr>
            <a:lvl7pPr algn="ctr">
              <a:buNone/>
              <a:defRPr sz="975" b="0">
                <a:solidFill>
                  <a:srgbClr val="5E6C70"/>
                </a:solidFill>
              </a:defRPr>
            </a:lvl7pPr>
            <a:lvl8pPr algn="ctr">
              <a:buNone/>
              <a:defRPr sz="975" b="0">
                <a:solidFill>
                  <a:srgbClr val="5E6C70"/>
                </a:solidFill>
              </a:defRPr>
            </a:lvl8pPr>
            <a:lvl9pPr algn="ctr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ctr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Uygulanabilirlik, nedensellik ve Rashomon etkisi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9D2FE4-E17E-4366-B1EF-AD4CBD180F47}"/>
              </a:ext>
            </a:extLst>
          </p:cNvPr>
          <p:cNvSpPr>
            <a:spLocks noGrp="1"/>
          </p:cNvSpPr>
          <p:nvPr/>
        </p:nvSpPr>
        <p:spPr>
          <a:xfrm>
            <a:off x="685800" y="4848225"/>
            <a:ext cx="24574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F4A2F4-79E9-4C0E-911F-086F70B7BD23}"/>
              </a:ext>
            </a:extLst>
          </p:cNvPr>
          <p:cNvSpPr>
            <a:spLocks noGrp="1"/>
          </p:cNvSpPr>
          <p:nvPr/>
        </p:nvSpPr>
        <p:spPr>
          <a:xfrm>
            <a:off x="800100" y="4924425"/>
            <a:ext cx="2228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050" b="1">
                <a:solidFill>
                  <a:srgbClr val="1F3038"/>
                </a:solidFill>
              </a:defRPr>
            </a:lvl1pPr>
            <a:lvl2pPr algn="l">
              <a:buNone/>
              <a:defRPr sz="1050" b="1">
                <a:solidFill>
                  <a:srgbClr val="1F3038"/>
                </a:solidFill>
              </a:defRPr>
            </a:lvl2pPr>
            <a:lvl3pPr algn="l">
              <a:buNone/>
              <a:defRPr sz="1050" b="1">
                <a:solidFill>
                  <a:srgbClr val="1F3038"/>
                </a:solidFill>
              </a:defRPr>
            </a:lvl3pPr>
            <a:lvl4pPr algn="l">
              <a:buNone/>
              <a:defRPr sz="1050" b="1">
                <a:solidFill>
                  <a:srgbClr val="1F3038"/>
                </a:solidFill>
              </a:defRPr>
            </a:lvl4pPr>
            <a:lvl5pPr algn="l">
              <a:buNone/>
              <a:defRPr sz="1050" b="1">
                <a:solidFill>
                  <a:srgbClr val="1F3038"/>
                </a:solidFill>
              </a:defRPr>
            </a:lvl5pPr>
            <a:lvl6pPr algn="l">
              <a:buNone/>
              <a:defRPr sz="1050" b="1">
                <a:solidFill>
                  <a:srgbClr val="1F3038"/>
                </a:solidFill>
              </a:defRPr>
            </a:lvl6pPr>
            <a:lvl7pPr algn="l">
              <a:buNone/>
              <a:defRPr sz="1050" b="1">
                <a:solidFill>
                  <a:srgbClr val="1F3038"/>
                </a:solidFill>
              </a:defRPr>
            </a:lvl7pPr>
            <a:lvl8pPr algn="l">
              <a:buNone/>
              <a:defRPr sz="1050" b="1">
                <a:solidFill>
                  <a:srgbClr val="1F3038"/>
                </a:solidFill>
              </a:defRPr>
            </a:lvl8pPr>
            <a:lvl9pPr algn="l">
              <a:buNone/>
              <a:defRPr sz="105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1F3038"/>
                </a:solidFill>
              </a:defRPr>
            </a:pPr>
            <a:r>
              <a:rPr sz="1350" b="1">
                <a:solidFill>
                  <a:srgbClr val="1F3038"/>
                </a:solidFill>
              </a:rPr>
              <a:t>En uygun kullanım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1D1F2E-F182-4EFD-ADE6-E92BD1635798}"/>
              </a:ext>
            </a:extLst>
          </p:cNvPr>
          <p:cNvSpPr>
            <a:spLocks noGrp="1"/>
          </p:cNvSpPr>
          <p:nvPr/>
        </p:nvSpPr>
        <p:spPr>
          <a:xfrm>
            <a:off x="3143250" y="4848225"/>
            <a:ext cx="41910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2C1F5D-2F46-4FF7-94DB-094F76F468BC}"/>
              </a:ext>
            </a:extLst>
          </p:cNvPr>
          <p:cNvSpPr>
            <a:spLocks noGrp="1"/>
          </p:cNvSpPr>
          <p:nvPr/>
        </p:nvSpPr>
        <p:spPr>
          <a:xfrm>
            <a:off x="3257550" y="4924425"/>
            <a:ext cx="396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0">
                <a:solidFill>
                  <a:srgbClr val="5E6C70"/>
                </a:solidFill>
              </a:defRPr>
            </a:lvl1pPr>
            <a:lvl2pPr algn="ctr">
              <a:buNone/>
              <a:defRPr sz="975" b="0">
                <a:solidFill>
                  <a:srgbClr val="5E6C70"/>
                </a:solidFill>
              </a:defRPr>
            </a:lvl2pPr>
            <a:lvl3pPr algn="ctr">
              <a:buNone/>
              <a:defRPr sz="975" b="0">
                <a:solidFill>
                  <a:srgbClr val="5E6C70"/>
                </a:solidFill>
              </a:defRPr>
            </a:lvl3pPr>
            <a:lvl4pPr algn="ctr">
              <a:buNone/>
              <a:defRPr sz="975" b="0">
                <a:solidFill>
                  <a:srgbClr val="5E6C70"/>
                </a:solidFill>
              </a:defRPr>
            </a:lvl4pPr>
            <a:lvl5pPr algn="ctr">
              <a:buNone/>
              <a:defRPr sz="975" b="0">
                <a:solidFill>
                  <a:srgbClr val="5E6C70"/>
                </a:solidFill>
              </a:defRPr>
            </a:lvl5pPr>
            <a:lvl6pPr algn="ctr">
              <a:buNone/>
              <a:defRPr sz="975" b="0">
                <a:solidFill>
                  <a:srgbClr val="5E6C70"/>
                </a:solidFill>
              </a:defRPr>
            </a:lvl6pPr>
            <a:lvl7pPr algn="ctr">
              <a:buNone/>
              <a:defRPr sz="975" b="0">
                <a:solidFill>
                  <a:srgbClr val="5E6C70"/>
                </a:solidFill>
              </a:defRPr>
            </a:lvl7pPr>
            <a:lvl8pPr algn="ctr">
              <a:buNone/>
              <a:defRPr sz="975" b="0">
                <a:solidFill>
                  <a:srgbClr val="5E6C70"/>
                </a:solidFill>
              </a:defRPr>
            </a:lvl8pPr>
            <a:lvl9pPr algn="ctr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ctr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Yerel özellik etkilerini inceleme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07E2D44-7BBE-4CFC-A13C-437A03923805}"/>
              </a:ext>
            </a:extLst>
          </p:cNvPr>
          <p:cNvSpPr>
            <a:spLocks noGrp="1"/>
          </p:cNvSpPr>
          <p:nvPr/>
        </p:nvSpPr>
        <p:spPr>
          <a:xfrm>
            <a:off x="7334250" y="4848225"/>
            <a:ext cx="41719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E47FD3-AB5C-4BE2-9FF0-40292FFBF1D2}"/>
              </a:ext>
            </a:extLst>
          </p:cNvPr>
          <p:cNvSpPr>
            <a:spLocks noGrp="1"/>
          </p:cNvSpPr>
          <p:nvPr/>
        </p:nvSpPr>
        <p:spPr>
          <a:xfrm>
            <a:off x="7448550" y="4924425"/>
            <a:ext cx="3943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0">
                <a:solidFill>
                  <a:srgbClr val="5E6C70"/>
                </a:solidFill>
              </a:defRPr>
            </a:lvl1pPr>
            <a:lvl2pPr algn="ctr">
              <a:buNone/>
              <a:defRPr sz="975" b="0">
                <a:solidFill>
                  <a:srgbClr val="5E6C70"/>
                </a:solidFill>
              </a:defRPr>
            </a:lvl2pPr>
            <a:lvl3pPr algn="ctr">
              <a:buNone/>
              <a:defRPr sz="975" b="0">
                <a:solidFill>
                  <a:srgbClr val="5E6C70"/>
                </a:solidFill>
              </a:defRPr>
            </a:lvl3pPr>
            <a:lvl4pPr algn="ctr">
              <a:buNone/>
              <a:defRPr sz="975" b="0">
                <a:solidFill>
                  <a:srgbClr val="5E6C70"/>
                </a:solidFill>
              </a:defRPr>
            </a:lvl4pPr>
            <a:lvl5pPr algn="ctr">
              <a:buNone/>
              <a:defRPr sz="975" b="0">
                <a:solidFill>
                  <a:srgbClr val="5E6C70"/>
                </a:solidFill>
              </a:defRPr>
            </a:lvl5pPr>
            <a:lvl6pPr algn="ctr">
              <a:buNone/>
              <a:defRPr sz="975" b="0">
                <a:solidFill>
                  <a:srgbClr val="5E6C70"/>
                </a:solidFill>
              </a:defRPr>
            </a:lvl6pPr>
            <a:lvl7pPr algn="ctr">
              <a:buNone/>
              <a:defRPr sz="975" b="0">
                <a:solidFill>
                  <a:srgbClr val="5E6C70"/>
                </a:solidFill>
              </a:defRPr>
            </a:lvl7pPr>
            <a:lvl8pPr algn="ctr">
              <a:buNone/>
              <a:defRPr sz="975" b="0">
                <a:solidFill>
                  <a:srgbClr val="5E6C70"/>
                </a:solidFill>
              </a:defRPr>
            </a:lvl8pPr>
            <a:lvl9pPr algn="ctr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ctr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Eyleme dönük değişiklik seçenekleri üretme</a:t>
            </a:r>
          </a:p>
        </p:txBody>
      </p:sp>
    </p:spTree>
    <p:extLst>
      <p:ext uri="{BB962C8B-B14F-4D97-AF65-F5344CB8AC3E}">
        <p14:creationId xmlns:p14="http://schemas.microsoft.com/office/powerpoint/2010/main" val="1254342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6F3F222-DB92-44E1-B39A-027EC26F9DAF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825" b="1">
                <a:solidFill>
                  <a:srgbClr val="FF654A"/>
                </a:solidFill>
              </a:defRPr>
            </a:lvl1pPr>
            <a:lvl2pPr algn="l">
              <a:buNone/>
              <a:defRPr sz="825" b="1">
                <a:solidFill>
                  <a:srgbClr val="FF654A"/>
                </a:solidFill>
              </a:defRPr>
            </a:lvl2pPr>
            <a:lvl3pPr algn="l">
              <a:buNone/>
              <a:defRPr sz="825" b="1">
                <a:solidFill>
                  <a:srgbClr val="FF654A"/>
                </a:solidFill>
              </a:defRPr>
            </a:lvl3pPr>
            <a:lvl4pPr algn="l">
              <a:buNone/>
              <a:defRPr sz="825" b="1">
                <a:solidFill>
                  <a:srgbClr val="FF654A"/>
                </a:solidFill>
              </a:defRPr>
            </a:lvl4pPr>
            <a:lvl5pPr algn="l">
              <a:buNone/>
              <a:defRPr sz="825" b="1">
                <a:solidFill>
                  <a:srgbClr val="FF654A"/>
                </a:solidFill>
              </a:defRPr>
            </a:lvl5pPr>
            <a:lvl6pPr algn="l">
              <a:buNone/>
              <a:defRPr sz="825" b="1">
                <a:solidFill>
                  <a:srgbClr val="FF654A"/>
                </a:solidFill>
              </a:defRPr>
            </a:lvl6pPr>
            <a:lvl7pPr algn="l">
              <a:buNone/>
              <a:defRPr sz="825" b="1">
                <a:solidFill>
                  <a:srgbClr val="FF654A"/>
                </a:solidFill>
              </a:defRPr>
            </a:lvl7pPr>
            <a:lvl8pPr algn="l">
              <a:buNone/>
              <a:defRPr sz="825" b="1">
                <a:solidFill>
                  <a:srgbClr val="FF654A"/>
                </a:solidFill>
              </a:defRPr>
            </a:lvl8pPr>
            <a:lvl9pPr algn="l">
              <a:buNone/>
              <a:defRPr sz="825" b="1">
                <a:solidFill>
                  <a:srgbClr val="FF654A"/>
                </a:solidFill>
              </a:defRPr>
            </a:lvl9pPr>
          </a:lstStyle>
          <a:p>
            <a:pPr algn="l">
              <a:buNone/>
              <a:defRPr sz="825" b="1">
                <a:solidFill>
                  <a:srgbClr val="FF654A"/>
                </a:solidFill>
              </a:defRPr>
            </a:pPr>
            <a:r>
              <a:rPr sz="825" b="1">
                <a:solidFill>
                  <a:srgbClr val="FF654A"/>
                </a:solidFill>
              </a:rPr>
              <a:t>SONUÇ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123038-0D46-4266-A4B5-F2BB75BAB9B1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025" b="1">
                <a:solidFill>
                  <a:srgbClr val="1F3038"/>
                </a:solidFill>
              </a:defRPr>
            </a:lvl1pPr>
            <a:lvl2pPr algn="l">
              <a:buNone/>
              <a:defRPr sz="2025" b="1">
                <a:solidFill>
                  <a:srgbClr val="1F3038"/>
                </a:solidFill>
              </a:defRPr>
            </a:lvl2pPr>
            <a:lvl3pPr algn="l">
              <a:buNone/>
              <a:defRPr sz="2025" b="1">
                <a:solidFill>
                  <a:srgbClr val="1F3038"/>
                </a:solidFill>
              </a:defRPr>
            </a:lvl3pPr>
            <a:lvl4pPr algn="l">
              <a:buNone/>
              <a:defRPr sz="2025" b="1">
                <a:solidFill>
                  <a:srgbClr val="1F3038"/>
                </a:solidFill>
              </a:defRPr>
            </a:lvl4pPr>
            <a:lvl5pPr algn="l">
              <a:buNone/>
              <a:defRPr sz="2025" b="1">
                <a:solidFill>
                  <a:srgbClr val="1F3038"/>
                </a:solidFill>
              </a:defRPr>
            </a:lvl5pPr>
            <a:lvl6pPr algn="l">
              <a:buNone/>
              <a:defRPr sz="2025" b="1">
                <a:solidFill>
                  <a:srgbClr val="1F3038"/>
                </a:solidFill>
              </a:defRPr>
            </a:lvl6pPr>
            <a:lvl7pPr algn="l">
              <a:buNone/>
              <a:defRPr sz="2025" b="1">
                <a:solidFill>
                  <a:srgbClr val="1F3038"/>
                </a:solidFill>
              </a:defRPr>
            </a:lvl7pPr>
            <a:lvl8pPr algn="l">
              <a:buNone/>
              <a:defRPr sz="2025" b="1">
                <a:solidFill>
                  <a:srgbClr val="1F3038"/>
                </a:solidFill>
              </a:defRPr>
            </a:lvl8pPr>
            <a:lvl9pPr algn="l">
              <a:buNone/>
              <a:defRPr sz="2025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2025" b="1">
                <a:solidFill>
                  <a:srgbClr val="1F3038"/>
                </a:solidFill>
              </a:defRPr>
            </a:pPr>
            <a:r>
              <a:rPr sz="2100" b="1">
                <a:solidFill>
                  <a:srgbClr val="1F3038"/>
                </a:solidFill>
              </a:rPr>
              <a:t>Sonuç: iki tamamlayıcı yerel açıklama yaklaşımı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CA3B31-CED0-4C8C-9B72-2E402AC75B11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19050"/>
          </a:xfrm>
          <a:prstGeom prst="rect">
            <a:avLst/>
          </a:prstGeom>
          <a:solidFill>
            <a:srgbClr val="1F3038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8B4851-7D1E-402A-A169-5D37AF77DB4C}"/>
              </a:ext>
            </a:extLst>
          </p:cNvPr>
          <p:cNvSpPr>
            <a:spLocks noGrp="1"/>
          </p:cNvSpPr>
          <p:nvPr/>
        </p:nvSpPr>
        <p:spPr>
          <a:xfrm>
            <a:off x="11182350" y="65151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r">
              <a:buNone/>
              <a:defRPr sz="675" b="0">
                <a:solidFill>
                  <a:srgbClr val="96A0A2"/>
                </a:solidFill>
              </a:defRPr>
            </a:lvl1pPr>
            <a:lvl2pPr algn="r">
              <a:buNone/>
              <a:defRPr sz="675" b="0">
                <a:solidFill>
                  <a:srgbClr val="96A0A2"/>
                </a:solidFill>
              </a:defRPr>
            </a:lvl2pPr>
            <a:lvl3pPr algn="r">
              <a:buNone/>
              <a:defRPr sz="675" b="0">
                <a:solidFill>
                  <a:srgbClr val="96A0A2"/>
                </a:solidFill>
              </a:defRPr>
            </a:lvl3pPr>
            <a:lvl4pPr algn="r">
              <a:buNone/>
              <a:defRPr sz="675" b="0">
                <a:solidFill>
                  <a:srgbClr val="96A0A2"/>
                </a:solidFill>
              </a:defRPr>
            </a:lvl4pPr>
            <a:lvl5pPr algn="r">
              <a:buNone/>
              <a:defRPr sz="675" b="0">
                <a:solidFill>
                  <a:srgbClr val="96A0A2"/>
                </a:solidFill>
              </a:defRPr>
            </a:lvl5pPr>
            <a:lvl6pPr algn="r">
              <a:buNone/>
              <a:defRPr sz="675" b="0">
                <a:solidFill>
                  <a:srgbClr val="96A0A2"/>
                </a:solidFill>
              </a:defRPr>
            </a:lvl6pPr>
            <a:lvl7pPr algn="r">
              <a:buNone/>
              <a:defRPr sz="675" b="0">
                <a:solidFill>
                  <a:srgbClr val="96A0A2"/>
                </a:solidFill>
              </a:defRPr>
            </a:lvl7pPr>
            <a:lvl8pPr algn="r">
              <a:buNone/>
              <a:defRPr sz="675" b="0">
                <a:solidFill>
                  <a:srgbClr val="96A0A2"/>
                </a:solidFill>
              </a:defRPr>
            </a:lvl8pPr>
            <a:lvl9pPr algn="r">
              <a:buNone/>
              <a:defRPr sz="675" b="0">
                <a:solidFill>
                  <a:srgbClr val="96A0A2"/>
                </a:solidFill>
              </a:defRPr>
            </a:lvl9pPr>
          </a:lstStyle>
          <a:p>
            <a:pPr algn="r">
              <a:buNone/>
              <a:defRPr sz="675" b="0">
                <a:solidFill>
                  <a:srgbClr val="96A0A2"/>
                </a:solidFill>
              </a:defRPr>
            </a:pPr>
            <a:r>
              <a:rPr sz="750" b="0">
                <a:solidFill>
                  <a:srgbClr val="96A0A2"/>
                </a:solidFill>
              </a:rPr>
              <a:t>38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C042681-EA57-40F8-982C-E1949CB18DCE}"/>
              </a:ext>
            </a:extLst>
          </p:cNvPr>
          <p:cNvSpPr>
            <a:spLocks noGrp="1"/>
          </p:cNvSpPr>
          <p:nvPr/>
        </p:nvSpPr>
        <p:spPr>
          <a:xfrm>
            <a:off x="685800" y="2276475"/>
            <a:ext cx="49530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C6B113-2319-4DC7-8DA4-E10D25BD7A9D}"/>
              </a:ext>
            </a:extLst>
          </p:cNvPr>
          <p:cNvSpPr>
            <a:spLocks noGrp="1"/>
          </p:cNvSpPr>
          <p:nvPr/>
        </p:nvSpPr>
        <p:spPr>
          <a:xfrm>
            <a:off x="685800" y="2276475"/>
            <a:ext cx="47625" cy="1714500"/>
          </a:xfrm>
          <a:prstGeom prst="rect">
            <a:avLst/>
          </a:prstGeom>
          <a:solidFill>
            <a:srgbClr val="FF654A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6AACB8-910C-4D8E-B840-D8E14B7465BF}"/>
              </a:ext>
            </a:extLst>
          </p:cNvPr>
          <p:cNvSpPr>
            <a:spLocks noGrp="1"/>
          </p:cNvSpPr>
          <p:nvPr/>
        </p:nvSpPr>
        <p:spPr>
          <a:xfrm>
            <a:off x="857250" y="2409825"/>
            <a:ext cx="462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LIME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D780A0-C87A-41B3-973E-F13155254001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46291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Modelin belirli bir tahmin çevresindeki davranışını, basit bir vekil model üzerinden açıklar.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6D37FF-0F99-4771-A219-5582692B050E}"/>
              </a:ext>
            </a:extLst>
          </p:cNvPr>
          <p:cNvSpPr>
            <a:spLocks noGrp="1"/>
          </p:cNvSpPr>
          <p:nvPr/>
        </p:nvSpPr>
        <p:spPr>
          <a:xfrm>
            <a:off x="5867400" y="2276475"/>
            <a:ext cx="56388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627E22-A9A1-4AA6-B367-3B94A040A3B8}"/>
              </a:ext>
            </a:extLst>
          </p:cNvPr>
          <p:cNvSpPr>
            <a:spLocks noGrp="1"/>
          </p:cNvSpPr>
          <p:nvPr/>
        </p:nvSpPr>
        <p:spPr>
          <a:xfrm>
            <a:off x="5867400" y="2276475"/>
            <a:ext cx="47625" cy="1714500"/>
          </a:xfrm>
          <a:prstGeom prst="rect">
            <a:avLst/>
          </a:prstGeom>
          <a:solidFill>
            <a:srgbClr val="F5C84B"/>
          </a:solidFill>
          <a:ln w="0"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49F72-C61A-4E44-BA14-5316C3A65699}"/>
              </a:ext>
            </a:extLst>
          </p:cNvPr>
          <p:cNvSpPr>
            <a:spLocks noGrp="1"/>
          </p:cNvSpPr>
          <p:nvPr/>
        </p:nvSpPr>
        <p:spPr>
          <a:xfrm>
            <a:off x="6038850" y="2409825"/>
            <a:ext cx="5314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200" b="1">
                <a:solidFill>
                  <a:srgbClr val="1F3038"/>
                </a:solidFill>
              </a:defRPr>
            </a:lvl1pPr>
            <a:lvl2pPr algn="l">
              <a:buNone/>
              <a:defRPr sz="1200" b="1">
                <a:solidFill>
                  <a:srgbClr val="1F3038"/>
                </a:solidFill>
              </a:defRPr>
            </a:lvl2pPr>
            <a:lvl3pPr algn="l">
              <a:buNone/>
              <a:defRPr sz="1200" b="1">
                <a:solidFill>
                  <a:srgbClr val="1F3038"/>
                </a:solidFill>
              </a:defRPr>
            </a:lvl3pPr>
            <a:lvl4pPr algn="l">
              <a:buNone/>
              <a:defRPr sz="1200" b="1">
                <a:solidFill>
                  <a:srgbClr val="1F3038"/>
                </a:solidFill>
              </a:defRPr>
            </a:lvl4pPr>
            <a:lvl5pPr algn="l">
              <a:buNone/>
              <a:defRPr sz="1200" b="1">
                <a:solidFill>
                  <a:srgbClr val="1F3038"/>
                </a:solidFill>
              </a:defRPr>
            </a:lvl5pPr>
            <a:lvl6pPr algn="l">
              <a:buNone/>
              <a:defRPr sz="1200" b="1">
                <a:solidFill>
                  <a:srgbClr val="1F3038"/>
                </a:solidFill>
              </a:defRPr>
            </a:lvl6pPr>
            <a:lvl7pPr algn="l">
              <a:buNone/>
              <a:defRPr sz="1200" b="1">
                <a:solidFill>
                  <a:srgbClr val="1F3038"/>
                </a:solidFill>
              </a:defRPr>
            </a:lvl7pPr>
            <a:lvl8pPr algn="l">
              <a:buNone/>
              <a:defRPr sz="1200" b="1">
                <a:solidFill>
                  <a:srgbClr val="1F3038"/>
                </a:solidFill>
              </a:defRPr>
            </a:lvl8pPr>
            <a:lvl9pPr algn="l">
              <a:buNone/>
              <a:defRPr sz="1200" b="1">
                <a:solidFill>
                  <a:srgbClr val="1F303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F3038"/>
                </a:solidFill>
              </a:defRPr>
            </a:pPr>
            <a:r>
              <a:rPr sz="1500" b="1">
                <a:solidFill>
                  <a:srgbClr val="1F3038"/>
                </a:solidFill>
              </a:rPr>
              <a:t>Karşı-olgusal açıklama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FE33F6-8B0E-4ADA-AF11-305DA398E107}"/>
              </a:ext>
            </a:extLst>
          </p:cNvPr>
          <p:cNvSpPr>
            <a:spLocks noGrp="1"/>
          </p:cNvSpPr>
          <p:nvPr/>
        </p:nvSpPr>
        <p:spPr>
          <a:xfrm>
            <a:off x="6038850" y="2705100"/>
            <a:ext cx="53149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975" b="0">
                <a:solidFill>
                  <a:srgbClr val="5E6C70"/>
                </a:solidFill>
              </a:defRPr>
            </a:lvl1pPr>
            <a:lvl2pPr algn="l">
              <a:buNone/>
              <a:defRPr sz="975" b="0">
                <a:solidFill>
                  <a:srgbClr val="5E6C70"/>
                </a:solidFill>
              </a:defRPr>
            </a:lvl2pPr>
            <a:lvl3pPr algn="l">
              <a:buNone/>
              <a:defRPr sz="975" b="0">
                <a:solidFill>
                  <a:srgbClr val="5E6C70"/>
                </a:solidFill>
              </a:defRPr>
            </a:lvl3pPr>
            <a:lvl4pPr algn="l">
              <a:buNone/>
              <a:defRPr sz="975" b="0">
                <a:solidFill>
                  <a:srgbClr val="5E6C70"/>
                </a:solidFill>
              </a:defRPr>
            </a:lvl4pPr>
            <a:lvl5pPr algn="l">
              <a:buNone/>
              <a:defRPr sz="975" b="0">
                <a:solidFill>
                  <a:srgbClr val="5E6C70"/>
                </a:solidFill>
              </a:defRPr>
            </a:lvl5pPr>
            <a:lvl6pPr algn="l">
              <a:buNone/>
              <a:defRPr sz="975" b="0">
                <a:solidFill>
                  <a:srgbClr val="5E6C70"/>
                </a:solidFill>
              </a:defRPr>
            </a:lvl6pPr>
            <a:lvl7pPr algn="l">
              <a:buNone/>
              <a:defRPr sz="975" b="0">
                <a:solidFill>
                  <a:srgbClr val="5E6C70"/>
                </a:solidFill>
              </a:defRPr>
            </a:lvl7pPr>
            <a:lvl8pPr algn="l">
              <a:buNone/>
              <a:defRPr sz="975" b="0">
                <a:solidFill>
                  <a:srgbClr val="5E6C70"/>
                </a:solidFill>
              </a:defRPr>
            </a:lvl8pPr>
            <a:lvl9pPr algn="l">
              <a:buNone/>
              <a:defRPr sz="975" b="0">
                <a:solidFill>
                  <a:srgbClr val="5E6C70"/>
                </a:solidFill>
              </a:defRPr>
            </a:lvl9pPr>
          </a:lstStyle>
          <a:p>
            <a:pPr algn="l">
              <a:buNone/>
              <a:defRPr sz="975" b="0">
                <a:solidFill>
                  <a:srgbClr val="5E6C70"/>
                </a:solidFill>
              </a:defRPr>
            </a:pPr>
            <a:r>
              <a:rPr sz="1350" b="0">
                <a:solidFill>
                  <a:srgbClr val="5E6C70"/>
                </a:solidFill>
              </a:rPr>
              <a:t>Tahmini hedeflenen sonuca taşımak için gerekli küçük ve uygulanabilir değişiklikleri arar.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C29CC9-AC86-426B-99DC-00A44432EF34}"/>
              </a:ext>
            </a:extLst>
          </p:cNvPr>
          <p:cNvSpPr>
            <a:spLocks noGrp="1"/>
          </p:cNvSpPr>
          <p:nvPr/>
        </p:nvSpPr>
        <p:spPr>
          <a:xfrm>
            <a:off x="1485900" y="4627245"/>
            <a:ext cx="9220200" cy="640080"/>
          </a:xfrm>
          <a:prstGeom prst="rect">
            <a:avLst/>
          </a:prstGeom>
          <a:solidFill>
            <a:srgbClr val="FFE1D8"/>
          </a:solidFill>
          <a:ln w="9525">
            <a:solidFill>
              <a:srgbClr val="FFE1D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89BA07-7013-4D92-AC8A-F3C170ECE2F9}"/>
              </a:ext>
            </a:extLst>
          </p:cNvPr>
          <p:cNvSpPr>
            <a:spLocks noGrp="1"/>
          </p:cNvSpPr>
          <p:nvPr/>
        </p:nvSpPr>
        <p:spPr>
          <a:xfrm>
            <a:off x="1638300" y="4682109"/>
            <a:ext cx="8915400" cy="530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ctr">
              <a:buNone/>
              <a:defRPr sz="975" b="1">
                <a:solidFill>
                  <a:srgbClr val="FF654A"/>
                </a:solidFill>
              </a:defRPr>
            </a:lvl1pPr>
            <a:lvl2pPr algn="ctr">
              <a:buNone/>
              <a:defRPr sz="975" b="1">
                <a:solidFill>
                  <a:srgbClr val="FF654A"/>
                </a:solidFill>
              </a:defRPr>
            </a:lvl2pPr>
            <a:lvl3pPr algn="ctr">
              <a:buNone/>
              <a:defRPr sz="975" b="1">
                <a:solidFill>
                  <a:srgbClr val="FF654A"/>
                </a:solidFill>
              </a:defRPr>
            </a:lvl3pPr>
            <a:lvl4pPr algn="ctr">
              <a:buNone/>
              <a:defRPr sz="975" b="1">
                <a:solidFill>
                  <a:srgbClr val="FF654A"/>
                </a:solidFill>
              </a:defRPr>
            </a:lvl4pPr>
            <a:lvl5pPr algn="ctr">
              <a:buNone/>
              <a:defRPr sz="975" b="1">
                <a:solidFill>
                  <a:srgbClr val="FF654A"/>
                </a:solidFill>
              </a:defRPr>
            </a:lvl5pPr>
            <a:lvl6pPr algn="ctr">
              <a:buNone/>
              <a:defRPr sz="975" b="1">
                <a:solidFill>
                  <a:srgbClr val="FF654A"/>
                </a:solidFill>
              </a:defRPr>
            </a:lvl6pPr>
            <a:lvl7pPr algn="ctr">
              <a:buNone/>
              <a:defRPr sz="975" b="1">
                <a:solidFill>
                  <a:srgbClr val="FF654A"/>
                </a:solidFill>
              </a:defRPr>
            </a:lvl7pPr>
            <a:lvl8pPr algn="ctr">
              <a:buNone/>
              <a:defRPr sz="975" b="1">
                <a:solidFill>
                  <a:srgbClr val="FF654A"/>
                </a:solidFill>
              </a:defRPr>
            </a:lvl8pPr>
            <a:lvl9pPr algn="ctr">
              <a:buNone/>
              <a:defRPr sz="975" b="1">
                <a:solidFill>
                  <a:srgbClr val="FF654A"/>
                </a:solidFill>
              </a:defRPr>
            </a:lvl9pPr>
          </a:lstStyle>
          <a:p>
            <a:pPr algn="ctr">
              <a:buNone/>
              <a:defRPr sz="975" b="1">
                <a:solidFill>
                  <a:srgbClr val="FF654A"/>
                </a:solidFill>
              </a:defRPr>
            </a:pPr>
            <a:r>
              <a:rPr sz="1350" b="1">
                <a:solidFill>
                  <a:srgbClr val="FF654A"/>
                </a:solidFill>
              </a:rPr>
              <a:t>Yöntem seçimi açıklama sorusuna bağlıdır; her iki yaklaşımda da yerellik, kararlılık ve nedensellik sınırları açıkça belirtilmelidir.</a:t>
            </a:r>
          </a:p>
        </p:txBody>
      </p:sp>
    </p:spTree>
    <p:extLst>
      <p:ext uri="{BB962C8B-B14F-4D97-AF65-F5344CB8AC3E}">
        <p14:creationId xmlns:p14="http://schemas.microsoft.com/office/powerpoint/2010/main" val="20652062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2670</Words>
  <Application>Microsoft Macintosh PowerPoint</Application>
  <DocSecurity>0</DocSecurity>
  <PresentationFormat>Widescreen</PresentationFormat>
  <Paragraphs>508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0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İLKER UĞUR KAYA</cp:lastModifiedBy>
  <cp:revision>2</cp:revision>
  <dcterms:created xsi:type="dcterms:W3CDTF">2026-10-19T17:52:10Z</dcterms:created>
  <dcterms:modified xsi:type="dcterms:W3CDTF">2026-10-23T20:20:00Z</dcterms:modified>
</cp:coreProperties>
</file>